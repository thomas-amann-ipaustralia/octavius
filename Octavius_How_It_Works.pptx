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Octavius is a plain-language checker for APS writing. This is the honest, end-to-end story: what it does, how it was built with GenAI, the ways it can be deployed, and — importantly — where it falls short today and what a serious rebuild would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Style Manual is the standard for APS writing, but it's huge. Checking against it by hand is slow, inconsistent and error-prone. That's the gap Octavius set out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framing: you write as normal, and Octavius underlines style issues in place — like a spell-checker, but for plain-English government style. Every flag has an explanation, a suggested fix, and a link to the official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mental-model shift: Octavius uses AI, but nothing is generated live. It doesn't 'think up' an answer — it checks your text against fixed rules and gives the same, explainable result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plain steps. The bottom strip is the key line: when you use it, there's no live AI and no external call — it's a fast lookup against a fixed rulebook.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a rulebook of 800-plus small, independent checks, grouped into word choices, structure/patterns, and spelling/punctuation. Each one traces back to a specific piece of official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genuinely clever, error-prone work — reading a huge manual, drafting rules, writing code, fixing mistakes — was done by GenAI up front, offline, on an assembly line. A person would take months. And a testing step sits in the middle: nothing ships unless it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 up close and the most important slide for the 'potential' message. One rule travels from a sentence of guidance to a tiny, tested piece of code. The AI generates its own pass/fail examples; a rule only ships if it passes them; failures are fixed automatically or held for a human. Note the negative examples ('Section 3', '3 mm') — writing those is exactly how you stop a naive rule from over-firing. Illustrative regex, but the shape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to the potential. This 'rules-as-code, tested by machine' pattern isn't specific to a style guide — point it at any body of written rules and you get executable, traceable, self-testing checks. The human role shrinks from author to reviewer. That is the transferable idea for the wider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engine, many surfaces. The web editor is just one front door. The same checks can run as an API in a CI pipeline, as a tool an AI agent calls (MCP), as middleware over another AI's output, over Word documents, or to extract structured data. The point: the expensive part — the checking — is built once and reused.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Middleware is the least obvious but most interesting mode. When another AI generates writing, Octavius sits in the middle as a quality gate: check the output, show it with any style issues, and offer one bounded retry. It never silently rewrites, and the human stays in control. This is how you keep generated text on-standard without trusting the generator blindly.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 honest one. Government writing lives in Word, and the dream is import-check-return with nothing disturbed. Reality: Word's formatting is rich and messy, and any conversion in and back out risks losing or changing things. The right response isn't to pretend it's solved — it's to make losses visible ('fail visible, never silent') and treat perfect fidelity as best-effort.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candid slide. The first, naive engine ran every rule against every sentence, so a short informal snippet drew ~33 flags when a handful were warranted. Three root causes: no relevance filtering, no notion of register/context, and treating judgement calls like mechanical rules. The key point for trust: over-flagging — not missing things — is what kills adoption of a linter.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forward, and the tie-back to the wider theme. The rework is well understood: a tiered pipeline (cheap rules first, models only to cut noise), precision over coverage, context-aware profiles, and telemetry that quietens noisy rules. The framing that matters: a cheap exploration surfaced these hard problems before a big, expensive build — that is de-risking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transferable lessons. The headline: GenAI is at its best de-risking exploratory work — building and refining quickly — while what you ship stays simple and predictable. Test everything it makes, be quiet and right rather than loud, and keep humans on the judgement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three takeaways: it's AI but not a chatbot; GenAI built it offline and the method is reusable; and we're honest about its limits — the exploration made both the fix and the risk clear and cheap. That's the model for using GenAI to explore and de-risk more broadly.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9509760" y="914400"/>
            <a:ext cx="2103120" cy="310896"/>
          </a:xfrm>
          <a:prstGeom prst="roundRect">
            <a:avLst>
              <a:gd name="adj" fmla="val 50000"/>
            </a:avLst>
          </a:prstGeom>
          <a:solidFill>
            <a:srgbClr val="E1604A">
              <a:alpha val="30000"/>
            </a:srgbClr>
          </a:solidFill>
          <a:ln/>
        </p:spPr>
      </p:sp>
      <p:sp>
        <p:nvSpPr>
          <p:cNvPr id="3" name="Shape 1"/>
          <p:cNvSpPr/>
          <p:nvPr/>
        </p:nvSpPr>
        <p:spPr>
          <a:xfrm>
            <a:off x="8869680" y="1371600"/>
            <a:ext cx="2743200" cy="310896"/>
          </a:xfrm>
          <a:prstGeom prst="roundRect">
            <a:avLst>
              <a:gd name="adj" fmla="val 50000"/>
            </a:avLst>
          </a:prstGeom>
          <a:solidFill>
            <a:srgbClr val="E1604A">
              <a:alpha val="45000"/>
            </a:srgbClr>
          </a:solidFill>
          <a:ln/>
        </p:spPr>
      </p:sp>
      <p:sp>
        <p:nvSpPr>
          <p:cNvPr id="4" name="Shape 2"/>
          <p:cNvSpPr/>
          <p:nvPr/>
        </p:nvSpPr>
        <p:spPr>
          <a:xfrm>
            <a:off x="9966960" y="1828800"/>
            <a:ext cx="1645920" cy="310896"/>
          </a:xfrm>
          <a:prstGeom prst="roundRect">
            <a:avLst>
              <a:gd name="adj" fmla="val 50000"/>
            </a:avLst>
          </a:prstGeom>
          <a:solidFill>
            <a:srgbClr val="E1604A">
              <a:alpha val="30000"/>
            </a:srgbClr>
          </a:solidFill>
          <a:ln/>
        </p:spPr>
      </p:sp>
      <p:sp>
        <p:nvSpPr>
          <p:cNvPr id="5" name="Text 3"/>
          <p:cNvSpPr/>
          <p:nvPr/>
        </p:nvSpPr>
        <p:spPr>
          <a:xfrm>
            <a:off x="548640" y="141732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GENAI CASE STUDY</a:t>
            </a:r>
            <a:endParaRPr lang="en-US" sz="1200" dirty="0"/>
          </a:p>
        </p:txBody>
      </p:sp>
      <p:sp>
        <p:nvSpPr>
          <p:cNvPr id="6" name="Text 4"/>
          <p:cNvSpPr/>
          <p:nvPr/>
        </p:nvSpPr>
        <p:spPr>
          <a:xfrm>
            <a:off x="548640" y="1783080"/>
            <a:ext cx="10058400" cy="1371600"/>
          </a:xfrm>
          <a:prstGeom prst="rect">
            <a:avLst/>
          </a:prstGeom>
          <a:noFill/>
          <a:ln/>
        </p:spPr>
        <p:txBody>
          <a:bodyPr wrap="square" lIns="0" tIns="0" rIns="0" bIns="0" rtlCol="0" anchor="ctr"/>
          <a:lstStyle/>
          <a:p>
            <a:pPr algn="l" indent="0" marL="0">
              <a:buNone/>
            </a:pPr>
            <a:r>
              <a:rPr lang="en-US" sz="7600" b="1" dirty="0">
                <a:solidFill>
                  <a:srgbClr val="FFFFFF"/>
                </a:solidFill>
                <a:latin typeface="Cambria" pitchFamily="34" charset="0"/>
                <a:ea typeface="Cambria" pitchFamily="34" charset="-122"/>
                <a:cs typeface="Cambria" pitchFamily="34" charset="-120"/>
              </a:rPr>
              <a:t>Octavius</a:t>
            </a:r>
            <a:endParaRPr lang="en-US" sz="7600" dirty="0"/>
          </a:p>
        </p:txBody>
      </p:sp>
      <p:sp>
        <p:nvSpPr>
          <p:cNvPr id="7" name="Text 5"/>
          <p:cNvSpPr/>
          <p:nvPr/>
        </p:nvSpPr>
        <p:spPr>
          <a:xfrm>
            <a:off x="548640" y="3246120"/>
            <a:ext cx="10515600" cy="640080"/>
          </a:xfrm>
          <a:prstGeom prst="rect">
            <a:avLst/>
          </a:prstGeom>
          <a:noFill/>
          <a:ln/>
        </p:spPr>
        <p:txBody>
          <a:bodyPr wrap="square" lIns="0" tIns="0" rIns="0" bIns="0" rtlCol="0" anchor="ctr"/>
          <a:lstStyle/>
          <a:p>
            <a:pPr algn="l" indent="0" marL="0">
              <a:buNone/>
            </a:pPr>
            <a:r>
              <a:rPr lang="en-US" sz="2700" dirty="0">
                <a:solidFill>
                  <a:srgbClr val="C9D6EF"/>
                </a:solidFill>
                <a:latin typeface="Cambria" pitchFamily="34" charset="0"/>
                <a:ea typeface="Cambria" pitchFamily="34" charset="-122"/>
                <a:cs typeface="Cambria" pitchFamily="34" charset="-120"/>
              </a:rPr>
              <a:t>A plain-language checker for government writing</a:t>
            </a:r>
            <a:endParaRPr lang="en-US" sz="2700" dirty="0"/>
          </a:p>
        </p:txBody>
      </p:sp>
      <p:sp>
        <p:nvSpPr>
          <p:cNvPr id="8" name="Text 6"/>
          <p:cNvSpPr/>
          <p:nvPr/>
        </p:nvSpPr>
        <p:spPr>
          <a:xfrm>
            <a:off x="548640" y="4069080"/>
            <a:ext cx="10515600" cy="457200"/>
          </a:xfrm>
          <a:prstGeom prst="rect">
            <a:avLst/>
          </a:prstGeom>
          <a:noFill/>
          <a:ln/>
        </p:spPr>
        <p:txBody>
          <a:bodyPr wrap="square" lIns="0" tIns="0" rIns="0" bIns="0" rtlCol="0" anchor="ctr"/>
          <a:lstStyle/>
          <a:p>
            <a:pPr algn="l" indent="0" marL="0">
              <a:buNone/>
            </a:pPr>
            <a:r>
              <a:rPr lang="en-US" sz="1800" dirty="0">
                <a:solidFill>
                  <a:srgbClr val="FFFFFF"/>
                </a:solidFill>
                <a:latin typeface="Calibri" pitchFamily="34" charset="0"/>
                <a:ea typeface="Calibri" pitchFamily="34" charset="-122"/>
                <a:cs typeface="Calibri" pitchFamily="34" charset="-120"/>
              </a:rPr>
              <a:t>How we used GenAI to </a:t>
            </a:r>
            <a:pPr algn="l" indent="0" marL="0">
              <a:buNone/>
            </a:pPr>
            <a:r>
              <a:rPr lang="en-US" sz="1800" b="1" dirty="0">
                <a:solidFill>
                  <a:srgbClr val="E1604A"/>
                </a:solidFill>
                <a:latin typeface="Calibri" pitchFamily="34" charset="0"/>
                <a:ea typeface="Calibri" pitchFamily="34" charset="-122"/>
                <a:cs typeface="Calibri" pitchFamily="34" charset="-120"/>
              </a:rPr>
              <a:t>explore and de-risk</a:t>
            </a:r>
            <a:pPr algn="l" indent="0" marL="0">
              <a:buNone/>
            </a:pPr>
            <a:r>
              <a:rPr lang="en-US" sz="1800" dirty="0">
                <a:solidFill>
                  <a:srgbClr val="FFFFFF"/>
                </a:solidFill>
                <a:latin typeface="Calibri" pitchFamily="34" charset="0"/>
                <a:ea typeface="Calibri" pitchFamily="34" charset="-122"/>
                <a:cs typeface="Calibri" pitchFamily="34" charset="-120"/>
              </a:rPr>
              <a:t> — the honest story.</a:t>
            </a:r>
            <a:endParaRPr lang="en-US" sz="1800" dirty="0"/>
          </a:p>
        </p:txBody>
      </p:sp>
      <p:sp>
        <p:nvSpPr>
          <p:cNvPr id="9" name="Shape 7"/>
          <p:cNvSpPr/>
          <p:nvPr/>
        </p:nvSpPr>
        <p:spPr>
          <a:xfrm>
            <a:off x="548640" y="5806440"/>
            <a:ext cx="457200" cy="54864"/>
          </a:xfrm>
          <a:prstGeom prst="roundRect">
            <a:avLst>
              <a:gd name="adj" fmla="val 50000"/>
            </a:avLst>
          </a:prstGeom>
          <a:solidFill>
            <a:srgbClr val="E1604A"/>
          </a:solidFill>
          <a:ln/>
        </p:spPr>
      </p:sp>
      <p:sp>
        <p:nvSpPr>
          <p:cNvPr id="10" name="Text 8"/>
          <p:cNvSpPr/>
          <p:nvPr/>
        </p:nvSpPr>
        <p:spPr>
          <a:xfrm>
            <a:off x="548640" y="5943600"/>
            <a:ext cx="10972800" cy="365760"/>
          </a:xfrm>
          <a:prstGeom prst="rect">
            <a:avLst/>
          </a:prstGeom>
          <a:noFill/>
          <a:ln/>
        </p:spPr>
        <p:txBody>
          <a:bodyPr wrap="square" lIns="0" tIns="0" rIns="0" bIns="0" rtlCol="0" anchor="ctr"/>
          <a:lstStyle/>
          <a:p>
            <a:pPr algn="l" indent="0" marL="0">
              <a:buNone/>
            </a:pPr>
            <a:r>
              <a:rPr lang="en-US" sz="1300" dirty="0">
                <a:solidFill>
                  <a:srgbClr val="C9D6EF"/>
                </a:solidFill>
                <a:latin typeface="Calibri" pitchFamily="34" charset="0"/>
                <a:ea typeface="Calibri" pitchFamily="34" charset="-122"/>
                <a:cs typeface="Calibri" pitchFamily="34" charset="-120"/>
              </a:rPr>
              <a:t>Part of a wider talk on the benefits of GenAI for exploratory work and de-risking solutions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Good government writing is hard to get right</a:t>
            </a:r>
            <a:endParaRPr lang="en-US" sz="3200" dirty="0"/>
          </a:p>
        </p:txBody>
      </p:sp>
      <p:sp>
        <p:nvSpPr>
          <p:cNvPr id="4" name="Shape 2"/>
          <p:cNvSpPr/>
          <p:nvPr/>
        </p:nvSpPr>
        <p:spPr>
          <a:xfrm>
            <a:off x="548640" y="1783080"/>
            <a:ext cx="566928" cy="566928"/>
          </a:xfrm>
          <a:prstGeom prst="ellipse">
            <a:avLst/>
          </a:prstGeom>
          <a:solidFill>
            <a:srgbClr val="E1604A"/>
          </a:solidFill>
          <a:ln/>
        </p:spPr>
      </p:sp>
      <p:pic>
        <p:nvPicPr>
          <p:cNvPr id="5" name="Image 0" descr="preencoded.png">    </p:cNvPr>
          <p:cNvPicPr>
            <a:picLocks noChangeAspect="1"/>
          </p:cNvPicPr>
          <p:nvPr/>
        </p:nvPicPr>
        <p:blipFill>
          <a:blip r:embed="rId1"/>
          <a:stretch>
            <a:fillRect/>
          </a:stretch>
        </p:blipFill>
        <p:spPr>
          <a:xfrm>
            <a:off x="713049" y="1947489"/>
            <a:ext cx="238110" cy="238110"/>
          </a:xfrm>
          <a:prstGeom prst="rect">
            <a:avLst/>
          </a:prstGeom>
        </p:spPr>
      </p:pic>
      <p:sp>
        <p:nvSpPr>
          <p:cNvPr id="6" name="Text 3"/>
          <p:cNvSpPr/>
          <p:nvPr/>
        </p:nvSpPr>
        <p:spPr>
          <a:xfrm>
            <a:off x="1325880" y="1746504"/>
            <a:ext cx="5532120" cy="32004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Hundreds of rules</a:t>
            </a:r>
            <a:endParaRPr lang="en-US" sz="1700" dirty="0"/>
          </a:p>
        </p:txBody>
      </p:sp>
      <p:sp>
        <p:nvSpPr>
          <p:cNvPr id="7" name="Text 4"/>
          <p:cNvSpPr/>
          <p:nvPr/>
        </p:nvSpPr>
        <p:spPr>
          <a:xfrm>
            <a:off x="1325880" y="2093976"/>
            <a:ext cx="5532120" cy="868680"/>
          </a:xfrm>
          <a:prstGeom prst="rect">
            <a:avLst/>
          </a:prstGeom>
          <a:noFill/>
          <a:ln/>
        </p:spPr>
        <p:txBody>
          <a:bodyPr wrap="square" lIns="0" tIns="0" rIns="0" bIns="0" rtlCol="0" anchor="ctr"/>
          <a:lstStyle/>
          <a:p>
            <a:pPr indent="0" marL="0">
              <a:lnSpc>
                <a:spcPct val="105000"/>
              </a:lnSpc>
              <a:buNone/>
            </a:pPr>
            <a:r>
              <a:rPr lang="en-US" sz="1350" dirty="0">
                <a:solidFill>
                  <a:srgbClr val="3A4358"/>
                </a:solidFill>
                <a:latin typeface="Calibri" pitchFamily="34" charset="0"/>
                <a:ea typeface="Calibri" pitchFamily="34" charset="-122"/>
                <a:cs typeface="Calibri" pitchFamily="34" charset="-120"/>
              </a:rPr>
              <a:t>Public Service content must follow the Australian Government Style Manual — a large body of guidance on words, punctuation, structure and inclusive language.</a:t>
            </a:r>
            <a:endParaRPr lang="en-US" sz="1350" dirty="0"/>
          </a:p>
        </p:txBody>
      </p:sp>
      <p:sp>
        <p:nvSpPr>
          <p:cNvPr id="8" name="Shape 5"/>
          <p:cNvSpPr/>
          <p:nvPr/>
        </p:nvSpPr>
        <p:spPr>
          <a:xfrm>
            <a:off x="548640" y="3200400"/>
            <a:ext cx="566928" cy="566928"/>
          </a:xfrm>
          <a:prstGeom prst="ellipse">
            <a:avLst/>
          </a:prstGeom>
          <a:solidFill>
            <a:srgbClr val="E1604A"/>
          </a:solidFill>
          <a:ln/>
        </p:spPr>
      </p:sp>
      <p:pic>
        <p:nvPicPr>
          <p:cNvPr id="9" name="Image 1" descr="preencoded.png">    </p:cNvPr>
          <p:cNvPicPr>
            <a:picLocks noChangeAspect="1"/>
          </p:cNvPicPr>
          <p:nvPr/>
        </p:nvPicPr>
        <p:blipFill>
          <a:blip r:embed="rId2"/>
          <a:stretch>
            <a:fillRect/>
          </a:stretch>
        </p:blipFill>
        <p:spPr>
          <a:xfrm>
            <a:off x="713049" y="3364809"/>
            <a:ext cx="238110" cy="238110"/>
          </a:xfrm>
          <a:prstGeom prst="rect">
            <a:avLst/>
          </a:prstGeom>
        </p:spPr>
      </p:pic>
      <p:sp>
        <p:nvSpPr>
          <p:cNvPr id="10" name="Text 6"/>
          <p:cNvSpPr/>
          <p:nvPr/>
        </p:nvSpPr>
        <p:spPr>
          <a:xfrm>
            <a:off x="1325880" y="3163824"/>
            <a:ext cx="5532120" cy="32004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Applied inconsistently</a:t>
            </a:r>
            <a:endParaRPr lang="en-US" sz="1700" dirty="0"/>
          </a:p>
        </p:txBody>
      </p:sp>
      <p:sp>
        <p:nvSpPr>
          <p:cNvPr id="11" name="Text 7"/>
          <p:cNvSpPr/>
          <p:nvPr/>
        </p:nvSpPr>
        <p:spPr>
          <a:xfrm>
            <a:off x="1325880" y="3511296"/>
            <a:ext cx="5532120" cy="868680"/>
          </a:xfrm>
          <a:prstGeom prst="rect">
            <a:avLst/>
          </a:prstGeom>
          <a:noFill/>
          <a:ln/>
        </p:spPr>
        <p:txBody>
          <a:bodyPr wrap="square" lIns="0" tIns="0" rIns="0" bIns="0" rtlCol="0" anchor="ctr"/>
          <a:lstStyle/>
          <a:p>
            <a:pPr indent="0" marL="0">
              <a:lnSpc>
                <a:spcPct val="105000"/>
              </a:lnSpc>
              <a:buNone/>
            </a:pPr>
            <a:r>
              <a:rPr lang="en-US" sz="1350" dirty="0">
                <a:solidFill>
                  <a:srgbClr val="3A4358"/>
                </a:solidFill>
                <a:latin typeface="Calibri" pitchFamily="34" charset="0"/>
                <a:ea typeface="Calibri" pitchFamily="34" charset="-122"/>
                <a:cs typeface="Calibri" pitchFamily="34" charset="-120"/>
              </a:rPr>
              <a:t>Done by hand, every reviewer catches different things. Standards drift between people, teams and documents.</a:t>
            </a:r>
            <a:endParaRPr lang="en-US" sz="1350" dirty="0"/>
          </a:p>
        </p:txBody>
      </p:sp>
      <p:sp>
        <p:nvSpPr>
          <p:cNvPr id="12" name="Shape 8"/>
          <p:cNvSpPr/>
          <p:nvPr/>
        </p:nvSpPr>
        <p:spPr>
          <a:xfrm>
            <a:off x="548640" y="4617720"/>
            <a:ext cx="566928" cy="566928"/>
          </a:xfrm>
          <a:prstGeom prst="ellipse">
            <a:avLst/>
          </a:prstGeom>
          <a:solidFill>
            <a:srgbClr val="E1604A"/>
          </a:solidFill>
          <a:ln/>
        </p:spPr>
      </p:sp>
      <p:pic>
        <p:nvPicPr>
          <p:cNvPr id="13" name="Image 2" descr="preencoded.png">    </p:cNvPr>
          <p:cNvPicPr>
            <a:picLocks noChangeAspect="1"/>
          </p:cNvPicPr>
          <p:nvPr/>
        </p:nvPicPr>
        <p:blipFill>
          <a:blip r:embed="rId3"/>
          <a:stretch>
            <a:fillRect/>
          </a:stretch>
        </p:blipFill>
        <p:spPr>
          <a:xfrm>
            <a:off x="713049" y="4782129"/>
            <a:ext cx="238110" cy="238110"/>
          </a:xfrm>
          <a:prstGeom prst="rect">
            <a:avLst/>
          </a:prstGeom>
        </p:spPr>
      </p:pic>
      <p:sp>
        <p:nvSpPr>
          <p:cNvPr id="14" name="Text 9"/>
          <p:cNvSpPr/>
          <p:nvPr/>
        </p:nvSpPr>
        <p:spPr>
          <a:xfrm>
            <a:off x="1325880" y="4581144"/>
            <a:ext cx="5532120" cy="32004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Slow and easy to miss</a:t>
            </a:r>
            <a:endParaRPr lang="en-US" sz="1700" dirty="0"/>
          </a:p>
        </p:txBody>
      </p:sp>
      <p:sp>
        <p:nvSpPr>
          <p:cNvPr id="15" name="Text 10"/>
          <p:cNvSpPr/>
          <p:nvPr/>
        </p:nvSpPr>
        <p:spPr>
          <a:xfrm>
            <a:off x="1325880" y="4928616"/>
            <a:ext cx="5532120" cy="868680"/>
          </a:xfrm>
          <a:prstGeom prst="rect">
            <a:avLst/>
          </a:prstGeom>
          <a:noFill/>
          <a:ln/>
        </p:spPr>
        <p:txBody>
          <a:bodyPr wrap="square" lIns="0" tIns="0" rIns="0" bIns="0" rtlCol="0" anchor="ctr"/>
          <a:lstStyle/>
          <a:p>
            <a:pPr indent="0" marL="0">
              <a:lnSpc>
                <a:spcPct val="105000"/>
              </a:lnSpc>
              <a:buNone/>
            </a:pPr>
            <a:r>
              <a:rPr lang="en-US" sz="1350" dirty="0">
                <a:solidFill>
                  <a:srgbClr val="3A4358"/>
                </a:solidFill>
                <a:latin typeface="Calibri" pitchFamily="34" charset="0"/>
                <a:ea typeface="Calibri" pitchFamily="34" charset="-122"/>
                <a:cs typeface="Calibri" pitchFamily="34" charset="-120"/>
              </a:rPr>
              <a:t>Manually checking long documents against so many rules is tedious — and small slips slip through.</a:t>
            </a:r>
            <a:endParaRPr lang="en-US" sz="1350" dirty="0"/>
          </a:p>
        </p:txBody>
      </p:sp>
      <p:sp>
        <p:nvSpPr>
          <p:cNvPr id="16" name="Shape 11"/>
          <p:cNvSpPr/>
          <p:nvPr/>
        </p:nvSpPr>
        <p:spPr>
          <a:xfrm>
            <a:off x="7315200" y="1783080"/>
            <a:ext cx="4327855" cy="3931920"/>
          </a:xfrm>
          <a:prstGeom prst="roundRect">
            <a:avLst>
              <a:gd name="adj" fmla="val 2791"/>
            </a:avLst>
          </a:prstGeom>
          <a:solidFill>
            <a:srgbClr val="1B2A4A"/>
          </a:solidFill>
          <a:ln/>
        </p:spPr>
      </p:sp>
      <p:sp>
        <p:nvSpPr>
          <p:cNvPr id="17" name="Text 12"/>
          <p:cNvSpPr/>
          <p:nvPr/>
        </p:nvSpPr>
        <p:spPr>
          <a:xfrm>
            <a:off x="7543800" y="1737360"/>
            <a:ext cx="1828800" cy="1097280"/>
          </a:xfrm>
          <a:prstGeom prst="rect">
            <a:avLst/>
          </a:prstGeom>
          <a:noFill/>
          <a:ln/>
        </p:spPr>
        <p:txBody>
          <a:bodyPr wrap="square" lIns="0" tIns="0" rIns="0" bIns="0" rtlCol="0" anchor="ctr"/>
          <a:lstStyle/>
          <a:p>
            <a:pPr indent="0" marL="0">
              <a:buNone/>
            </a:pPr>
            <a:r>
              <a:rPr lang="en-US" sz="9000" b="1" dirty="0">
                <a:solidFill>
                  <a:srgbClr val="E1604A"/>
                </a:solidFill>
                <a:latin typeface="Cambria" pitchFamily="34" charset="0"/>
                <a:ea typeface="Cambria" pitchFamily="34" charset="-122"/>
                <a:cs typeface="Cambria" pitchFamily="34" charset="-120"/>
              </a:rPr>
              <a:t>“</a:t>
            </a:r>
            <a:endParaRPr lang="en-US" sz="9000" dirty="0"/>
          </a:p>
        </p:txBody>
      </p:sp>
      <p:sp>
        <p:nvSpPr>
          <p:cNvPr id="18" name="Text 13"/>
          <p:cNvSpPr/>
          <p:nvPr/>
        </p:nvSpPr>
        <p:spPr>
          <a:xfrm>
            <a:off x="7772400" y="2834640"/>
            <a:ext cx="3413455" cy="1371600"/>
          </a:xfrm>
          <a:prstGeom prst="rect">
            <a:avLst/>
          </a:prstGeom>
          <a:noFill/>
          <a:ln/>
        </p:spPr>
        <p:txBody>
          <a:bodyPr wrap="square" lIns="0" tIns="0" rIns="0" bIns="0" rtlCol="0" anchor="ctr"/>
          <a:lstStyle/>
          <a:p>
            <a:pPr indent="0" marL="0">
              <a:lnSpc>
                <a:spcPct val="110000"/>
              </a:lnSpc>
              <a:buNone/>
            </a:pPr>
            <a:r>
              <a:rPr lang="en-US" sz="2100" dirty="0">
                <a:solidFill>
                  <a:srgbClr val="FFFFFF"/>
                </a:solidFill>
                <a:latin typeface="Cambria" pitchFamily="34" charset="0"/>
                <a:ea typeface="Cambria" pitchFamily="34" charset="-122"/>
                <a:cs typeface="Cambria" pitchFamily="34" charset="-120"/>
              </a:rPr>
              <a:t>Every public-facing document is meant to meet the same standard.</a:t>
            </a:r>
            <a:endParaRPr lang="en-US" sz="2100" dirty="0"/>
          </a:p>
        </p:txBody>
      </p:sp>
      <p:sp>
        <p:nvSpPr>
          <p:cNvPr id="19" name="Text 14"/>
          <p:cNvSpPr/>
          <p:nvPr/>
        </p:nvSpPr>
        <p:spPr>
          <a:xfrm>
            <a:off x="7772400" y="4480560"/>
            <a:ext cx="3413455" cy="914400"/>
          </a:xfrm>
          <a:prstGeom prst="rect">
            <a:avLst/>
          </a:prstGeom>
          <a:noFill/>
          <a:ln/>
        </p:spPr>
        <p:txBody>
          <a:bodyPr wrap="square" lIns="0" tIns="0" rIns="0" bIns="0" rtlCol="0" anchor="ctr"/>
          <a:lstStyle/>
          <a:p>
            <a:pPr indent="0" marL="0">
              <a:lnSpc>
                <a:spcPct val="110000"/>
              </a:lnSpc>
              <a:buNone/>
            </a:pPr>
            <a:r>
              <a:rPr lang="en-US" sz="1400" dirty="0">
                <a:solidFill>
                  <a:srgbClr val="C9D6EF"/>
                </a:solidFill>
                <a:latin typeface="Calibri" pitchFamily="34" charset="0"/>
                <a:ea typeface="Calibri" pitchFamily="34" charset="-122"/>
                <a:cs typeface="Calibri" pitchFamily="34" charset="-120"/>
              </a:rPr>
              <a:t>In practice, that's a lot to check — line by line, page after page.</a:t>
            </a:r>
            <a:endParaRPr lang="en-US" sz="1400" dirty="0"/>
          </a:p>
        </p:txBody>
      </p:sp>
      <p:sp>
        <p:nvSpPr>
          <p:cNvPr id="20" name="Text 15"/>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21" name="Shape 16"/>
          <p:cNvSpPr/>
          <p:nvPr/>
        </p:nvSpPr>
        <p:spPr>
          <a:xfrm>
            <a:off x="11259007" y="6492240"/>
            <a:ext cx="82296" cy="82296"/>
          </a:xfrm>
          <a:prstGeom prst="ellipse">
            <a:avLst/>
          </a:prstGeom>
          <a:solidFill>
            <a:srgbClr val="E1604A"/>
          </a:solidFill>
          <a:ln/>
        </p:spPr>
      </p:sp>
      <p:sp>
        <p:nvSpPr>
          <p:cNvPr id="22" name="Text 17"/>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WHAT IT DOES</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Like spell-check — but for plain-English style</a:t>
            </a:r>
            <a:endParaRPr lang="en-US" sz="3200" dirty="0"/>
          </a:p>
        </p:txBody>
      </p:sp>
      <p:sp>
        <p:nvSpPr>
          <p:cNvPr id="4" name="Shape 2"/>
          <p:cNvSpPr/>
          <p:nvPr/>
        </p:nvSpPr>
        <p:spPr>
          <a:xfrm>
            <a:off x="548640" y="1783080"/>
            <a:ext cx="6400800" cy="3977640"/>
          </a:xfrm>
          <a:prstGeom prst="roundRect">
            <a:avLst>
              <a:gd name="adj" fmla="val 2299"/>
            </a:avLst>
          </a:prstGeom>
          <a:solidFill>
            <a:srgbClr val="FFFFFF"/>
          </a:solidFill>
          <a:ln w="15875">
            <a:solidFill>
              <a:srgbClr val="E4E9F2"/>
            </a:solidFill>
            <a:prstDash val="solid"/>
          </a:ln>
          <a:effectLst>
            <a:outerShdw sx="100000" sy="100000" kx="0" ky="0" algn="bl" rotWithShape="0" blurRad="114300" dist="38100" dir="5400000">
              <a:srgbClr val="9AA3B5">
                <a:alpha val="35000"/>
              </a:srgbClr>
            </a:outerShdw>
          </a:effectLst>
        </p:spPr>
      </p:sp>
      <p:sp>
        <p:nvSpPr>
          <p:cNvPr id="5" name="Shape 3"/>
          <p:cNvSpPr/>
          <p:nvPr/>
        </p:nvSpPr>
        <p:spPr>
          <a:xfrm>
            <a:off x="548640" y="1783080"/>
            <a:ext cx="6400800" cy="411480"/>
          </a:xfrm>
          <a:prstGeom prst="roundRect">
            <a:avLst>
              <a:gd name="adj" fmla="val 22222"/>
            </a:avLst>
          </a:prstGeom>
          <a:solidFill>
            <a:srgbClr val="EEF1F7"/>
          </a:solidFill>
          <a:ln/>
        </p:spPr>
      </p:sp>
      <p:sp>
        <p:nvSpPr>
          <p:cNvPr id="6" name="Shape 4"/>
          <p:cNvSpPr/>
          <p:nvPr/>
        </p:nvSpPr>
        <p:spPr>
          <a:xfrm>
            <a:off x="804672" y="1924812"/>
            <a:ext cx="128016" cy="128016"/>
          </a:xfrm>
          <a:prstGeom prst="ellipse">
            <a:avLst/>
          </a:prstGeom>
          <a:solidFill>
            <a:srgbClr val="E1604A"/>
          </a:solidFill>
          <a:ln/>
        </p:spPr>
      </p:sp>
      <p:sp>
        <p:nvSpPr>
          <p:cNvPr id="7" name="Shape 5"/>
          <p:cNvSpPr/>
          <p:nvPr/>
        </p:nvSpPr>
        <p:spPr>
          <a:xfrm>
            <a:off x="1060704" y="1924812"/>
            <a:ext cx="128016" cy="128016"/>
          </a:xfrm>
          <a:prstGeom prst="ellipse">
            <a:avLst/>
          </a:prstGeom>
          <a:solidFill>
            <a:srgbClr val="E7B24A"/>
          </a:solidFill>
          <a:ln/>
        </p:spPr>
      </p:sp>
      <p:sp>
        <p:nvSpPr>
          <p:cNvPr id="8" name="Shape 6"/>
          <p:cNvSpPr/>
          <p:nvPr/>
        </p:nvSpPr>
        <p:spPr>
          <a:xfrm>
            <a:off x="1316736" y="1924812"/>
            <a:ext cx="128016" cy="128016"/>
          </a:xfrm>
          <a:prstGeom prst="ellipse">
            <a:avLst/>
          </a:prstGeom>
          <a:solidFill>
            <a:srgbClr val="5FB07A"/>
          </a:solidFill>
          <a:ln/>
        </p:spPr>
      </p:sp>
      <p:sp>
        <p:nvSpPr>
          <p:cNvPr id="9" name="Text 7"/>
          <p:cNvSpPr/>
          <p:nvPr/>
        </p:nvSpPr>
        <p:spPr>
          <a:xfrm>
            <a:off x="1737360" y="1783080"/>
            <a:ext cx="5120640" cy="411480"/>
          </a:xfrm>
          <a:prstGeom prst="rect">
            <a:avLst/>
          </a:prstGeom>
          <a:noFill/>
          <a:ln/>
        </p:spPr>
        <p:txBody>
          <a:bodyPr wrap="square" lIns="0" tIns="0" rIns="0" bIns="0" rtlCol="0" anchor="ctr"/>
          <a:lstStyle/>
          <a:p>
            <a:pPr indent="0" marL="0">
              <a:buNone/>
            </a:pPr>
            <a:r>
              <a:rPr lang="en-US" sz="1100" i="1" dirty="0">
                <a:solidFill>
                  <a:srgbClr val="6B7488"/>
                </a:solidFill>
                <a:latin typeface="Calibri" pitchFamily="34" charset="0"/>
                <a:ea typeface="Calibri" pitchFamily="34" charset="-122"/>
                <a:cs typeface="Calibri" pitchFamily="34" charset="-120"/>
              </a:rPr>
              <a:t>Grant Program Guidelines — draft</a:t>
            </a:r>
            <a:endParaRPr lang="en-US" sz="1100" dirty="0"/>
          </a:p>
        </p:txBody>
      </p:sp>
      <p:sp>
        <p:nvSpPr>
          <p:cNvPr id="10" name="Text 8"/>
          <p:cNvSpPr/>
          <p:nvPr/>
        </p:nvSpPr>
        <p:spPr>
          <a:xfrm>
            <a:off x="914400" y="2377440"/>
            <a:ext cx="5669280" cy="365760"/>
          </a:xfrm>
          <a:prstGeom prst="rect">
            <a:avLst/>
          </a:prstGeom>
          <a:noFill/>
          <a:ln/>
        </p:spPr>
        <p:txBody>
          <a:bodyPr wrap="square" lIns="0" tIns="0" rIns="0" bIns="0" rtlCol="0" anchor="ctr"/>
          <a:lstStyle/>
          <a:p>
            <a:pPr indent="0" marL="0">
              <a:buNone/>
            </a:pPr>
            <a:r>
              <a:rPr lang="en-US" sz="1800" b="1" dirty="0">
                <a:solidFill>
                  <a:srgbClr val="1B2A4A"/>
                </a:solidFill>
                <a:latin typeface="Cambria" pitchFamily="34" charset="0"/>
                <a:ea typeface="Cambria" pitchFamily="34" charset="-122"/>
                <a:cs typeface="Cambria" pitchFamily="34" charset="-120"/>
              </a:rPr>
              <a:t>Applying for funding</a:t>
            </a:r>
            <a:endParaRPr lang="en-US" sz="1800" dirty="0"/>
          </a:p>
        </p:txBody>
      </p:sp>
      <p:sp>
        <p:nvSpPr>
          <p:cNvPr id="11" name="Text 9"/>
          <p:cNvSpPr/>
          <p:nvPr/>
        </p:nvSpPr>
        <p:spPr>
          <a:xfrm>
            <a:off x="914400" y="2880360"/>
            <a:ext cx="5669280" cy="1005840"/>
          </a:xfrm>
          <a:prstGeom prst="rect">
            <a:avLst/>
          </a:prstGeom>
          <a:noFill/>
          <a:ln/>
        </p:spPr>
        <p:txBody>
          <a:bodyPr wrap="square" lIns="0" tIns="0" rIns="0" bIns="0" rtlCol="0" anchor="ctr"/>
          <a:lstStyle/>
          <a:p>
            <a:pPr algn="l" indent="0" marL="0">
              <a:lnSpc>
                <a:spcPct val="125000"/>
              </a:lnSpc>
              <a:buNone/>
            </a:pPr>
            <a:r>
              <a:rPr lang="en-US" sz="1600" dirty="0">
                <a:solidFill>
                  <a:srgbClr val="2A3245"/>
                </a:solidFill>
                <a:latin typeface="Calibri" pitchFamily="34" charset="0"/>
                <a:ea typeface="Calibri" pitchFamily="34" charset="-122"/>
                <a:cs typeface="Calibri" pitchFamily="34" charset="-120"/>
              </a:rPr>
              <a:t>The department will </a:t>
            </a:r>
            <a:pPr algn="l" indent="0" marL="0">
              <a:lnSpc>
                <a:spcPct val="125000"/>
              </a:lnSpc>
              <a:buNone/>
            </a:pPr>
            <a:r>
              <a:rPr lang="en-US" sz="1600" dirty="0">
                <a:solidFill>
                  <a:srgbClr val="B23A2A"/>
                </a:solidFill>
                <a:highlight>
                  <a:srgbClr val="F6D3CB"/>
                </a:highlight>
                <a:latin typeface="Calibri" pitchFamily="34" charset="0"/>
                <a:ea typeface="Calibri" pitchFamily="34" charset="-122"/>
                <a:cs typeface="Calibri" pitchFamily="34" charset="-120"/>
              </a:rPr>
              <a:t>endeavour</a:t>
            </a:r>
            <a:pPr algn="l" indent="0" marL="0">
              <a:lnSpc>
                <a:spcPct val="125000"/>
              </a:lnSpc>
              <a:buNone/>
            </a:pPr>
            <a:r>
              <a:rPr lang="en-US" sz="1600" dirty="0">
                <a:solidFill>
                  <a:srgbClr val="2A3245"/>
                </a:solidFill>
                <a:latin typeface="Calibri" pitchFamily="34" charset="0"/>
                <a:ea typeface="Calibri" pitchFamily="34" charset="-122"/>
                <a:cs typeface="Calibri" pitchFamily="34" charset="-120"/>
              </a:rPr>
              <a:t> to process applications </a:t>
            </a:r>
            <a:pPr algn="l" indent="0" marL="0">
              <a:lnSpc>
                <a:spcPct val="125000"/>
              </a:lnSpc>
              <a:buNone/>
            </a:pPr>
            <a:r>
              <a:rPr lang="en-US" sz="1600" dirty="0">
                <a:solidFill>
                  <a:srgbClr val="B23A2A"/>
                </a:solidFill>
                <a:highlight>
                  <a:srgbClr val="F6D3CB"/>
                </a:highlight>
                <a:latin typeface="Calibri" pitchFamily="34" charset="0"/>
                <a:ea typeface="Calibri" pitchFamily="34" charset="-122"/>
                <a:cs typeface="Calibri" pitchFamily="34" charset="-120"/>
              </a:rPr>
              <a:t>in order to</a:t>
            </a:r>
            <a:pPr algn="l" indent="0" marL="0">
              <a:lnSpc>
                <a:spcPct val="125000"/>
              </a:lnSpc>
              <a:buNone/>
            </a:pPr>
            <a:r>
              <a:rPr lang="en-US" sz="1600" dirty="0">
                <a:solidFill>
                  <a:srgbClr val="2A3245"/>
                </a:solidFill>
                <a:latin typeface="Calibri" pitchFamily="34" charset="0"/>
                <a:ea typeface="Calibri" pitchFamily="34" charset="-122"/>
                <a:cs typeface="Calibri" pitchFamily="34" charset="-120"/>
              </a:rPr>
              <a:t> support small businesses </a:t>
            </a:r>
            <a:pPr algn="l" indent="0" marL="0">
              <a:lnSpc>
                <a:spcPct val="125000"/>
              </a:lnSpc>
              <a:buNone/>
            </a:pPr>
            <a:r>
              <a:rPr lang="en-US" sz="1600" dirty="0">
                <a:solidFill>
                  <a:srgbClr val="B23A2A"/>
                </a:solidFill>
                <a:highlight>
                  <a:srgbClr val="F6D3CB"/>
                </a:highlight>
                <a:latin typeface="Calibri" pitchFamily="34" charset="0"/>
                <a:ea typeface="Calibri" pitchFamily="34" charset="-122"/>
                <a:cs typeface="Calibri" pitchFamily="34" charset="-120"/>
              </a:rPr>
              <a:t>going forward</a:t>
            </a:r>
            <a:pPr algn="l" indent="0" marL="0">
              <a:lnSpc>
                <a:spcPct val="125000"/>
              </a:lnSpc>
              <a:buNone/>
            </a:pPr>
            <a:r>
              <a:rPr lang="en-US" sz="1600" dirty="0">
                <a:solidFill>
                  <a:srgbClr val="2A3245"/>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914400" y="4069080"/>
            <a:ext cx="5669280" cy="457200"/>
          </a:xfrm>
          <a:prstGeom prst="roundRect">
            <a:avLst>
              <a:gd name="adj" fmla="val 12000"/>
            </a:avLst>
          </a:prstGeom>
          <a:solidFill>
            <a:srgbClr val="F7F8FB"/>
          </a:solidFill>
          <a:ln w="12700">
            <a:solidFill>
              <a:srgbClr val="E4E9F2"/>
            </a:solidFill>
            <a:prstDash val="solid"/>
          </a:ln>
        </p:spPr>
      </p:sp>
      <p:sp>
        <p:nvSpPr>
          <p:cNvPr id="13" name="Shape 11"/>
          <p:cNvSpPr/>
          <p:nvPr/>
        </p:nvSpPr>
        <p:spPr>
          <a:xfrm>
            <a:off x="1051560" y="4251960"/>
            <a:ext cx="91440" cy="91440"/>
          </a:xfrm>
          <a:prstGeom prst="ellipse">
            <a:avLst/>
          </a:prstGeom>
          <a:solidFill>
            <a:srgbClr val="E1604A"/>
          </a:solidFill>
          <a:ln/>
        </p:spPr>
      </p:sp>
      <p:sp>
        <p:nvSpPr>
          <p:cNvPr id="14" name="Text 12"/>
          <p:cNvSpPr/>
          <p:nvPr/>
        </p:nvSpPr>
        <p:spPr>
          <a:xfrm>
            <a:off x="1261872" y="4069080"/>
            <a:ext cx="5212080" cy="45720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endeavour  </a:t>
            </a:r>
            <a:pPr indent="0" marL="0">
              <a:buNone/>
            </a:pPr>
            <a:r>
              <a:rPr lang="en-US" sz="1150" dirty="0">
                <a:solidFill>
                  <a:srgbClr val="6B7488"/>
                </a:solidFill>
                <a:latin typeface="Calibri" pitchFamily="34" charset="0"/>
                <a:ea typeface="Calibri" pitchFamily="34" charset="-122"/>
                <a:cs typeface="Calibri" pitchFamily="34" charset="-120"/>
              </a:rPr>
              <a:t>Use a simpler word — “try”</a:t>
            </a:r>
            <a:endParaRPr lang="en-US" sz="1150" dirty="0"/>
          </a:p>
        </p:txBody>
      </p:sp>
      <p:sp>
        <p:nvSpPr>
          <p:cNvPr id="15" name="Shape 13"/>
          <p:cNvSpPr/>
          <p:nvPr/>
        </p:nvSpPr>
        <p:spPr>
          <a:xfrm>
            <a:off x="914400" y="4599432"/>
            <a:ext cx="5669280" cy="457200"/>
          </a:xfrm>
          <a:prstGeom prst="roundRect">
            <a:avLst>
              <a:gd name="adj" fmla="val 12000"/>
            </a:avLst>
          </a:prstGeom>
          <a:solidFill>
            <a:srgbClr val="F7F8FB"/>
          </a:solidFill>
          <a:ln w="12700">
            <a:solidFill>
              <a:srgbClr val="E4E9F2"/>
            </a:solidFill>
            <a:prstDash val="solid"/>
          </a:ln>
        </p:spPr>
      </p:sp>
      <p:sp>
        <p:nvSpPr>
          <p:cNvPr id="16" name="Shape 14"/>
          <p:cNvSpPr/>
          <p:nvPr/>
        </p:nvSpPr>
        <p:spPr>
          <a:xfrm>
            <a:off x="1051560" y="4782312"/>
            <a:ext cx="91440" cy="91440"/>
          </a:xfrm>
          <a:prstGeom prst="ellipse">
            <a:avLst/>
          </a:prstGeom>
          <a:solidFill>
            <a:srgbClr val="E1604A"/>
          </a:solidFill>
          <a:ln/>
        </p:spPr>
      </p:sp>
      <p:sp>
        <p:nvSpPr>
          <p:cNvPr id="17" name="Text 15"/>
          <p:cNvSpPr/>
          <p:nvPr/>
        </p:nvSpPr>
        <p:spPr>
          <a:xfrm>
            <a:off x="1261872" y="4599432"/>
            <a:ext cx="5212080" cy="45720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in order to  </a:t>
            </a:r>
            <a:pPr indent="0" marL="0">
              <a:buNone/>
            </a:pPr>
            <a:r>
              <a:rPr lang="en-US" sz="1150" dirty="0">
                <a:solidFill>
                  <a:srgbClr val="6B7488"/>
                </a:solidFill>
                <a:latin typeface="Calibri" pitchFamily="34" charset="0"/>
                <a:ea typeface="Calibri" pitchFamily="34" charset="-122"/>
                <a:cs typeface="Calibri" pitchFamily="34" charset="-120"/>
              </a:rPr>
              <a:t>Just use “to”</a:t>
            </a:r>
            <a:endParaRPr lang="en-US" sz="1150" dirty="0"/>
          </a:p>
        </p:txBody>
      </p:sp>
      <p:sp>
        <p:nvSpPr>
          <p:cNvPr id="18" name="Shape 16"/>
          <p:cNvSpPr/>
          <p:nvPr/>
        </p:nvSpPr>
        <p:spPr>
          <a:xfrm>
            <a:off x="914400" y="5129784"/>
            <a:ext cx="5669280" cy="457200"/>
          </a:xfrm>
          <a:prstGeom prst="roundRect">
            <a:avLst>
              <a:gd name="adj" fmla="val 12000"/>
            </a:avLst>
          </a:prstGeom>
          <a:solidFill>
            <a:srgbClr val="F7F8FB"/>
          </a:solidFill>
          <a:ln w="12700">
            <a:solidFill>
              <a:srgbClr val="E4E9F2"/>
            </a:solidFill>
            <a:prstDash val="solid"/>
          </a:ln>
        </p:spPr>
      </p:sp>
      <p:sp>
        <p:nvSpPr>
          <p:cNvPr id="19" name="Shape 17"/>
          <p:cNvSpPr/>
          <p:nvPr/>
        </p:nvSpPr>
        <p:spPr>
          <a:xfrm>
            <a:off x="1051560" y="5312664"/>
            <a:ext cx="91440" cy="91440"/>
          </a:xfrm>
          <a:prstGeom prst="ellipse">
            <a:avLst/>
          </a:prstGeom>
          <a:solidFill>
            <a:srgbClr val="E1604A"/>
          </a:solidFill>
          <a:ln/>
        </p:spPr>
      </p:sp>
      <p:sp>
        <p:nvSpPr>
          <p:cNvPr id="20" name="Text 18"/>
          <p:cNvSpPr/>
          <p:nvPr/>
        </p:nvSpPr>
        <p:spPr>
          <a:xfrm>
            <a:off x="1261872" y="5129784"/>
            <a:ext cx="5212080" cy="45720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going forward  </a:t>
            </a:r>
            <a:pPr indent="0" marL="0">
              <a:buNone/>
            </a:pPr>
            <a:r>
              <a:rPr lang="en-US" sz="1150" dirty="0">
                <a:solidFill>
                  <a:srgbClr val="6B7488"/>
                </a:solidFill>
                <a:latin typeface="Calibri" pitchFamily="34" charset="0"/>
                <a:ea typeface="Calibri" pitchFamily="34" charset="-122"/>
                <a:cs typeface="Calibri" pitchFamily="34" charset="-120"/>
              </a:rPr>
              <a:t>Often unnecessary — consider removing</a:t>
            </a:r>
            <a:endParaRPr lang="en-US" sz="1150" dirty="0"/>
          </a:p>
        </p:txBody>
      </p:sp>
      <p:sp>
        <p:nvSpPr>
          <p:cNvPr id="21" name="Shape 19"/>
          <p:cNvSpPr/>
          <p:nvPr/>
        </p:nvSpPr>
        <p:spPr>
          <a:xfrm>
            <a:off x="7269480" y="1810512"/>
            <a:ext cx="512064" cy="512064"/>
          </a:xfrm>
          <a:prstGeom prst="ellipse">
            <a:avLst/>
          </a:prstGeom>
          <a:solidFill>
            <a:srgbClr val="E1604A"/>
          </a:solidFill>
          <a:ln/>
        </p:spPr>
      </p:sp>
      <p:pic>
        <p:nvPicPr>
          <p:cNvPr id="22" name="Image 0" descr="preencoded.png">    </p:cNvPr>
          <p:cNvPicPr>
            <a:picLocks noChangeAspect="1"/>
          </p:cNvPicPr>
          <p:nvPr/>
        </p:nvPicPr>
        <p:blipFill>
          <a:blip r:embed="rId1"/>
          <a:stretch>
            <a:fillRect/>
          </a:stretch>
        </p:blipFill>
        <p:spPr>
          <a:xfrm>
            <a:off x="7417979" y="1959011"/>
            <a:ext cx="215067" cy="215067"/>
          </a:xfrm>
          <a:prstGeom prst="rect">
            <a:avLst/>
          </a:prstGeom>
        </p:spPr>
      </p:pic>
      <p:sp>
        <p:nvSpPr>
          <p:cNvPr id="23" name="Text 20"/>
          <p:cNvSpPr/>
          <p:nvPr/>
        </p:nvSpPr>
        <p:spPr>
          <a:xfrm>
            <a:off x="7955280" y="1755648"/>
            <a:ext cx="3687775" cy="320040"/>
          </a:xfrm>
          <a:prstGeom prst="rect">
            <a:avLst/>
          </a:prstGeom>
          <a:noFill/>
          <a:ln/>
        </p:spPr>
        <p:txBody>
          <a:bodyPr wrap="square" lIns="0" tIns="0" rIns="0" bIns="0" rtlCol="0" anchor="ctr"/>
          <a:lstStyle/>
          <a:p>
            <a:pPr indent="0" marL="0">
              <a:buNone/>
            </a:pPr>
            <a:r>
              <a:rPr lang="en-US" sz="1550" b="1" dirty="0">
                <a:solidFill>
                  <a:srgbClr val="1B2A4A"/>
                </a:solidFill>
                <a:latin typeface="Cambria" pitchFamily="34" charset="0"/>
                <a:ea typeface="Cambria" pitchFamily="34" charset="-122"/>
                <a:cs typeface="Cambria" pitchFamily="34" charset="-120"/>
              </a:rPr>
              <a:t>Flags issues in place</a:t>
            </a:r>
            <a:endParaRPr lang="en-US" sz="1550" dirty="0"/>
          </a:p>
        </p:txBody>
      </p:sp>
      <p:sp>
        <p:nvSpPr>
          <p:cNvPr id="24" name="Text 21"/>
          <p:cNvSpPr/>
          <p:nvPr/>
        </p:nvSpPr>
        <p:spPr>
          <a:xfrm>
            <a:off x="7955280" y="2084832"/>
            <a:ext cx="3687775" cy="548640"/>
          </a:xfrm>
          <a:prstGeom prst="rect">
            <a:avLst/>
          </a:prstGeom>
          <a:noFill/>
          <a:ln/>
        </p:spPr>
        <p:txBody>
          <a:bodyPr wrap="square" lIns="0" tIns="0" rIns="0" bIns="0" rtlCol="0" anchor="ctr"/>
          <a:lstStyle/>
          <a:p>
            <a:pPr indent="0" marL="0">
              <a:lnSpc>
                <a:spcPct val="103000"/>
              </a:lnSpc>
              <a:buNone/>
            </a:pPr>
            <a:r>
              <a:rPr lang="en-US" sz="1250" dirty="0">
                <a:solidFill>
                  <a:srgbClr val="3A4358"/>
                </a:solidFill>
                <a:latin typeface="Calibri" pitchFamily="34" charset="0"/>
                <a:ea typeface="Calibri" pitchFamily="34" charset="-122"/>
                <a:cs typeface="Calibri" pitchFamily="34" charset="-120"/>
              </a:rPr>
              <a:t>Highlights style problems right in your text.</a:t>
            </a:r>
            <a:endParaRPr lang="en-US" sz="1250" dirty="0"/>
          </a:p>
        </p:txBody>
      </p:sp>
      <p:sp>
        <p:nvSpPr>
          <p:cNvPr id="25" name="Shape 22"/>
          <p:cNvSpPr/>
          <p:nvPr/>
        </p:nvSpPr>
        <p:spPr>
          <a:xfrm>
            <a:off x="7269480" y="2816352"/>
            <a:ext cx="512064" cy="512064"/>
          </a:xfrm>
          <a:prstGeom prst="ellipse">
            <a:avLst/>
          </a:prstGeom>
          <a:solidFill>
            <a:srgbClr val="E1604A"/>
          </a:solidFill>
          <a:ln/>
        </p:spPr>
      </p:sp>
      <p:pic>
        <p:nvPicPr>
          <p:cNvPr id="26" name="Image 1" descr="preencoded.png">    </p:cNvPr>
          <p:cNvPicPr>
            <a:picLocks noChangeAspect="1"/>
          </p:cNvPicPr>
          <p:nvPr/>
        </p:nvPicPr>
        <p:blipFill>
          <a:blip r:embed="rId2"/>
          <a:stretch>
            <a:fillRect/>
          </a:stretch>
        </p:blipFill>
        <p:spPr>
          <a:xfrm>
            <a:off x="7417979" y="2964851"/>
            <a:ext cx="215067" cy="215067"/>
          </a:xfrm>
          <a:prstGeom prst="rect">
            <a:avLst/>
          </a:prstGeom>
        </p:spPr>
      </p:pic>
      <p:sp>
        <p:nvSpPr>
          <p:cNvPr id="27" name="Text 23"/>
          <p:cNvSpPr/>
          <p:nvPr/>
        </p:nvSpPr>
        <p:spPr>
          <a:xfrm>
            <a:off x="7955280" y="2761488"/>
            <a:ext cx="3687775" cy="320040"/>
          </a:xfrm>
          <a:prstGeom prst="rect">
            <a:avLst/>
          </a:prstGeom>
          <a:noFill/>
          <a:ln/>
        </p:spPr>
        <p:txBody>
          <a:bodyPr wrap="square" lIns="0" tIns="0" rIns="0" bIns="0" rtlCol="0" anchor="ctr"/>
          <a:lstStyle/>
          <a:p>
            <a:pPr indent="0" marL="0">
              <a:buNone/>
            </a:pPr>
            <a:r>
              <a:rPr lang="en-US" sz="1550" b="1" dirty="0">
                <a:solidFill>
                  <a:srgbClr val="1B2A4A"/>
                </a:solidFill>
                <a:latin typeface="Cambria" pitchFamily="34" charset="0"/>
                <a:ea typeface="Cambria" pitchFamily="34" charset="-122"/>
                <a:cs typeface="Cambria" pitchFamily="34" charset="-120"/>
              </a:rPr>
              <a:t>Explains why</a:t>
            </a:r>
            <a:endParaRPr lang="en-US" sz="1550" dirty="0"/>
          </a:p>
        </p:txBody>
      </p:sp>
      <p:sp>
        <p:nvSpPr>
          <p:cNvPr id="28" name="Text 24"/>
          <p:cNvSpPr/>
          <p:nvPr/>
        </p:nvSpPr>
        <p:spPr>
          <a:xfrm>
            <a:off x="7955280" y="3090672"/>
            <a:ext cx="3687775" cy="548640"/>
          </a:xfrm>
          <a:prstGeom prst="rect">
            <a:avLst/>
          </a:prstGeom>
          <a:noFill/>
          <a:ln/>
        </p:spPr>
        <p:txBody>
          <a:bodyPr wrap="square" lIns="0" tIns="0" rIns="0" bIns="0" rtlCol="0" anchor="ctr"/>
          <a:lstStyle/>
          <a:p>
            <a:pPr indent="0" marL="0">
              <a:lnSpc>
                <a:spcPct val="103000"/>
              </a:lnSpc>
              <a:buNone/>
            </a:pPr>
            <a:r>
              <a:rPr lang="en-US" sz="1250" dirty="0">
                <a:solidFill>
                  <a:srgbClr val="3A4358"/>
                </a:solidFill>
                <a:latin typeface="Calibri" pitchFamily="34" charset="0"/>
                <a:ea typeface="Calibri" pitchFamily="34" charset="-122"/>
                <a:cs typeface="Calibri" pitchFamily="34" charset="-120"/>
              </a:rPr>
              <a:t>Each flag says which rule applies and what to do.</a:t>
            </a:r>
            <a:endParaRPr lang="en-US" sz="1250" dirty="0"/>
          </a:p>
        </p:txBody>
      </p:sp>
      <p:sp>
        <p:nvSpPr>
          <p:cNvPr id="29" name="Shape 25"/>
          <p:cNvSpPr/>
          <p:nvPr/>
        </p:nvSpPr>
        <p:spPr>
          <a:xfrm>
            <a:off x="7269480" y="3822192"/>
            <a:ext cx="512064" cy="512064"/>
          </a:xfrm>
          <a:prstGeom prst="ellipse">
            <a:avLst/>
          </a:prstGeom>
          <a:solidFill>
            <a:srgbClr val="E1604A"/>
          </a:solidFill>
          <a:ln/>
        </p:spPr>
      </p:sp>
      <p:pic>
        <p:nvPicPr>
          <p:cNvPr id="30" name="Image 2" descr="preencoded.png">    </p:cNvPr>
          <p:cNvPicPr>
            <a:picLocks noChangeAspect="1"/>
          </p:cNvPicPr>
          <p:nvPr/>
        </p:nvPicPr>
        <p:blipFill>
          <a:blip r:embed="rId3"/>
          <a:stretch>
            <a:fillRect/>
          </a:stretch>
        </p:blipFill>
        <p:spPr>
          <a:xfrm>
            <a:off x="7417979" y="3970691"/>
            <a:ext cx="215067" cy="215067"/>
          </a:xfrm>
          <a:prstGeom prst="rect">
            <a:avLst/>
          </a:prstGeom>
        </p:spPr>
      </p:pic>
      <p:sp>
        <p:nvSpPr>
          <p:cNvPr id="31" name="Text 26"/>
          <p:cNvSpPr/>
          <p:nvPr/>
        </p:nvSpPr>
        <p:spPr>
          <a:xfrm>
            <a:off x="7955280" y="3767328"/>
            <a:ext cx="3687775" cy="320040"/>
          </a:xfrm>
          <a:prstGeom prst="rect">
            <a:avLst/>
          </a:prstGeom>
          <a:noFill/>
          <a:ln/>
        </p:spPr>
        <p:txBody>
          <a:bodyPr wrap="square" lIns="0" tIns="0" rIns="0" bIns="0" rtlCol="0" anchor="ctr"/>
          <a:lstStyle/>
          <a:p>
            <a:pPr indent="0" marL="0">
              <a:buNone/>
            </a:pPr>
            <a:r>
              <a:rPr lang="en-US" sz="1550" b="1" dirty="0">
                <a:solidFill>
                  <a:srgbClr val="1B2A4A"/>
                </a:solidFill>
                <a:latin typeface="Cambria" pitchFamily="34" charset="0"/>
                <a:ea typeface="Cambria" pitchFamily="34" charset="-122"/>
                <a:cs typeface="Cambria" pitchFamily="34" charset="-120"/>
              </a:rPr>
              <a:t>Suggests a fix</a:t>
            </a:r>
            <a:endParaRPr lang="en-US" sz="1550" dirty="0"/>
          </a:p>
        </p:txBody>
      </p:sp>
      <p:sp>
        <p:nvSpPr>
          <p:cNvPr id="32" name="Text 27"/>
          <p:cNvSpPr/>
          <p:nvPr/>
        </p:nvSpPr>
        <p:spPr>
          <a:xfrm>
            <a:off x="7955280" y="4096512"/>
            <a:ext cx="3687775" cy="548640"/>
          </a:xfrm>
          <a:prstGeom prst="rect">
            <a:avLst/>
          </a:prstGeom>
          <a:noFill/>
          <a:ln/>
        </p:spPr>
        <p:txBody>
          <a:bodyPr wrap="square" lIns="0" tIns="0" rIns="0" bIns="0" rtlCol="0" anchor="ctr"/>
          <a:lstStyle/>
          <a:p>
            <a:pPr indent="0" marL="0">
              <a:lnSpc>
                <a:spcPct val="103000"/>
              </a:lnSpc>
              <a:buNone/>
            </a:pPr>
            <a:r>
              <a:rPr lang="en-US" sz="1250" dirty="0">
                <a:solidFill>
                  <a:srgbClr val="3A4358"/>
                </a:solidFill>
                <a:latin typeface="Calibri" pitchFamily="34" charset="0"/>
                <a:ea typeface="Calibri" pitchFamily="34" charset="-122"/>
                <a:cs typeface="Calibri" pitchFamily="34" charset="-120"/>
              </a:rPr>
              <a:t>Offers a plainer word or phrasing you can accept.</a:t>
            </a:r>
            <a:endParaRPr lang="en-US" sz="1250" dirty="0"/>
          </a:p>
        </p:txBody>
      </p:sp>
      <p:sp>
        <p:nvSpPr>
          <p:cNvPr id="33" name="Shape 28"/>
          <p:cNvSpPr/>
          <p:nvPr/>
        </p:nvSpPr>
        <p:spPr>
          <a:xfrm>
            <a:off x="7269480" y="4828032"/>
            <a:ext cx="512064" cy="512064"/>
          </a:xfrm>
          <a:prstGeom prst="ellipse">
            <a:avLst/>
          </a:prstGeom>
          <a:solidFill>
            <a:srgbClr val="E1604A"/>
          </a:solidFill>
          <a:ln/>
        </p:spPr>
      </p:sp>
      <p:pic>
        <p:nvPicPr>
          <p:cNvPr id="34" name="Image 3" descr="preencoded.png">    </p:cNvPr>
          <p:cNvPicPr>
            <a:picLocks noChangeAspect="1"/>
          </p:cNvPicPr>
          <p:nvPr/>
        </p:nvPicPr>
        <p:blipFill>
          <a:blip r:embed="rId4"/>
          <a:stretch>
            <a:fillRect/>
          </a:stretch>
        </p:blipFill>
        <p:spPr>
          <a:xfrm>
            <a:off x="7417979" y="4976531"/>
            <a:ext cx="215067" cy="215067"/>
          </a:xfrm>
          <a:prstGeom prst="rect">
            <a:avLst/>
          </a:prstGeom>
        </p:spPr>
      </p:pic>
      <p:sp>
        <p:nvSpPr>
          <p:cNvPr id="35" name="Text 29"/>
          <p:cNvSpPr/>
          <p:nvPr/>
        </p:nvSpPr>
        <p:spPr>
          <a:xfrm>
            <a:off x="7955280" y="4773168"/>
            <a:ext cx="3687775" cy="320040"/>
          </a:xfrm>
          <a:prstGeom prst="rect">
            <a:avLst/>
          </a:prstGeom>
          <a:noFill/>
          <a:ln/>
        </p:spPr>
        <p:txBody>
          <a:bodyPr wrap="square" lIns="0" tIns="0" rIns="0" bIns="0" rtlCol="0" anchor="ctr"/>
          <a:lstStyle/>
          <a:p>
            <a:pPr indent="0" marL="0">
              <a:buNone/>
            </a:pPr>
            <a:r>
              <a:rPr lang="en-US" sz="1550" b="1" dirty="0">
                <a:solidFill>
                  <a:srgbClr val="1B2A4A"/>
                </a:solidFill>
                <a:latin typeface="Cambria" pitchFamily="34" charset="0"/>
                <a:ea typeface="Cambria" pitchFamily="34" charset="-122"/>
                <a:cs typeface="Cambria" pitchFamily="34" charset="-120"/>
              </a:rPr>
              <a:t>Links to the source</a:t>
            </a:r>
            <a:endParaRPr lang="en-US" sz="1550" dirty="0"/>
          </a:p>
        </p:txBody>
      </p:sp>
      <p:sp>
        <p:nvSpPr>
          <p:cNvPr id="36" name="Text 30"/>
          <p:cNvSpPr/>
          <p:nvPr/>
        </p:nvSpPr>
        <p:spPr>
          <a:xfrm>
            <a:off x="7955280" y="5102352"/>
            <a:ext cx="3687775" cy="548640"/>
          </a:xfrm>
          <a:prstGeom prst="rect">
            <a:avLst/>
          </a:prstGeom>
          <a:noFill/>
          <a:ln/>
        </p:spPr>
        <p:txBody>
          <a:bodyPr wrap="square" lIns="0" tIns="0" rIns="0" bIns="0" rtlCol="0" anchor="ctr"/>
          <a:lstStyle/>
          <a:p>
            <a:pPr indent="0" marL="0">
              <a:lnSpc>
                <a:spcPct val="103000"/>
              </a:lnSpc>
              <a:buNone/>
            </a:pPr>
            <a:r>
              <a:rPr lang="en-US" sz="1250" dirty="0">
                <a:solidFill>
                  <a:srgbClr val="3A4358"/>
                </a:solidFill>
                <a:latin typeface="Calibri" pitchFamily="34" charset="0"/>
                <a:ea typeface="Calibri" pitchFamily="34" charset="-122"/>
                <a:cs typeface="Calibri" pitchFamily="34" charset="-120"/>
              </a:rPr>
              <a:t>Every finding points back to the official guidance.</a:t>
            </a:r>
            <a:endParaRPr lang="en-US" sz="1250" dirty="0"/>
          </a:p>
        </p:txBody>
      </p:sp>
      <p:sp>
        <p:nvSpPr>
          <p:cNvPr id="37" name="Text 31"/>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38" name="Shape 32"/>
          <p:cNvSpPr/>
          <p:nvPr/>
        </p:nvSpPr>
        <p:spPr>
          <a:xfrm>
            <a:off x="11259007" y="6492240"/>
            <a:ext cx="82296" cy="82296"/>
          </a:xfrm>
          <a:prstGeom prst="ellipse">
            <a:avLst/>
          </a:prstGeom>
          <a:solidFill>
            <a:srgbClr val="E1604A"/>
          </a:solidFill>
          <a:ln/>
        </p:spPr>
      </p:sp>
      <p:sp>
        <p:nvSpPr>
          <p:cNvPr id="39" name="Text 33"/>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THE KEY IDEA</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This is AI — but it is not a chatbot</a:t>
            </a:r>
            <a:endParaRPr lang="en-US" sz="3200" dirty="0"/>
          </a:p>
        </p:txBody>
      </p:sp>
      <p:sp>
        <p:nvSpPr>
          <p:cNvPr id="4" name="Shape 2"/>
          <p:cNvSpPr/>
          <p:nvPr/>
        </p:nvSpPr>
        <p:spPr>
          <a:xfrm>
            <a:off x="548640" y="1783080"/>
            <a:ext cx="5318608" cy="3977640"/>
          </a:xfrm>
          <a:prstGeom prst="roundRect">
            <a:avLst>
              <a:gd name="adj" fmla="val 2299"/>
            </a:avLst>
          </a:prstGeom>
          <a:solidFill>
            <a:srgbClr val="EEF1F7"/>
          </a:solidFill>
          <a:ln w="12700">
            <a:solidFill>
              <a:srgbClr val="E4E9F2"/>
            </a:solidFill>
            <a:prstDash val="solid"/>
          </a:ln>
        </p:spPr>
      </p:sp>
      <p:sp>
        <p:nvSpPr>
          <p:cNvPr id="5" name="Shape 3"/>
          <p:cNvSpPr/>
          <p:nvPr/>
        </p:nvSpPr>
        <p:spPr>
          <a:xfrm>
            <a:off x="868680" y="2075688"/>
            <a:ext cx="548640" cy="548640"/>
          </a:xfrm>
          <a:prstGeom prst="ellipse">
            <a:avLst/>
          </a:prstGeom>
          <a:solidFill>
            <a:srgbClr val="5C6B8C"/>
          </a:solidFill>
          <a:ln/>
        </p:spPr>
      </p:sp>
      <p:pic>
        <p:nvPicPr>
          <p:cNvPr id="6" name="Image 0" descr="preencoded.png">    </p:cNvPr>
          <p:cNvPicPr>
            <a:picLocks noChangeAspect="1"/>
          </p:cNvPicPr>
          <p:nvPr/>
        </p:nvPicPr>
        <p:blipFill>
          <a:blip r:embed="rId1"/>
          <a:stretch>
            <a:fillRect/>
          </a:stretch>
        </p:blipFill>
        <p:spPr>
          <a:xfrm>
            <a:off x="1027786" y="2234794"/>
            <a:ext cx="230429" cy="230429"/>
          </a:xfrm>
          <a:prstGeom prst="rect">
            <a:avLst/>
          </a:prstGeom>
        </p:spPr>
      </p:pic>
      <p:sp>
        <p:nvSpPr>
          <p:cNvPr id="7" name="Text 4"/>
          <p:cNvSpPr/>
          <p:nvPr/>
        </p:nvSpPr>
        <p:spPr>
          <a:xfrm>
            <a:off x="1554480" y="2057400"/>
            <a:ext cx="4129888" cy="365760"/>
          </a:xfrm>
          <a:prstGeom prst="rect">
            <a:avLst/>
          </a:prstGeom>
          <a:noFill/>
          <a:ln/>
        </p:spPr>
        <p:txBody>
          <a:bodyPr wrap="square" lIns="0" tIns="0" rIns="0" bIns="0" rtlCol="0" anchor="ctr"/>
          <a:lstStyle/>
          <a:p>
            <a:pPr indent="0" marL="0">
              <a:buNone/>
            </a:pPr>
            <a:r>
              <a:rPr lang="en-US" sz="1900" b="1" dirty="0">
                <a:solidFill>
                  <a:srgbClr val="1B2A4A"/>
                </a:solidFill>
                <a:latin typeface="Cambria" pitchFamily="34" charset="0"/>
                <a:ea typeface="Cambria" pitchFamily="34" charset="-122"/>
                <a:cs typeface="Cambria" pitchFamily="34" charset="-120"/>
              </a:rPr>
              <a:t>A chatbot</a:t>
            </a:r>
            <a:endParaRPr lang="en-US" sz="1900" dirty="0"/>
          </a:p>
        </p:txBody>
      </p:sp>
      <p:sp>
        <p:nvSpPr>
          <p:cNvPr id="8" name="Text 5"/>
          <p:cNvSpPr/>
          <p:nvPr/>
        </p:nvSpPr>
        <p:spPr>
          <a:xfrm>
            <a:off x="1554480" y="2404872"/>
            <a:ext cx="4129888" cy="274320"/>
          </a:xfrm>
          <a:prstGeom prst="rect">
            <a:avLst/>
          </a:prstGeom>
          <a:noFill/>
          <a:ln/>
        </p:spPr>
        <p:txBody>
          <a:bodyPr wrap="square" lIns="0" tIns="0" rIns="0" bIns="0" rtlCol="0" anchor="ctr"/>
          <a:lstStyle/>
          <a:p>
            <a:pPr indent="0" marL="0">
              <a:buNone/>
            </a:pPr>
            <a:r>
              <a:rPr lang="en-US" sz="1200" i="1" dirty="0">
                <a:solidFill>
                  <a:srgbClr val="6B7488"/>
                </a:solidFill>
                <a:latin typeface="Calibri" pitchFamily="34" charset="0"/>
                <a:ea typeface="Calibri" pitchFamily="34" charset="-122"/>
                <a:cs typeface="Calibri" pitchFamily="34" charset="-120"/>
              </a:rPr>
              <a:t>(like a typical AI assistant)</a:t>
            </a:r>
            <a:endParaRPr lang="en-US" sz="1200" dirty="0"/>
          </a:p>
        </p:txBody>
      </p:sp>
      <p:sp>
        <p:nvSpPr>
          <p:cNvPr id="9" name="Text 6"/>
          <p:cNvSpPr/>
          <p:nvPr/>
        </p:nvSpPr>
        <p:spPr>
          <a:xfrm>
            <a:off x="914400" y="2926080"/>
            <a:ext cx="274320" cy="365760"/>
          </a:xfrm>
          <a:prstGeom prst="rect">
            <a:avLst/>
          </a:prstGeom>
          <a:noFill/>
          <a:ln/>
        </p:spPr>
        <p:txBody>
          <a:bodyPr wrap="square" lIns="0" tIns="0" rIns="0" bIns="0" rtlCol="0" anchor="t"/>
          <a:lstStyle/>
          <a:p>
            <a:pPr indent="0" marL="0">
              <a:buNone/>
            </a:pPr>
            <a:r>
              <a:rPr lang="en-US" sz="1500" b="1" dirty="0">
                <a:solidFill>
                  <a:srgbClr val="5C6B8C"/>
                </a:solidFill>
                <a:latin typeface="Calibri" pitchFamily="34" charset="0"/>
                <a:ea typeface="Calibri" pitchFamily="34" charset="-122"/>
                <a:cs typeface="Calibri" pitchFamily="34" charset="-120"/>
              </a:rPr>
              <a:t>–</a:t>
            </a:r>
            <a:endParaRPr lang="en-US" sz="1500" dirty="0"/>
          </a:p>
        </p:txBody>
      </p:sp>
      <p:sp>
        <p:nvSpPr>
          <p:cNvPr id="10" name="Text 7"/>
          <p:cNvSpPr/>
          <p:nvPr/>
        </p:nvSpPr>
        <p:spPr>
          <a:xfrm>
            <a:off x="1207008" y="2926080"/>
            <a:ext cx="4312768" cy="594360"/>
          </a:xfrm>
          <a:prstGeom prst="rect">
            <a:avLst/>
          </a:prstGeom>
          <a:noFill/>
          <a:ln/>
        </p:spPr>
        <p:txBody>
          <a:bodyPr wrap="square" lIns="0" tIns="0" rIns="0" bIns="0" rtlCol="0" anchor="t"/>
          <a:lstStyle/>
          <a:p>
            <a:pPr indent="0" marL="0">
              <a:buNone/>
            </a:pPr>
            <a:r>
              <a:rPr lang="en-US" sz="1350" dirty="0">
                <a:solidFill>
                  <a:srgbClr val="3A4358"/>
                </a:solidFill>
                <a:latin typeface="Calibri" pitchFamily="34" charset="0"/>
                <a:ea typeface="Calibri" pitchFamily="34" charset="-122"/>
                <a:cs typeface="Calibri" pitchFamily="34" charset="-120"/>
              </a:rPr>
              <a:t>Writes a fresh answer each time</a:t>
            </a:r>
            <a:endParaRPr lang="en-US" sz="1350" dirty="0"/>
          </a:p>
        </p:txBody>
      </p:sp>
      <p:sp>
        <p:nvSpPr>
          <p:cNvPr id="11" name="Text 8"/>
          <p:cNvSpPr/>
          <p:nvPr/>
        </p:nvSpPr>
        <p:spPr>
          <a:xfrm>
            <a:off x="914400" y="3611880"/>
            <a:ext cx="274320" cy="365760"/>
          </a:xfrm>
          <a:prstGeom prst="rect">
            <a:avLst/>
          </a:prstGeom>
          <a:noFill/>
          <a:ln/>
        </p:spPr>
        <p:txBody>
          <a:bodyPr wrap="square" lIns="0" tIns="0" rIns="0" bIns="0" rtlCol="0" anchor="t"/>
          <a:lstStyle/>
          <a:p>
            <a:pPr indent="0" marL="0">
              <a:buNone/>
            </a:pPr>
            <a:r>
              <a:rPr lang="en-US" sz="1500" b="1" dirty="0">
                <a:solidFill>
                  <a:srgbClr val="5C6B8C"/>
                </a:solidFill>
                <a:latin typeface="Calibri" pitchFamily="34" charset="0"/>
                <a:ea typeface="Calibri" pitchFamily="34" charset="-122"/>
                <a:cs typeface="Calibri" pitchFamily="34" charset="-120"/>
              </a:rPr>
              <a:t>–</a:t>
            </a:r>
            <a:endParaRPr lang="en-US" sz="1500" dirty="0"/>
          </a:p>
        </p:txBody>
      </p:sp>
      <p:sp>
        <p:nvSpPr>
          <p:cNvPr id="12" name="Text 9"/>
          <p:cNvSpPr/>
          <p:nvPr/>
        </p:nvSpPr>
        <p:spPr>
          <a:xfrm>
            <a:off x="1207008" y="3611880"/>
            <a:ext cx="4312768" cy="594360"/>
          </a:xfrm>
          <a:prstGeom prst="rect">
            <a:avLst/>
          </a:prstGeom>
          <a:noFill/>
          <a:ln/>
        </p:spPr>
        <p:txBody>
          <a:bodyPr wrap="square" lIns="0" tIns="0" rIns="0" bIns="0" rtlCol="0" anchor="t"/>
          <a:lstStyle/>
          <a:p>
            <a:pPr indent="0" marL="0">
              <a:buNone/>
            </a:pPr>
            <a:r>
              <a:rPr lang="en-US" sz="1350" dirty="0">
                <a:solidFill>
                  <a:srgbClr val="3A4358"/>
                </a:solidFill>
                <a:latin typeface="Calibri" pitchFamily="34" charset="0"/>
                <a:ea typeface="Calibri" pitchFamily="34" charset="-122"/>
                <a:cs typeface="Calibri" pitchFamily="34" charset="-120"/>
              </a:rPr>
              <a:t>Can sound confident but be wrong</a:t>
            </a:r>
            <a:endParaRPr lang="en-US" sz="1350" dirty="0"/>
          </a:p>
        </p:txBody>
      </p:sp>
      <p:sp>
        <p:nvSpPr>
          <p:cNvPr id="13" name="Text 10"/>
          <p:cNvSpPr/>
          <p:nvPr/>
        </p:nvSpPr>
        <p:spPr>
          <a:xfrm>
            <a:off x="914400" y="4297680"/>
            <a:ext cx="274320" cy="365760"/>
          </a:xfrm>
          <a:prstGeom prst="rect">
            <a:avLst/>
          </a:prstGeom>
          <a:noFill/>
          <a:ln/>
        </p:spPr>
        <p:txBody>
          <a:bodyPr wrap="square" lIns="0" tIns="0" rIns="0" bIns="0" rtlCol="0" anchor="t"/>
          <a:lstStyle/>
          <a:p>
            <a:pPr indent="0" marL="0">
              <a:buNone/>
            </a:pPr>
            <a:r>
              <a:rPr lang="en-US" sz="1500" b="1" dirty="0">
                <a:solidFill>
                  <a:srgbClr val="5C6B8C"/>
                </a:solidFill>
                <a:latin typeface="Calibri" pitchFamily="34" charset="0"/>
                <a:ea typeface="Calibri" pitchFamily="34" charset="-122"/>
                <a:cs typeface="Calibri" pitchFamily="34" charset="-120"/>
              </a:rPr>
              <a:t>–</a:t>
            </a:r>
            <a:endParaRPr lang="en-US" sz="1500" dirty="0"/>
          </a:p>
        </p:txBody>
      </p:sp>
      <p:sp>
        <p:nvSpPr>
          <p:cNvPr id="14" name="Text 11"/>
          <p:cNvSpPr/>
          <p:nvPr/>
        </p:nvSpPr>
        <p:spPr>
          <a:xfrm>
            <a:off x="1207008" y="4297680"/>
            <a:ext cx="4312768" cy="594360"/>
          </a:xfrm>
          <a:prstGeom prst="rect">
            <a:avLst/>
          </a:prstGeom>
          <a:noFill/>
          <a:ln/>
        </p:spPr>
        <p:txBody>
          <a:bodyPr wrap="square" lIns="0" tIns="0" rIns="0" bIns="0" rtlCol="0" anchor="t"/>
          <a:lstStyle/>
          <a:p>
            <a:pPr indent="0" marL="0">
              <a:buNone/>
            </a:pPr>
            <a:r>
              <a:rPr lang="en-US" sz="1350" dirty="0">
                <a:solidFill>
                  <a:srgbClr val="3A4358"/>
                </a:solidFill>
                <a:latin typeface="Calibri" pitchFamily="34" charset="0"/>
                <a:ea typeface="Calibri" pitchFamily="34" charset="-122"/>
                <a:cs typeface="Calibri" pitchFamily="34" charset="-120"/>
              </a:rPr>
              <a:t>Hard to see why it answered that way</a:t>
            </a:r>
            <a:endParaRPr lang="en-US" sz="1350" dirty="0"/>
          </a:p>
        </p:txBody>
      </p:sp>
      <p:sp>
        <p:nvSpPr>
          <p:cNvPr id="15" name="Text 12"/>
          <p:cNvSpPr/>
          <p:nvPr/>
        </p:nvSpPr>
        <p:spPr>
          <a:xfrm>
            <a:off x="914400" y="4983480"/>
            <a:ext cx="274320" cy="365760"/>
          </a:xfrm>
          <a:prstGeom prst="rect">
            <a:avLst/>
          </a:prstGeom>
          <a:noFill/>
          <a:ln/>
        </p:spPr>
        <p:txBody>
          <a:bodyPr wrap="square" lIns="0" tIns="0" rIns="0" bIns="0" rtlCol="0" anchor="t"/>
          <a:lstStyle/>
          <a:p>
            <a:pPr indent="0" marL="0">
              <a:buNone/>
            </a:pPr>
            <a:r>
              <a:rPr lang="en-US" sz="1500" b="1" dirty="0">
                <a:solidFill>
                  <a:srgbClr val="5C6B8C"/>
                </a:solidFill>
                <a:latin typeface="Calibri" pitchFamily="34" charset="0"/>
                <a:ea typeface="Calibri" pitchFamily="34" charset="-122"/>
                <a:cs typeface="Calibri" pitchFamily="34" charset="-120"/>
              </a:rPr>
              <a:t>–</a:t>
            </a:r>
            <a:endParaRPr lang="en-US" sz="1500" dirty="0"/>
          </a:p>
        </p:txBody>
      </p:sp>
      <p:sp>
        <p:nvSpPr>
          <p:cNvPr id="16" name="Text 13"/>
          <p:cNvSpPr/>
          <p:nvPr/>
        </p:nvSpPr>
        <p:spPr>
          <a:xfrm>
            <a:off x="1207008" y="4983480"/>
            <a:ext cx="4312768" cy="594360"/>
          </a:xfrm>
          <a:prstGeom prst="rect">
            <a:avLst/>
          </a:prstGeom>
          <a:noFill/>
          <a:ln/>
        </p:spPr>
        <p:txBody>
          <a:bodyPr wrap="square" lIns="0" tIns="0" rIns="0" bIns="0" rtlCol="0" anchor="t"/>
          <a:lstStyle/>
          <a:p>
            <a:pPr indent="0" marL="0">
              <a:buNone/>
            </a:pPr>
            <a:r>
              <a:rPr lang="en-US" sz="1350" dirty="0">
                <a:solidFill>
                  <a:srgbClr val="3A4358"/>
                </a:solidFill>
                <a:latin typeface="Calibri" pitchFamily="34" charset="0"/>
                <a:ea typeface="Calibri" pitchFamily="34" charset="-122"/>
                <a:cs typeface="Calibri" pitchFamily="34" charset="-120"/>
              </a:rPr>
              <a:t>Handles one request in a conversation</a:t>
            </a:r>
            <a:endParaRPr lang="en-US" sz="1350" dirty="0"/>
          </a:p>
        </p:txBody>
      </p:sp>
      <p:sp>
        <p:nvSpPr>
          <p:cNvPr id="17" name="Shape 14"/>
          <p:cNvSpPr/>
          <p:nvPr/>
        </p:nvSpPr>
        <p:spPr>
          <a:xfrm>
            <a:off x="6324448" y="1783080"/>
            <a:ext cx="5318608" cy="3977640"/>
          </a:xfrm>
          <a:prstGeom prst="roundRect">
            <a:avLst>
              <a:gd name="adj" fmla="val 2299"/>
            </a:avLst>
          </a:prstGeom>
          <a:solidFill>
            <a:srgbClr val="1B2A4A"/>
          </a:solidFill>
          <a:ln/>
        </p:spPr>
      </p:sp>
      <p:sp>
        <p:nvSpPr>
          <p:cNvPr id="18" name="Shape 15"/>
          <p:cNvSpPr/>
          <p:nvPr/>
        </p:nvSpPr>
        <p:spPr>
          <a:xfrm>
            <a:off x="6644488" y="2075688"/>
            <a:ext cx="548640" cy="548640"/>
          </a:xfrm>
          <a:prstGeom prst="ellipse">
            <a:avLst/>
          </a:prstGeom>
          <a:solidFill>
            <a:srgbClr val="E1604A"/>
          </a:solidFill>
          <a:ln/>
        </p:spPr>
      </p:sp>
      <p:pic>
        <p:nvPicPr>
          <p:cNvPr id="19" name="Image 1" descr="preencoded.png">    </p:cNvPr>
          <p:cNvPicPr>
            <a:picLocks noChangeAspect="1"/>
          </p:cNvPicPr>
          <p:nvPr/>
        </p:nvPicPr>
        <p:blipFill>
          <a:blip r:embed="rId2"/>
          <a:stretch>
            <a:fillRect/>
          </a:stretch>
        </p:blipFill>
        <p:spPr>
          <a:xfrm>
            <a:off x="6803593" y="2234794"/>
            <a:ext cx="230429" cy="230429"/>
          </a:xfrm>
          <a:prstGeom prst="rect">
            <a:avLst/>
          </a:prstGeom>
        </p:spPr>
      </p:pic>
      <p:sp>
        <p:nvSpPr>
          <p:cNvPr id="20" name="Text 16"/>
          <p:cNvSpPr/>
          <p:nvPr/>
        </p:nvSpPr>
        <p:spPr>
          <a:xfrm>
            <a:off x="7330288" y="2057400"/>
            <a:ext cx="4129888"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Octavius</a:t>
            </a:r>
            <a:endParaRPr lang="en-US" sz="1900" dirty="0"/>
          </a:p>
        </p:txBody>
      </p:sp>
      <p:sp>
        <p:nvSpPr>
          <p:cNvPr id="21" name="Text 17"/>
          <p:cNvSpPr/>
          <p:nvPr/>
        </p:nvSpPr>
        <p:spPr>
          <a:xfrm>
            <a:off x="7330288" y="2404872"/>
            <a:ext cx="4129888" cy="274320"/>
          </a:xfrm>
          <a:prstGeom prst="rect">
            <a:avLst/>
          </a:prstGeom>
          <a:noFill/>
          <a:ln/>
        </p:spPr>
        <p:txBody>
          <a:bodyPr wrap="square" lIns="0" tIns="0" rIns="0" bIns="0" rtlCol="0" anchor="ctr"/>
          <a:lstStyle/>
          <a:p>
            <a:pPr indent="0" marL="0">
              <a:buNone/>
            </a:pPr>
            <a:r>
              <a:rPr lang="en-US" sz="1200" i="1" dirty="0">
                <a:solidFill>
                  <a:srgbClr val="C9D6EF"/>
                </a:solidFill>
                <a:latin typeface="Calibri" pitchFamily="34" charset="0"/>
                <a:ea typeface="Calibri" pitchFamily="34" charset="-122"/>
                <a:cs typeface="Calibri" pitchFamily="34" charset="-120"/>
              </a:rPr>
              <a:t>(a rule checker, not a talker)</a:t>
            </a:r>
            <a:endParaRPr lang="en-US" sz="1200" dirty="0"/>
          </a:p>
        </p:txBody>
      </p:sp>
      <p:sp>
        <p:nvSpPr>
          <p:cNvPr id="22" name="Text 18"/>
          <p:cNvSpPr/>
          <p:nvPr/>
        </p:nvSpPr>
        <p:spPr>
          <a:xfrm>
            <a:off x="6690208" y="2926080"/>
            <a:ext cx="320040" cy="365760"/>
          </a:xfrm>
          <a:prstGeom prst="rect">
            <a:avLst/>
          </a:prstGeom>
          <a:noFill/>
          <a:ln/>
        </p:spPr>
        <p:txBody>
          <a:bodyPr wrap="square" lIns="0" tIns="0" rIns="0" bIns="0" rtlCol="0" anchor="t"/>
          <a:lstStyle/>
          <a:p>
            <a:pPr indent="0" marL="0">
              <a:buNone/>
            </a:pPr>
            <a:r>
              <a:rPr lang="en-US" sz="1400" b="1" dirty="0">
                <a:solidFill>
                  <a:srgbClr val="E1604A"/>
                </a:solidFill>
                <a:latin typeface="Calibri" pitchFamily="34" charset="0"/>
                <a:ea typeface="Calibri" pitchFamily="34" charset="-122"/>
                <a:cs typeface="Calibri" pitchFamily="34" charset="-120"/>
              </a:rPr>
              <a:t>✓</a:t>
            </a:r>
            <a:endParaRPr lang="en-US" sz="1400" dirty="0"/>
          </a:p>
        </p:txBody>
      </p:sp>
      <p:sp>
        <p:nvSpPr>
          <p:cNvPr id="23" name="Text 19"/>
          <p:cNvSpPr/>
          <p:nvPr/>
        </p:nvSpPr>
        <p:spPr>
          <a:xfrm>
            <a:off x="7037680" y="2926080"/>
            <a:ext cx="4267048" cy="59436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Checks against fixed, known rules</a:t>
            </a:r>
            <a:endParaRPr lang="en-US" sz="1350" dirty="0"/>
          </a:p>
        </p:txBody>
      </p:sp>
      <p:sp>
        <p:nvSpPr>
          <p:cNvPr id="24" name="Text 20"/>
          <p:cNvSpPr/>
          <p:nvPr/>
        </p:nvSpPr>
        <p:spPr>
          <a:xfrm>
            <a:off x="6690208" y="3611880"/>
            <a:ext cx="320040" cy="365760"/>
          </a:xfrm>
          <a:prstGeom prst="rect">
            <a:avLst/>
          </a:prstGeom>
          <a:noFill/>
          <a:ln/>
        </p:spPr>
        <p:txBody>
          <a:bodyPr wrap="square" lIns="0" tIns="0" rIns="0" bIns="0" rtlCol="0" anchor="t"/>
          <a:lstStyle/>
          <a:p>
            <a:pPr indent="0" marL="0">
              <a:buNone/>
            </a:pPr>
            <a:r>
              <a:rPr lang="en-US" sz="1400" b="1" dirty="0">
                <a:solidFill>
                  <a:srgbClr val="E1604A"/>
                </a:solidFill>
                <a:latin typeface="Calibri" pitchFamily="34" charset="0"/>
                <a:ea typeface="Calibri" pitchFamily="34" charset="-122"/>
                <a:cs typeface="Calibri" pitchFamily="34" charset="-120"/>
              </a:rPr>
              <a:t>✓</a:t>
            </a:r>
            <a:endParaRPr lang="en-US" sz="1400" dirty="0"/>
          </a:p>
        </p:txBody>
      </p:sp>
      <p:sp>
        <p:nvSpPr>
          <p:cNvPr id="25" name="Text 21"/>
          <p:cNvSpPr/>
          <p:nvPr/>
        </p:nvSpPr>
        <p:spPr>
          <a:xfrm>
            <a:off x="7037680" y="3611880"/>
            <a:ext cx="4267048" cy="59436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Same result every time — no guessing</a:t>
            </a:r>
            <a:endParaRPr lang="en-US" sz="1350" dirty="0"/>
          </a:p>
        </p:txBody>
      </p:sp>
      <p:sp>
        <p:nvSpPr>
          <p:cNvPr id="26" name="Text 22"/>
          <p:cNvSpPr/>
          <p:nvPr/>
        </p:nvSpPr>
        <p:spPr>
          <a:xfrm>
            <a:off x="6690208" y="4297680"/>
            <a:ext cx="320040" cy="365760"/>
          </a:xfrm>
          <a:prstGeom prst="rect">
            <a:avLst/>
          </a:prstGeom>
          <a:noFill/>
          <a:ln/>
        </p:spPr>
        <p:txBody>
          <a:bodyPr wrap="square" lIns="0" tIns="0" rIns="0" bIns="0" rtlCol="0" anchor="t"/>
          <a:lstStyle/>
          <a:p>
            <a:pPr indent="0" marL="0">
              <a:buNone/>
            </a:pPr>
            <a:r>
              <a:rPr lang="en-US" sz="1400" b="1" dirty="0">
                <a:solidFill>
                  <a:srgbClr val="E1604A"/>
                </a:solidFill>
                <a:latin typeface="Calibri" pitchFamily="34" charset="0"/>
                <a:ea typeface="Calibri" pitchFamily="34" charset="-122"/>
                <a:cs typeface="Calibri" pitchFamily="34" charset="-120"/>
              </a:rPr>
              <a:t>✓</a:t>
            </a:r>
            <a:endParaRPr lang="en-US" sz="1400" dirty="0"/>
          </a:p>
        </p:txBody>
      </p:sp>
      <p:sp>
        <p:nvSpPr>
          <p:cNvPr id="27" name="Text 23"/>
          <p:cNvSpPr/>
          <p:nvPr/>
        </p:nvSpPr>
        <p:spPr>
          <a:xfrm>
            <a:off x="7037680" y="4297680"/>
            <a:ext cx="4267048" cy="59436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Shows the exact rule and links the source</a:t>
            </a:r>
            <a:endParaRPr lang="en-US" sz="1350" dirty="0"/>
          </a:p>
        </p:txBody>
      </p:sp>
      <p:sp>
        <p:nvSpPr>
          <p:cNvPr id="28" name="Text 24"/>
          <p:cNvSpPr/>
          <p:nvPr/>
        </p:nvSpPr>
        <p:spPr>
          <a:xfrm>
            <a:off x="6690208" y="4983480"/>
            <a:ext cx="320040" cy="365760"/>
          </a:xfrm>
          <a:prstGeom prst="rect">
            <a:avLst/>
          </a:prstGeom>
          <a:noFill/>
          <a:ln/>
        </p:spPr>
        <p:txBody>
          <a:bodyPr wrap="square" lIns="0" tIns="0" rIns="0" bIns="0" rtlCol="0" anchor="t"/>
          <a:lstStyle/>
          <a:p>
            <a:pPr indent="0" marL="0">
              <a:buNone/>
            </a:pPr>
            <a:r>
              <a:rPr lang="en-US" sz="1400" b="1" dirty="0">
                <a:solidFill>
                  <a:srgbClr val="E1604A"/>
                </a:solidFill>
                <a:latin typeface="Calibri" pitchFamily="34" charset="0"/>
                <a:ea typeface="Calibri" pitchFamily="34" charset="-122"/>
                <a:cs typeface="Calibri" pitchFamily="34" charset="-120"/>
              </a:rPr>
              <a:t>✓</a:t>
            </a:r>
            <a:endParaRPr lang="en-US" sz="1400" dirty="0"/>
          </a:p>
        </p:txBody>
      </p:sp>
      <p:sp>
        <p:nvSpPr>
          <p:cNvPr id="29" name="Text 25"/>
          <p:cNvSpPr/>
          <p:nvPr/>
        </p:nvSpPr>
        <p:spPr>
          <a:xfrm>
            <a:off x="7037680" y="4983480"/>
            <a:ext cx="4267048" cy="59436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Scans a whole document in an instant</a:t>
            </a:r>
            <a:endParaRPr lang="en-US" sz="1350" dirty="0"/>
          </a:p>
        </p:txBody>
      </p:sp>
      <p:sp>
        <p:nvSpPr>
          <p:cNvPr id="30" name="Text 26"/>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31" name="Shape 27"/>
          <p:cNvSpPr/>
          <p:nvPr/>
        </p:nvSpPr>
        <p:spPr>
          <a:xfrm>
            <a:off x="11259007" y="6492240"/>
            <a:ext cx="82296" cy="82296"/>
          </a:xfrm>
          <a:prstGeom prst="ellipse">
            <a:avLst/>
          </a:prstGeom>
          <a:solidFill>
            <a:srgbClr val="E1604A"/>
          </a:solidFill>
          <a:ln/>
        </p:spPr>
      </p:sp>
      <p:sp>
        <p:nvSpPr>
          <p:cNvPr id="32" name="Text 28"/>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HOW IT WORKS — WHEN YOU USE IT</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Four steps, in a fraction of a second</a:t>
            </a:r>
            <a:endParaRPr lang="en-US" sz="3200" dirty="0"/>
          </a:p>
        </p:txBody>
      </p:sp>
      <p:sp>
        <p:nvSpPr>
          <p:cNvPr id="4" name="Shape 2"/>
          <p:cNvSpPr/>
          <p:nvPr/>
        </p:nvSpPr>
        <p:spPr>
          <a:xfrm>
            <a:off x="548640" y="1965960"/>
            <a:ext cx="2499284" cy="2926080"/>
          </a:xfrm>
          <a:prstGeom prst="roundRect">
            <a:avLst>
              <a:gd name="adj" fmla="val 3659"/>
            </a:avLst>
          </a:prstGeom>
          <a:solidFill>
            <a:srgbClr val="EEF1F7"/>
          </a:solidFill>
          <a:ln w="12700">
            <a:solidFill>
              <a:srgbClr val="E4E9F2"/>
            </a:solidFill>
            <a:prstDash val="solid"/>
          </a:ln>
        </p:spPr>
      </p:sp>
      <p:sp>
        <p:nvSpPr>
          <p:cNvPr id="5" name="Shape 3"/>
          <p:cNvSpPr/>
          <p:nvPr/>
        </p:nvSpPr>
        <p:spPr>
          <a:xfrm>
            <a:off x="1496530" y="2286000"/>
            <a:ext cx="603504" cy="603504"/>
          </a:xfrm>
          <a:prstGeom prst="ellipse">
            <a:avLst/>
          </a:prstGeom>
          <a:solidFill>
            <a:srgbClr val="E1604A"/>
          </a:solidFill>
          <a:ln/>
        </p:spPr>
      </p:sp>
      <p:sp>
        <p:nvSpPr>
          <p:cNvPr id="6" name="Text 4"/>
          <p:cNvSpPr/>
          <p:nvPr/>
        </p:nvSpPr>
        <p:spPr>
          <a:xfrm>
            <a:off x="1496530" y="2286000"/>
            <a:ext cx="603504" cy="603504"/>
          </a:xfrm>
          <a:prstGeom prst="rect">
            <a:avLst/>
          </a:prstGeom>
          <a:noFill/>
          <a:ln/>
        </p:spPr>
        <p:txBody>
          <a:bodyPr wrap="square" rtlCol="0" anchor="ctr"/>
          <a:lstStyle/>
          <a:p>
            <a:pPr algn="ctr" indent="0" marL="0">
              <a:buNone/>
            </a:pPr>
            <a:r>
              <a:rPr lang="en-US" sz="1716" b="1" dirty="0">
                <a:solidFill>
                  <a:srgbClr val="FFFFFF"/>
                </a:solidFill>
                <a:latin typeface="Cambria" pitchFamily="34" charset="0"/>
                <a:ea typeface="Cambria" pitchFamily="34" charset="-122"/>
                <a:cs typeface="Cambria" pitchFamily="34" charset="-120"/>
              </a:rPr>
              <a:t>1</a:t>
            </a:r>
            <a:endParaRPr lang="en-US" sz="1716" dirty="0"/>
          </a:p>
        </p:txBody>
      </p:sp>
      <p:sp>
        <p:nvSpPr>
          <p:cNvPr id="7" name="Text 5"/>
          <p:cNvSpPr/>
          <p:nvPr/>
        </p:nvSpPr>
        <p:spPr>
          <a:xfrm>
            <a:off x="731520" y="3017520"/>
            <a:ext cx="2133524" cy="640080"/>
          </a:xfrm>
          <a:prstGeom prst="rect">
            <a:avLst/>
          </a:prstGeom>
          <a:noFill/>
          <a:ln/>
        </p:spPr>
        <p:txBody>
          <a:bodyPr wrap="square" lIns="0" tIns="0" rIns="0" bIns="0" rtlCol="0" anchor="t"/>
          <a:lstStyle/>
          <a:p>
            <a:pPr algn="ctr" indent="0" marL="0">
              <a:buNone/>
            </a:pPr>
            <a:r>
              <a:rPr lang="en-US" sz="1500" b="1" dirty="0">
                <a:solidFill>
                  <a:srgbClr val="1B2A4A"/>
                </a:solidFill>
                <a:latin typeface="Cambria" pitchFamily="34" charset="0"/>
                <a:ea typeface="Cambria" pitchFamily="34" charset="-122"/>
                <a:cs typeface="Cambria" pitchFamily="34" charset="-120"/>
              </a:rPr>
              <a:t>Read the document</a:t>
            </a:r>
            <a:endParaRPr lang="en-US" sz="1500" dirty="0"/>
          </a:p>
        </p:txBody>
      </p:sp>
      <p:sp>
        <p:nvSpPr>
          <p:cNvPr id="8" name="Text 6"/>
          <p:cNvSpPr/>
          <p:nvPr/>
        </p:nvSpPr>
        <p:spPr>
          <a:xfrm>
            <a:off x="768096" y="3657600"/>
            <a:ext cx="2060372" cy="1097280"/>
          </a:xfrm>
          <a:prstGeom prst="rect">
            <a:avLst/>
          </a:prstGeom>
          <a:noFill/>
          <a:ln/>
        </p:spPr>
        <p:txBody>
          <a:bodyPr wrap="square" lIns="0" tIns="0" rIns="0" bIns="0" rtlCol="0" anchor="ctr"/>
          <a:lstStyle/>
          <a:p>
            <a:pPr algn="ctr" indent="0" marL="0">
              <a:lnSpc>
                <a:spcPct val="105000"/>
              </a:lnSpc>
              <a:buNone/>
            </a:pPr>
            <a:r>
              <a:rPr lang="en-US" sz="1200" dirty="0">
                <a:solidFill>
                  <a:srgbClr val="3A4358"/>
                </a:solidFill>
                <a:latin typeface="Calibri" pitchFamily="34" charset="0"/>
                <a:ea typeface="Calibri" pitchFamily="34" charset="-122"/>
                <a:cs typeface="Calibri" pitchFamily="34" charset="-120"/>
              </a:rPr>
              <a:t>Works out the parts — headings, paragraphs, lists and quotes.</a:t>
            </a:r>
            <a:endParaRPr lang="en-US" sz="1200" dirty="0"/>
          </a:p>
        </p:txBody>
      </p:sp>
      <p:sp>
        <p:nvSpPr>
          <p:cNvPr id="9" name="Text 7"/>
          <p:cNvSpPr/>
          <p:nvPr/>
        </p:nvSpPr>
        <p:spPr>
          <a:xfrm>
            <a:off x="3047924" y="3154680"/>
            <a:ext cx="365760" cy="548640"/>
          </a:xfrm>
          <a:prstGeom prst="rect">
            <a:avLst/>
          </a:prstGeom>
          <a:noFill/>
          <a:ln/>
        </p:spPr>
        <p:txBody>
          <a:bodyPr wrap="square" lIns="0" tIns="0" rIns="0" bIns="0" rtlCol="0" anchor="ctr"/>
          <a:lstStyle/>
          <a:p>
            <a:pPr algn="ctr" indent="0" marL="0">
              <a:buNone/>
            </a:pPr>
            <a:r>
              <a:rPr lang="en-US" sz="2600" b="1" dirty="0">
                <a:solidFill>
                  <a:srgbClr val="E1604A"/>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3413684" y="1965960"/>
            <a:ext cx="2499284" cy="2926080"/>
          </a:xfrm>
          <a:prstGeom prst="roundRect">
            <a:avLst>
              <a:gd name="adj" fmla="val 3659"/>
            </a:avLst>
          </a:prstGeom>
          <a:solidFill>
            <a:srgbClr val="EEF1F7"/>
          </a:solidFill>
          <a:ln w="12700">
            <a:solidFill>
              <a:srgbClr val="E4E9F2"/>
            </a:solidFill>
            <a:prstDash val="solid"/>
          </a:ln>
        </p:spPr>
      </p:sp>
      <p:sp>
        <p:nvSpPr>
          <p:cNvPr id="11" name="Shape 9"/>
          <p:cNvSpPr/>
          <p:nvPr/>
        </p:nvSpPr>
        <p:spPr>
          <a:xfrm>
            <a:off x="4361574" y="2286000"/>
            <a:ext cx="603504" cy="603504"/>
          </a:xfrm>
          <a:prstGeom prst="ellipse">
            <a:avLst/>
          </a:prstGeom>
          <a:solidFill>
            <a:srgbClr val="E1604A"/>
          </a:solidFill>
          <a:ln/>
        </p:spPr>
      </p:sp>
      <p:sp>
        <p:nvSpPr>
          <p:cNvPr id="12" name="Text 10"/>
          <p:cNvSpPr/>
          <p:nvPr/>
        </p:nvSpPr>
        <p:spPr>
          <a:xfrm>
            <a:off x="4361574" y="2286000"/>
            <a:ext cx="603504" cy="603504"/>
          </a:xfrm>
          <a:prstGeom prst="rect">
            <a:avLst/>
          </a:prstGeom>
          <a:noFill/>
          <a:ln/>
        </p:spPr>
        <p:txBody>
          <a:bodyPr wrap="square" rtlCol="0" anchor="ctr"/>
          <a:lstStyle/>
          <a:p>
            <a:pPr algn="ctr" indent="0" marL="0">
              <a:buNone/>
            </a:pPr>
            <a:r>
              <a:rPr lang="en-US" sz="1716" b="1" dirty="0">
                <a:solidFill>
                  <a:srgbClr val="FFFFFF"/>
                </a:solidFill>
                <a:latin typeface="Cambria" pitchFamily="34" charset="0"/>
                <a:ea typeface="Cambria" pitchFamily="34" charset="-122"/>
                <a:cs typeface="Cambria" pitchFamily="34" charset="-120"/>
              </a:rPr>
              <a:t>2</a:t>
            </a:r>
            <a:endParaRPr lang="en-US" sz="1716" dirty="0"/>
          </a:p>
        </p:txBody>
      </p:sp>
      <p:sp>
        <p:nvSpPr>
          <p:cNvPr id="13" name="Text 11"/>
          <p:cNvSpPr/>
          <p:nvPr/>
        </p:nvSpPr>
        <p:spPr>
          <a:xfrm>
            <a:off x="3596564" y="3017520"/>
            <a:ext cx="2133524" cy="640080"/>
          </a:xfrm>
          <a:prstGeom prst="rect">
            <a:avLst/>
          </a:prstGeom>
          <a:noFill/>
          <a:ln/>
        </p:spPr>
        <p:txBody>
          <a:bodyPr wrap="square" lIns="0" tIns="0" rIns="0" bIns="0" rtlCol="0" anchor="t"/>
          <a:lstStyle/>
          <a:p>
            <a:pPr algn="ctr" indent="0" marL="0">
              <a:buNone/>
            </a:pPr>
            <a:r>
              <a:rPr lang="en-US" sz="1500" b="1" dirty="0">
                <a:solidFill>
                  <a:srgbClr val="1B2A4A"/>
                </a:solidFill>
                <a:latin typeface="Cambria" pitchFamily="34" charset="0"/>
                <a:ea typeface="Cambria" pitchFamily="34" charset="-122"/>
                <a:cs typeface="Cambria" pitchFamily="34" charset="-120"/>
              </a:rPr>
              <a:t>Set aside the exceptions</a:t>
            </a:r>
            <a:endParaRPr lang="en-US" sz="1500" dirty="0"/>
          </a:p>
        </p:txBody>
      </p:sp>
      <p:sp>
        <p:nvSpPr>
          <p:cNvPr id="14" name="Text 12"/>
          <p:cNvSpPr/>
          <p:nvPr/>
        </p:nvSpPr>
        <p:spPr>
          <a:xfrm>
            <a:off x="3633140" y="3657600"/>
            <a:ext cx="2060372" cy="1097280"/>
          </a:xfrm>
          <a:prstGeom prst="rect">
            <a:avLst/>
          </a:prstGeom>
          <a:noFill/>
          <a:ln/>
        </p:spPr>
        <p:txBody>
          <a:bodyPr wrap="square" lIns="0" tIns="0" rIns="0" bIns="0" rtlCol="0" anchor="ctr"/>
          <a:lstStyle/>
          <a:p>
            <a:pPr algn="ctr" indent="0" marL="0">
              <a:lnSpc>
                <a:spcPct val="105000"/>
              </a:lnSpc>
              <a:buNone/>
            </a:pPr>
            <a:r>
              <a:rPr lang="en-US" sz="1200" dirty="0">
                <a:solidFill>
                  <a:srgbClr val="3A4358"/>
                </a:solidFill>
                <a:latin typeface="Calibri" pitchFamily="34" charset="0"/>
                <a:ea typeface="Calibri" pitchFamily="34" charset="-122"/>
                <a:cs typeface="Calibri" pitchFamily="34" charset="-120"/>
              </a:rPr>
              <a:t>Ignores things that shouldn't be checked, like web links, code and direct quotes.</a:t>
            </a:r>
            <a:endParaRPr lang="en-US" sz="1200" dirty="0"/>
          </a:p>
        </p:txBody>
      </p:sp>
      <p:sp>
        <p:nvSpPr>
          <p:cNvPr id="15" name="Text 13"/>
          <p:cNvSpPr/>
          <p:nvPr/>
        </p:nvSpPr>
        <p:spPr>
          <a:xfrm>
            <a:off x="5912968" y="3154680"/>
            <a:ext cx="365760" cy="548640"/>
          </a:xfrm>
          <a:prstGeom prst="rect">
            <a:avLst/>
          </a:prstGeom>
          <a:noFill/>
          <a:ln/>
        </p:spPr>
        <p:txBody>
          <a:bodyPr wrap="square" lIns="0" tIns="0" rIns="0" bIns="0" rtlCol="0" anchor="ctr"/>
          <a:lstStyle/>
          <a:p>
            <a:pPr algn="ctr" indent="0" marL="0">
              <a:buNone/>
            </a:pPr>
            <a:r>
              <a:rPr lang="en-US" sz="2600" b="1" dirty="0">
                <a:solidFill>
                  <a:srgbClr val="E1604A"/>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6278728" y="1965960"/>
            <a:ext cx="2499284" cy="2926080"/>
          </a:xfrm>
          <a:prstGeom prst="roundRect">
            <a:avLst>
              <a:gd name="adj" fmla="val 3659"/>
            </a:avLst>
          </a:prstGeom>
          <a:solidFill>
            <a:srgbClr val="EEF1F7"/>
          </a:solidFill>
          <a:ln w="12700">
            <a:solidFill>
              <a:srgbClr val="E4E9F2"/>
            </a:solidFill>
            <a:prstDash val="solid"/>
          </a:ln>
        </p:spPr>
      </p:sp>
      <p:sp>
        <p:nvSpPr>
          <p:cNvPr id="17" name="Shape 15"/>
          <p:cNvSpPr/>
          <p:nvPr/>
        </p:nvSpPr>
        <p:spPr>
          <a:xfrm>
            <a:off x="7226617" y="2286000"/>
            <a:ext cx="603504" cy="603504"/>
          </a:xfrm>
          <a:prstGeom prst="ellipse">
            <a:avLst/>
          </a:prstGeom>
          <a:solidFill>
            <a:srgbClr val="E1604A"/>
          </a:solidFill>
          <a:ln/>
        </p:spPr>
      </p:sp>
      <p:sp>
        <p:nvSpPr>
          <p:cNvPr id="18" name="Text 16"/>
          <p:cNvSpPr/>
          <p:nvPr/>
        </p:nvSpPr>
        <p:spPr>
          <a:xfrm>
            <a:off x="7226617" y="2286000"/>
            <a:ext cx="603504" cy="603504"/>
          </a:xfrm>
          <a:prstGeom prst="rect">
            <a:avLst/>
          </a:prstGeom>
          <a:noFill/>
          <a:ln/>
        </p:spPr>
        <p:txBody>
          <a:bodyPr wrap="square" rtlCol="0" anchor="ctr"/>
          <a:lstStyle/>
          <a:p>
            <a:pPr algn="ctr" indent="0" marL="0">
              <a:buNone/>
            </a:pPr>
            <a:r>
              <a:rPr lang="en-US" sz="1716" b="1" dirty="0">
                <a:solidFill>
                  <a:srgbClr val="FFFFFF"/>
                </a:solidFill>
                <a:latin typeface="Cambria" pitchFamily="34" charset="0"/>
                <a:ea typeface="Cambria" pitchFamily="34" charset="-122"/>
                <a:cs typeface="Cambria" pitchFamily="34" charset="-120"/>
              </a:rPr>
              <a:t>3</a:t>
            </a:r>
            <a:endParaRPr lang="en-US" sz="1716" dirty="0"/>
          </a:p>
        </p:txBody>
      </p:sp>
      <p:sp>
        <p:nvSpPr>
          <p:cNvPr id="19" name="Text 17"/>
          <p:cNvSpPr/>
          <p:nvPr/>
        </p:nvSpPr>
        <p:spPr>
          <a:xfrm>
            <a:off x="6461608" y="3017520"/>
            <a:ext cx="2133524" cy="640080"/>
          </a:xfrm>
          <a:prstGeom prst="rect">
            <a:avLst/>
          </a:prstGeom>
          <a:noFill/>
          <a:ln/>
        </p:spPr>
        <p:txBody>
          <a:bodyPr wrap="square" lIns="0" tIns="0" rIns="0" bIns="0" rtlCol="0" anchor="t"/>
          <a:lstStyle/>
          <a:p>
            <a:pPr algn="ctr" indent="0" marL="0">
              <a:buNone/>
            </a:pPr>
            <a:r>
              <a:rPr lang="en-US" sz="1500" b="1" dirty="0">
                <a:solidFill>
                  <a:srgbClr val="1B2A4A"/>
                </a:solidFill>
                <a:latin typeface="Cambria" pitchFamily="34" charset="0"/>
                <a:ea typeface="Cambria" pitchFamily="34" charset="-122"/>
                <a:cs typeface="Cambria" pitchFamily="34" charset="-120"/>
              </a:rPr>
              <a:t>Run only the relevant checks</a:t>
            </a:r>
            <a:endParaRPr lang="en-US" sz="1500" dirty="0"/>
          </a:p>
        </p:txBody>
      </p:sp>
      <p:sp>
        <p:nvSpPr>
          <p:cNvPr id="20" name="Text 18"/>
          <p:cNvSpPr/>
          <p:nvPr/>
        </p:nvSpPr>
        <p:spPr>
          <a:xfrm>
            <a:off x="6498184" y="3657600"/>
            <a:ext cx="2060372" cy="1097280"/>
          </a:xfrm>
          <a:prstGeom prst="rect">
            <a:avLst/>
          </a:prstGeom>
          <a:noFill/>
          <a:ln/>
        </p:spPr>
        <p:txBody>
          <a:bodyPr wrap="square" lIns="0" tIns="0" rIns="0" bIns="0" rtlCol="0" anchor="ctr"/>
          <a:lstStyle/>
          <a:p>
            <a:pPr algn="ctr" indent="0" marL="0">
              <a:lnSpc>
                <a:spcPct val="105000"/>
              </a:lnSpc>
              <a:buNone/>
            </a:pPr>
            <a:r>
              <a:rPr lang="en-US" sz="1200" dirty="0">
                <a:solidFill>
                  <a:srgbClr val="3A4358"/>
                </a:solidFill>
                <a:latin typeface="Calibri" pitchFamily="34" charset="0"/>
                <a:ea typeface="Calibri" pitchFamily="34" charset="-122"/>
                <a:cs typeface="Calibri" pitchFamily="34" charset="-120"/>
              </a:rPr>
              <a:t>For each part, picks just the rules that could apply — so it stays fast.</a:t>
            </a:r>
            <a:endParaRPr lang="en-US" sz="1200" dirty="0"/>
          </a:p>
        </p:txBody>
      </p:sp>
      <p:sp>
        <p:nvSpPr>
          <p:cNvPr id="21" name="Text 19"/>
          <p:cNvSpPr/>
          <p:nvPr/>
        </p:nvSpPr>
        <p:spPr>
          <a:xfrm>
            <a:off x="8778011" y="3154680"/>
            <a:ext cx="365760" cy="548640"/>
          </a:xfrm>
          <a:prstGeom prst="rect">
            <a:avLst/>
          </a:prstGeom>
          <a:noFill/>
          <a:ln/>
        </p:spPr>
        <p:txBody>
          <a:bodyPr wrap="square" lIns="0" tIns="0" rIns="0" bIns="0" rtlCol="0" anchor="ctr"/>
          <a:lstStyle/>
          <a:p>
            <a:pPr algn="ctr" indent="0" marL="0">
              <a:buNone/>
            </a:pPr>
            <a:r>
              <a:rPr lang="en-US" sz="2600" b="1" dirty="0">
                <a:solidFill>
                  <a:srgbClr val="E1604A"/>
                </a:solidFill>
                <a:latin typeface="Calibri" pitchFamily="34" charset="0"/>
                <a:ea typeface="Calibri" pitchFamily="34" charset="-122"/>
                <a:cs typeface="Calibri" pitchFamily="34" charset="-120"/>
              </a:rPr>
              <a:t>→</a:t>
            </a:r>
            <a:endParaRPr lang="en-US" sz="2600" dirty="0"/>
          </a:p>
        </p:txBody>
      </p:sp>
      <p:sp>
        <p:nvSpPr>
          <p:cNvPr id="22" name="Shape 20"/>
          <p:cNvSpPr/>
          <p:nvPr/>
        </p:nvSpPr>
        <p:spPr>
          <a:xfrm>
            <a:off x="9143771" y="1965960"/>
            <a:ext cx="2499284" cy="2926080"/>
          </a:xfrm>
          <a:prstGeom prst="roundRect">
            <a:avLst>
              <a:gd name="adj" fmla="val 3659"/>
            </a:avLst>
          </a:prstGeom>
          <a:solidFill>
            <a:srgbClr val="EEF1F7"/>
          </a:solidFill>
          <a:ln w="12700">
            <a:solidFill>
              <a:srgbClr val="E4E9F2"/>
            </a:solidFill>
            <a:prstDash val="solid"/>
          </a:ln>
        </p:spPr>
      </p:sp>
      <p:sp>
        <p:nvSpPr>
          <p:cNvPr id="23" name="Shape 21"/>
          <p:cNvSpPr/>
          <p:nvPr/>
        </p:nvSpPr>
        <p:spPr>
          <a:xfrm>
            <a:off x="10091661" y="2286000"/>
            <a:ext cx="603504" cy="603504"/>
          </a:xfrm>
          <a:prstGeom prst="ellipse">
            <a:avLst/>
          </a:prstGeom>
          <a:solidFill>
            <a:srgbClr val="E1604A"/>
          </a:solidFill>
          <a:ln/>
        </p:spPr>
      </p:sp>
      <p:sp>
        <p:nvSpPr>
          <p:cNvPr id="24" name="Text 22"/>
          <p:cNvSpPr/>
          <p:nvPr/>
        </p:nvSpPr>
        <p:spPr>
          <a:xfrm>
            <a:off x="10091661" y="2286000"/>
            <a:ext cx="603504" cy="603504"/>
          </a:xfrm>
          <a:prstGeom prst="rect">
            <a:avLst/>
          </a:prstGeom>
          <a:noFill/>
          <a:ln/>
        </p:spPr>
        <p:txBody>
          <a:bodyPr wrap="square" rtlCol="0" anchor="ctr"/>
          <a:lstStyle/>
          <a:p>
            <a:pPr algn="ctr" indent="0" marL="0">
              <a:buNone/>
            </a:pPr>
            <a:r>
              <a:rPr lang="en-US" sz="1716" b="1" dirty="0">
                <a:solidFill>
                  <a:srgbClr val="FFFFFF"/>
                </a:solidFill>
                <a:latin typeface="Cambria" pitchFamily="34" charset="0"/>
                <a:ea typeface="Cambria" pitchFamily="34" charset="-122"/>
                <a:cs typeface="Cambria" pitchFamily="34" charset="-120"/>
              </a:rPr>
              <a:t>4</a:t>
            </a:r>
            <a:endParaRPr lang="en-US" sz="1716" dirty="0"/>
          </a:p>
        </p:txBody>
      </p:sp>
      <p:sp>
        <p:nvSpPr>
          <p:cNvPr id="25" name="Text 23"/>
          <p:cNvSpPr/>
          <p:nvPr/>
        </p:nvSpPr>
        <p:spPr>
          <a:xfrm>
            <a:off x="9326651" y="3017520"/>
            <a:ext cx="2133524" cy="640080"/>
          </a:xfrm>
          <a:prstGeom prst="rect">
            <a:avLst/>
          </a:prstGeom>
          <a:noFill/>
          <a:ln/>
        </p:spPr>
        <p:txBody>
          <a:bodyPr wrap="square" lIns="0" tIns="0" rIns="0" bIns="0" rtlCol="0" anchor="t"/>
          <a:lstStyle/>
          <a:p>
            <a:pPr algn="ctr" indent="0" marL="0">
              <a:buNone/>
            </a:pPr>
            <a:r>
              <a:rPr lang="en-US" sz="1500" b="1" dirty="0">
                <a:solidFill>
                  <a:srgbClr val="1B2A4A"/>
                </a:solidFill>
                <a:latin typeface="Cambria" pitchFamily="34" charset="0"/>
                <a:ea typeface="Cambria" pitchFamily="34" charset="-122"/>
                <a:cs typeface="Cambria" pitchFamily="34" charset="-120"/>
              </a:rPr>
              <a:t>Flag and suggest</a:t>
            </a:r>
            <a:endParaRPr lang="en-US" sz="1500" dirty="0"/>
          </a:p>
        </p:txBody>
      </p:sp>
      <p:sp>
        <p:nvSpPr>
          <p:cNvPr id="26" name="Text 24"/>
          <p:cNvSpPr/>
          <p:nvPr/>
        </p:nvSpPr>
        <p:spPr>
          <a:xfrm>
            <a:off x="9363227" y="3657600"/>
            <a:ext cx="2060372" cy="1097280"/>
          </a:xfrm>
          <a:prstGeom prst="rect">
            <a:avLst/>
          </a:prstGeom>
          <a:noFill/>
          <a:ln/>
        </p:spPr>
        <p:txBody>
          <a:bodyPr wrap="square" lIns="0" tIns="0" rIns="0" bIns="0" rtlCol="0" anchor="ctr"/>
          <a:lstStyle/>
          <a:p>
            <a:pPr algn="ctr" indent="0" marL="0">
              <a:lnSpc>
                <a:spcPct val="105000"/>
              </a:lnSpc>
              <a:buNone/>
            </a:pPr>
            <a:r>
              <a:rPr lang="en-US" sz="1200" dirty="0">
                <a:solidFill>
                  <a:srgbClr val="3A4358"/>
                </a:solidFill>
                <a:latin typeface="Calibri" pitchFamily="34" charset="0"/>
                <a:ea typeface="Calibri" pitchFamily="34" charset="-122"/>
                <a:cs typeface="Calibri" pitchFamily="34" charset="-120"/>
              </a:rPr>
              <a:t>Highlights each issue in place, with an explanation and a fix.</a:t>
            </a:r>
            <a:endParaRPr lang="en-US" sz="1200" dirty="0"/>
          </a:p>
        </p:txBody>
      </p:sp>
      <p:sp>
        <p:nvSpPr>
          <p:cNvPr id="27" name="Shape 25"/>
          <p:cNvSpPr/>
          <p:nvPr/>
        </p:nvSpPr>
        <p:spPr>
          <a:xfrm>
            <a:off x="548640" y="5349240"/>
            <a:ext cx="11094415" cy="566928"/>
          </a:xfrm>
          <a:prstGeom prst="roundRect">
            <a:avLst>
              <a:gd name="adj" fmla="val 12903"/>
            </a:avLst>
          </a:prstGeom>
          <a:solidFill>
            <a:srgbClr val="1B2A4A"/>
          </a:solidFill>
          <a:ln/>
        </p:spPr>
      </p:sp>
      <p:sp>
        <p:nvSpPr>
          <p:cNvPr id="28" name="Text 26"/>
          <p:cNvSpPr/>
          <p:nvPr/>
        </p:nvSpPr>
        <p:spPr>
          <a:xfrm>
            <a:off x="822960" y="5349240"/>
            <a:ext cx="10545775" cy="566928"/>
          </a:xfrm>
          <a:prstGeom prst="rect">
            <a:avLst/>
          </a:prstGeom>
          <a:noFill/>
          <a:ln/>
        </p:spPr>
        <p:txBody>
          <a:bodyPr wrap="square" lIns="0" tIns="0" rIns="0" bIns="0" rtlCol="0" anchor="ctr"/>
          <a:lstStyle/>
          <a:p>
            <a:pPr indent="0" marL="0">
              <a:buNone/>
            </a:pPr>
            <a:r>
              <a:rPr lang="en-US" sz="1250" b="1" dirty="0">
                <a:solidFill>
                  <a:srgbClr val="E1604A"/>
                </a:solidFill>
                <a:latin typeface="Calibri" pitchFamily="34" charset="0"/>
                <a:ea typeface="Calibri" pitchFamily="34" charset="-122"/>
                <a:cs typeface="Calibri" pitchFamily="34" charset="-120"/>
              </a:rPr>
              <a:t>No AI runs at this stage.  </a:t>
            </a:r>
            <a:pPr indent="0" marL="0">
              <a:buNone/>
            </a:pPr>
            <a:r>
              <a:rPr lang="en-US" sz="1250" dirty="0">
                <a:solidFill>
                  <a:srgbClr val="FFFFFF"/>
                </a:solidFill>
                <a:latin typeface="Calibri" pitchFamily="34" charset="0"/>
                <a:ea typeface="Calibri" pitchFamily="34" charset="-122"/>
                <a:cs typeface="Calibri" pitchFamily="34" charset="-120"/>
              </a:rPr>
              <a:t>Your text isn't sent to an AI model — it's matched against the built-in rulebook, instantly and predictably.</a:t>
            </a:r>
            <a:endParaRPr lang="en-US" sz="1250" dirty="0"/>
          </a:p>
        </p:txBody>
      </p:sp>
      <p:sp>
        <p:nvSpPr>
          <p:cNvPr id="29" name="Text 27"/>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30" name="Shape 28"/>
          <p:cNvSpPr/>
          <p:nvPr/>
        </p:nvSpPr>
        <p:spPr>
          <a:xfrm>
            <a:off x="11259007" y="6492240"/>
            <a:ext cx="82296" cy="82296"/>
          </a:xfrm>
          <a:prstGeom prst="ellipse">
            <a:avLst/>
          </a:prstGeom>
          <a:solidFill>
            <a:srgbClr val="E1604A"/>
          </a:solidFill>
          <a:ln/>
        </p:spPr>
      </p:sp>
      <p:sp>
        <p:nvSpPr>
          <p:cNvPr id="31" name="Text 29"/>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WHAT'S INSIDE</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A rulebook of 800+ automated checks</a:t>
            </a:r>
            <a:endParaRPr lang="en-US" sz="3200" dirty="0"/>
          </a:p>
        </p:txBody>
      </p:sp>
      <p:sp>
        <p:nvSpPr>
          <p:cNvPr id="4" name="Shape 2"/>
          <p:cNvSpPr/>
          <p:nvPr/>
        </p:nvSpPr>
        <p:spPr>
          <a:xfrm>
            <a:off x="548640" y="1828800"/>
            <a:ext cx="3566160" cy="3886200"/>
          </a:xfrm>
          <a:prstGeom prst="roundRect">
            <a:avLst>
              <a:gd name="adj" fmla="val 3077"/>
            </a:avLst>
          </a:prstGeom>
          <a:solidFill>
            <a:srgbClr val="1B2A4A"/>
          </a:solidFill>
          <a:ln/>
        </p:spPr>
      </p:sp>
      <p:sp>
        <p:nvSpPr>
          <p:cNvPr id="5" name="Text 3"/>
          <p:cNvSpPr/>
          <p:nvPr/>
        </p:nvSpPr>
        <p:spPr>
          <a:xfrm>
            <a:off x="548640" y="2286000"/>
            <a:ext cx="3566160" cy="1280160"/>
          </a:xfrm>
          <a:prstGeom prst="rect">
            <a:avLst/>
          </a:prstGeom>
          <a:noFill/>
          <a:ln/>
        </p:spPr>
        <p:txBody>
          <a:bodyPr wrap="square" lIns="0" tIns="0" rIns="0" bIns="0"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800+</a:t>
            </a:r>
            <a:endParaRPr lang="en-US" sz="7200" dirty="0"/>
          </a:p>
        </p:txBody>
      </p:sp>
      <p:sp>
        <p:nvSpPr>
          <p:cNvPr id="6" name="Text 4"/>
          <p:cNvSpPr/>
          <p:nvPr/>
        </p:nvSpPr>
        <p:spPr>
          <a:xfrm>
            <a:off x="548640" y="3520440"/>
            <a:ext cx="3566160" cy="365760"/>
          </a:xfrm>
          <a:prstGeom prst="rect">
            <a:avLst/>
          </a:prstGeom>
          <a:noFill/>
          <a:ln/>
        </p:spPr>
        <p:txBody>
          <a:bodyPr wrap="square" lIns="0" tIns="0" rIns="0" bIns="0" rtlCol="0" anchor="ctr"/>
          <a:lstStyle/>
          <a:p>
            <a:pPr algn="ctr" indent="0" marL="0">
              <a:buNone/>
            </a:pPr>
            <a:r>
              <a:rPr lang="en-US" sz="1600" b="1" dirty="0">
                <a:solidFill>
                  <a:srgbClr val="E1604A"/>
                </a:solidFill>
                <a:latin typeface="Calibri" pitchFamily="34" charset="0"/>
                <a:ea typeface="Calibri" pitchFamily="34" charset="-122"/>
                <a:cs typeface="Calibri" pitchFamily="34" charset="-120"/>
              </a:rPr>
              <a:t>automated checks</a:t>
            </a:r>
            <a:endParaRPr lang="en-US" sz="1600" dirty="0"/>
          </a:p>
        </p:txBody>
      </p:sp>
      <p:sp>
        <p:nvSpPr>
          <p:cNvPr id="7" name="Shape 5"/>
          <p:cNvSpPr/>
          <p:nvPr/>
        </p:nvSpPr>
        <p:spPr>
          <a:xfrm>
            <a:off x="1371600" y="4069080"/>
            <a:ext cx="1920240" cy="45720"/>
          </a:xfrm>
          <a:prstGeom prst="roundRect">
            <a:avLst>
              <a:gd name="adj" fmla="val 40000"/>
            </a:avLst>
          </a:prstGeom>
          <a:solidFill>
            <a:srgbClr val="31456E"/>
          </a:solidFill>
          <a:ln/>
        </p:spPr>
      </p:sp>
      <p:sp>
        <p:nvSpPr>
          <p:cNvPr id="8" name="Text 6"/>
          <p:cNvSpPr/>
          <p:nvPr/>
        </p:nvSpPr>
        <p:spPr>
          <a:xfrm>
            <a:off x="868680" y="4297680"/>
            <a:ext cx="2926080" cy="1188720"/>
          </a:xfrm>
          <a:prstGeom prst="rect">
            <a:avLst/>
          </a:prstGeom>
          <a:noFill/>
          <a:ln/>
        </p:spPr>
        <p:txBody>
          <a:bodyPr wrap="square" lIns="0" tIns="0" rIns="0" bIns="0" rtlCol="0" anchor="ctr"/>
          <a:lstStyle/>
          <a:p>
            <a:pPr algn="ctr" indent="0" marL="0">
              <a:lnSpc>
                <a:spcPct val="115000"/>
              </a:lnSpc>
              <a:buNone/>
            </a:pPr>
            <a:r>
              <a:rPr lang="en-US" sz="1300" dirty="0">
                <a:solidFill>
                  <a:srgbClr val="C9D6EF"/>
                </a:solidFill>
                <a:latin typeface="Calibri" pitchFamily="34" charset="0"/>
                <a:ea typeface="Calibri" pitchFamily="34" charset="-122"/>
                <a:cs typeface="Calibri" pitchFamily="34" charset="-120"/>
              </a:rPr>
              <a:t>Every check is traceable to the official Australian Government Style Manual.</a:t>
            </a:r>
            <a:endParaRPr lang="en-US" sz="1300" dirty="0"/>
          </a:p>
        </p:txBody>
      </p:sp>
      <p:sp>
        <p:nvSpPr>
          <p:cNvPr id="9" name="Shape 7"/>
          <p:cNvSpPr/>
          <p:nvPr/>
        </p:nvSpPr>
        <p:spPr>
          <a:xfrm>
            <a:off x="4480560" y="1828800"/>
            <a:ext cx="7162495" cy="1170432"/>
          </a:xfrm>
          <a:prstGeom prst="roundRect">
            <a:avLst>
              <a:gd name="adj" fmla="val 7813"/>
            </a:avLst>
          </a:prstGeom>
          <a:solidFill>
            <a:srgbClr val="EEF1F7"/>
          </a:solidFill>
          <a:ln w="12700">
            <a:solidFill>
              <a:srgbClr val="E4E9F2"/>
            </a:solidFill>
            <a:prstDash val="solid"/>
          </a:ln>
        </p:spPr>
      </p:sp>
      <p:sp>
        <p:nvSpPr>
          <p:cNvPr id="10" name="Shape 8"/>
          <p:cNvSpPr/>
          <p:nvPr/>
        </p:nvSpPr>
        <p:spPr>
          <a:xfrm>
            <a:off x="4754880" y="2139696"/>
            <a:ext cx="548640" cy="548640"/>
          </a:xfrm>
          <a:prstGeom prst="ellipse">
            <a:avLst/>
          </a:prstGeom>
          <a:solidFill>
            <a:srgbClr val="E1604A"/>
          </a:solidFill>
          <a:ln/>
        </p:spPr>
      </p:sp>
      <p:pic>
        <p:nvPicPr>
          <p:cNvPr id="11" name="Image 0" descr="preencoded.png">    </p:cNvPr>
          <p:cNvPicPr>
            <a:picLocks noChangeAspect="1"/>
          </p:cNvPicPr>
          <p:nvPr/>
        </p:nvPicPr>
        <p:blipFill>
          <a:blip r:embed="rId1"/>
          <a:stretch>
            <a:fillRect/>
          </a:stretch>
        </p:blipFill>
        <p:spPr>
          <a:xfrm>
            <a:off x="4913986" y="2298802"/>
            <a:ext cx="230429" cy="230429"/>
          </a:xfrm>
          <a:prstGeom prst="rect">
            <a:avLst/>
          </a:prstGeom>
        </p:spPr>
      </p:pic>
      <p:sp>
        <p:nvSpPr>
          <p:cNvPr id="12" name="Text 9"/>
          <p:cNvSpPr/>
          <p:nvPr/>
        </p:nvSpPr>
        <p:spPr>
          <a:xfrm>
            <a:off x="5486400" y="1956816"/>
            <a:ext cx="1188720" cy="914400"/>
          </a:xfrm>
          <a:prstGeom prst="rect">
            <a:avLst/>
          </a:prstGeom>
          <a:noFill/>
          <a:ln/>
        </p:spPr>
        <p:txBody>
          <a:bodyPr wrap="square" lIns="0" tIns="0" rIns="0" bIns="0" rtlCol="0" anchor="ctr"/>
          <a:lstStyle/>
          <a:p>
            <a:pPr algn="l" indent="0" marL="0">
              <a:buNone/>
            </a:pPr>
            <a:r>
              <a:rPr lang="en-US" sz="4000" b="1" dirty="0">
                <a:solidFill>
                  <a:srgbClr val="1B2A4A"/>
                </a:solidFill>
                <a:latin typeface="Cambria" pitchFamily="34" charset="0"/>
                <a:ea typeface="Cambria" pitchFamily="34" charset="-122"/>
                <a:cs typeface="Cambria" pitchFamily="34" charset="-120"/>
              </a:rPr>
              <a:t>415</a:t>
            </a:r>
            <a:endParaRPr lang="en-US" sz="4000" dirty="0"/>
          </a:p>
        </p:txBody>
      </p:sp>
      <p:sp>
        <p:nvSpPr>
          <p:cNvPr id="13" name="Text 10"/>
          <p:cNvSpPr/>
          <p:nvPr/>
        </p:nvSpPr>
        <p:spPr>
          <a:xfrm>
            <a:off x="6766560" y="2029968"/>
            <a:ext cx="4693615" cy="36576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Word &amp; phrase checks</a:t>
            </a:r>
            <a:endParaRPr lang="en-US" sz="1600" dirty="0"/>
          </a:p>
        </p:txBody>
      </p:sp>
      <p:sp>
        <p:nvSpPr>
          <p:cNvPr id="14" name="Text 11"/>
          <p:cNvSpPr/>
          <p:nvPr/>
        </p:nvSpPr>
        <p:spPr>
          <a:xfrm>
            <a:off x="6766560" y="2395728"/>
            <a:ext cx="4693615" cy="502920"/>
          </a:xfrm>
          <a:prstGeom prst="rect">
            <a:avLst/>
          </a:prstGeom>
          <a:noFill/>
          <a:ln/>
        </p:spPr>
        <p:txBody>
          <a:bodyPr wrap="square" lIns="0" tIns="0" rIns="0" bIns="0" rtlCol="0" anchor="ctr"/>
          <a:lstStyle/>
          <a:p>
            <a:pPr indent="0" marL="0">
              <a:buNone/>
            </a:pPr>
            <a:r>
              <a:rPr lang="en-US" sz="1250" dirty="0">
                <a:solidFill>
                  <a:srgbClr val="3A4358"/>
                </a:solidFill>
                <a:latin typeface="Calibri" pitchFamily="34" charset="0"/>
                <a:ea typeface="Calibri" pitchFamily="34" charset="-122"/>
                <a:cs typeface="Calibri" pitchFamily="34" charset="-120"/>
              </a:rPr>
              <a:t>Plainer words, jargon, preferred and inclusive terms.</a:t>
            </a:r>
            <a:endParaRPr lang="en-US" sz="1250" dirty="0"/>
          </a:p>
        </p:txBody>
      </p:sp>
      <p:sp>
        <p:nvSpPr>
          <p:cNvPr id="15" name="Shape 12"/>
          <p:cNvSpPr/>
          <p:nvPr/>
        </p:nvSpPr>
        <p:spPr>
          <a:xfrm>
            <a:off x="4480560" y="3182112"/>
            <a:ext cx="7162495" cy="1170432"/>
          </a:xfrm>
          <a:prstGeom prst="roundRect">
            <a:avLst>
              <a:gd name="adj" fmla="val 7813"/>
            </a:avLst>
          </a:prstGeom>
          <a:solidFill>
            <a:srgbClr val="EEF1F7"/>
          </a:solidFill>
          <a:ln w="12700">
            <a:solidFill>
              <a:srgbClr val="E4E9F2"/>
            </a:solidFill>
            <a:prstDash val="solid"/>
          </a:ln>
        </p:spPr>
      </p:sp>
      <p:sp>
        <p:nvSpPr>
          <p:cNvPr id="16" name="Shape 13"/>
          <p:cNvSpPr/>
          <p:nvPr/>
        </p:nvSpPr>
        <p:spPr>
          <a:xfrm>
            <a:off x="4754880" y="3493008"/>
            <a:ext cx="548640" cy="548640"/>
          </a:xfrm>
          <a:prstGeom prst="ellipse">
            <a:avLst/>
          </a:prstGeom>
          <a:solidFill>
            <a:srgbClr val="E1604A"/>
          </a:solidFill>
          <a:ln/>
        </p:spPr>
      </p:sp>
      <p:pic>
        <p:nvPicPr>
          <p:cNvPr id="17" name="Image 1" descr="preencoded.png">    </p:cNvPr>
          <p:cNvPicPr>
            <a:picLocks noChangeAspect="1"/>
          </p:cNvPicPr>
          <p:nvPr/>
        </p:nvPicPr>
        <p:blipFill>
          <a:blip r:embed="rId2"/>
          <a:stretch>
            <a:fillRect/>
          </a:stretch>
        </p:blipFill>
        <p:spPr>
          <a:xfrm>
            <a:off x="4913986" y="3652114"/>
            <a:ext cx="230429" cy="230429"/>
          </a:xfrm>
          <a:prstGeom prst="rect">
            <a:avLst/>
          </a:prstGeom>
        </p:spPr>
      </p:pic>
      <p:sp>
        <p:nvSpPr>
          <p:cNvPr id="18" name="Text 14"/>
          <p:cNvSpPr/>
          <p:nvPr/>
        </p:nvSpPr>
        <p:spPr>
          <a:xfrm>
            <a:off x="5486400" y="3310128"/>
            <a:ext cx="1188720" cy="914400"/>
          </a:xfrm>
          <a:prstGeom prst="rect">
            <a:avLst/>
          </a:prstGeom>
          <a:noFill/>
          <a:ln/>
        </p:spPr>
        <p:txBody>
          <a:bodyPr wrap="square" lIns="0" tIns="0" rIns="0" bIns="0" rtlCol="0" anchor="ctr"/>
          <a:lstStyle/>
          <a:p>
            <a:pPr algn="l" indent="0" marL="0">
              <a:buNone/>
            </a:pPr>
            <a:r>
              <a:rPr lang="en-US" sz="4000" b="1" dirty="0">
                <a:solidFill>
                  <a:srgbClr val="1B2A4A"/>
                </a:solidFill>
                <a:latin typeface="Cambria" pitchFamily="34" charset="0"/>
                <a:ea typeface="Cambria" pitchFamily="34" charset="-122"/>
                <a:cs typeface="Cambria" pitchFamily="34" charset="-120"/>
              </a:rPr>
              <a:t>262</a:t>
            </a:r>
            <a:endParaRPr lang="en-US" sz="4000" dirty="0"/>
          </a:p>
        </p:txBody>
      </p:sp>
      <p:sp>
        <p:nvSpPr>
          <p:cNvPr id="19" name="Text 15"/>
          <p:cNvSpPr/>
          <p:nvPr/>
        </p:nvSpPr>
        <p:spPr>
          <a:xfrm>
            <a:off x="6766560" y="3383280"/>
            <a:ext cx="4693615" cy="36576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Structure &amp; pattern checks</a:t>
            </a:r>
            <a:endParaRPr lang="en-US" sz="1600" dirty="0"/>
          </a:p>
        </p:txBody>
      </p:sp>
      <p:sp>
        <p:nvSpPr>
          <p:cNvPr id="20" name="Text 16"/>
          <p:cNvSpPr/>
          <p:nvPr/>
        </p:nvSpPr>
        <p:spPr>
          <a:xfrm>
            <a:off x="6766560" y="3749040"/>
            <a:ext cx="4693615" cy="502920"/>
          </a:xfrm>
          <a:prstGeom prst="rect">
            <a:avLst/>
          </a:prstGeom>
          <a:noFill/>
          <a:ln/>
        </p:spPr>
        <p:txBody>
          <a:bodyPr wrap="square" lIns="0" tIns="0" rIns="0" bIns="0" rtlCol="0" anchor="ctr"/>
          <a:lstStyle/>
          <a:p>
            <a:pPr indent="0" marL="0">
              <a:buNone/>
            </a:pPr>
            <a:r>
              <a:rPr lang="en-US" sz="1250" dirty="0">
                <a:solidFill>
                  <a:srgbClr val="3A4358"/>
                </a:solidFill>
                <a:latin typeface="Calibri" pitchFamily="34" charset="0"/>
                <a:ea typeface="Calibri" pitchFamily="34" charset="-122"/>
                <a:cs typeface="Calibri" pitchFamily="34" charset="-120"/>
              </a:rPr>
              <a:t>Headings, lists, dates, numbers and capitalisation.</a:t>
            </a:r>
            <a:endParaRPr lang="en-US" sz="1250" dirty="0"/>
          </a:p>
        </p:txBody>
      </p:sp>
      <p:sp>
        <p:nvSpPr>
          <p:cNvPr id="21" name="Shape 17"/>
          <p:cNvSpPr/>
          <p:nvPr/>
        </p:nvSpPr>
        <p:spPr>
          <a:xfrm>
            <a:off x="4480560" y="4535424"/>
            <a:ext cx="7162495" cy="1170432"/>
          </a:xfrm>
          <a:prstGeom prst="roundRect">
            <a:avLst>
              <a:gd name="adj" fmla="val 7813"/>
            </a:avLst>
          </a:prstGeom>
          <a:solidFill>
            <a:srgbClr val="EEF1F7"/>
          </a:solidFill>
          <a:ln w="12700">
            <a:solidFill>
              <a:srgbClr val="E4E9F2"/>
            </a:solidFill>
            <a:prstDash val="solid"/>
          </a:ln>
        </p:spPr>
      </p:sp>
      <p:sp>
        <p:nvSpPr>
          <p:cNvPr id="22" name="Shape 18"/>
          <p:cNvSpPr/>
          <p:nvPr/>
        </p:nvSpPr>
        <p:spPr>
          <a:xfrm>
            <a:off x="4754880" y="4846320"/>
            <a:ext cx="548640" cy="548640"/>
          </a:xfrm>
          <a:prstGeom prst="ellipse">
            <a:avLst/>
          </a:prstGeom>
          <a:solidFill>
            <a:srgbClr val="E1604A"/>
          </a:solidFill>
          <a:ln/>
        </p:spPr>
      </p:sp>
      <p:pic>
        <p:nvPicPr>
          <p:cNvPr id="23" name="Image 2" descr="preencoded.png">    </p:cNvPr>
          <p:cNvPicPr>
            <a:picLocks noChangeAspect="1"/>
          </p:cNvPicPr>
          <p:nvPr/>
        </p:nvPicPr>
        <p:blipFill>
          <a:blip r:embed="rId3"/>
          <a:stretch>
            <a:fillRect/>
          </a:stretch>
        </p:blipFill>
        <p:spPr>
          <a:xfrm>
            <a:off x="4913986" y="5005426"/>
            <a:ext cx="230429" cy="230429"/>
          </a:xfrm>
          <a:prstGeom prst="rect">
            <a:avLst/>
          </a:prstGeom>
        </p:spPr>
      </p:pic>
      <p:sp>
        <p:nvSpPr>
          <p:cNvPr id="24" name="Text 19"/>
          <p:cNvSpPr/>
          <p:nvPr/>
        </p:nvSpPr>
        <p:spPr>
          <a:xfrm>
            <a:off x="5486400" y="4663440"/>
            <a:ext cx="1188720" cy="914400"/>
          </a:xfrm>
          <a:prstGeom prst="rect">
            <a:avLst/>
          </a:prstGeom>
          <a:noFill/>
          <a:ln/>
        </p:spPr>
        <p:txBody>
          <a:bodyPr wrap="square" lIns="0" tIns="0" rIns="0" bIns="0" rtlCol="0" anchor="ctr"/>
          <a:lstStyle/>
          <a:p>
            <a:pPr algn="l" indent="0" marL="0">
              <a:buNone/>
            </a:pPr>
            <a:r>
              <a:rPr lang="en-US" sz="4000" b="1" dirty="0">
                <a:solidFill>
                  <a:srgbClr val="1B2A4A"/>
                </a:solidFill>
                <a:latin typeface="Cambria" pitchFamily="34" charset="0"/>
                <a:ea typeface="Cambria" pitchFamily="34" charset="-122"/>
                <a:cs typeface="Cambria" pitchFamily="34" charset="-120"/>
              </a:rPr>
              <a:t>124</a:t>
            </a:r>
            <a:endParaRPr lang="en-US" sz="4000" dirty="0"/>
          </a:p>
        </p:txBody>
      </p:sp>
      <p:sp>
        <p:nvSpPr>
          <p:cNvPr id="25" name="Text 20"/>
          <p:cNvSpPr/>
          <p:nvPr/>
        </p:nvSpPr>
        <p:spPr>
          <a:xfrm>
            <a:off x="6766560" y="4736592"/>
            <a:ext cx="4693615" cy="365760"/>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Spelling &amp; punctuation</a:t>
            </a:r>
            <a:endParaRPr lang="en-US" sz="1600" dirty="0"/>
          </a:p>
        </p:txBody>
      </p:sp>
      <p:sp>
        <p:nvSpPr>
          <p:cNvPr id="26" name="Text 21"/>
          <p:cNvSpPr/>
          <p:nvPr/>
        </p:nvSpPr>
        <p:spPr>
          <a:xfrm>
            <a:off x="6766560" y="5102352"/>
            <a:ext cx="4693615" cy="502920"/>
          </a:xfrm>
          <a:prstGeom prst="rect">
            <a:avLst/>
          </a:prstGeom>
          <a:noFill/>
          <a:ln/>
        </p:spPr>
        <p:txBody>
          <a:bodyPr wrap="square" lIns="0" tIns="0" rIns="0" bIns="0" rtlCol="0" anchor="ctr"/>
          <a:lstStyle/>
          <a:p>
            <a:pPr indent="0" marL="0">
              <a:buNone/>
            </a:pPr>
            <a:r>
              <a:rPr lang="en-US" sz="1250" dirty="0">
                <a:solidFill>
                  <a:srgbClr val="3A4358"/>
                </a:solidFill>
                <a:latin typeface="Calibri" pitchFamily="34" charset="0"/>
                <a:ea typeface="Calibri" pitchFamily="34" charset="-122"/>
                <a:cs typeface="Calibri" pitchFamily="34" charset="-120"/>
              </a:rPr>
              <a:t>Australian spelling, spacing, dashes and quotes.</a:t>
            </a:r>
            <a:endParaRPr lang="en-US" sz="1250" dirty="0"/>
          </a:p>
        </p:txBody>
      </p:sp>
      <p:sp>
        <p:nvSpPr>
          <p:cNvPr id="27" name="Text 22"/>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28" name="Shape 23"/>
          <p:cNvSpPr/>
          <p:nvPr/>
        </p:nvSpPr>
        <p:spPr>
          <a:xfrm>
            <a:off x="11259007" y="6492240"/>
            <a:ext cx="82296" cy="82296"/>
          </a:xfrm>
          <a:prstGeom prst="ellipse">
            <a:avLst/>
          </a:prstGeom>
          <a:solidFill>
            <a:srgbClr val="E1604A"/>
          </a:solidFill>
          <a:ln/>
        </p:spPr>
      </p:sp>
      <p:sp>
        <p:nvSpPr>
          <p:cNvPr id="29" name="Text 24"/>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WHERE GENAI ACTUALLY DID THE WORK  ·  1 OF 3</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An assembly line that built the rulebook</a:t>
            </a:r>
            <a:endParaRPr lang="en-US" sz="3200" dirty="0"/>
          </a:p>
        </p:txBody>
      </p:sp>
      <p:sp>
        <p:nvSpPr>
          <p:cNvPr id="4" name="Shape 2"/>
          <p:cNvSpPr/>
          <p:nvPr/>
        </p:nvSpPr>
        <p:spPr>
          <a:xfrm>
            <a:off x="7635240" y="749808"/>
            <a:ext cx="182880" cy="182880"/>
          </a:xfrm>
          <a:prstGeom prst="ellipse">
            <a:avLst/>
          </a:prstGeom>
          <a:solidFill>
            <a:srgbClr val="E1604A"/>
          </a:solidFill>
          <a:ln/>
        </p:spPr>
      </p:sp>
      <p:sp>
        <p:nvSpPr>
          <p:cNvPr id="5" name="Text 3"/>
          <p:cNvSpPr/>
          <p:nvPr/>
        </p:nvSpPr>
        <p:spPr>
          <a:xfrm>
            <a:off x="7863840" y="658368"/>
            <a:ext cx="1463040" cy="32004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GenAI step</a:t>
            </a:r>
            <a:endParaRPr lang="en-US" sz="1200" dirty="0"/>
          </a:p>
        </p:txBody>
      </p:sp>
      <p:sp>
        <p:nvSpPr>
          <p:cNvPr id="6" name="Shape 4"/>
          <p:cNvSpPr/>
          <p:nvPr/>
        </p:nvSpPr>
        <p:spPr>
          <a:xfrm>
            <a:off x="9326880" y="749808"/>
            <a:ext cx="182880" cy="182880"/>
          </a:xfrm>
          <a:prstGeom prst="ellipse">
            <a:avLst/>
          </a:prstGeom>
          <a:solidFill>
            <a:srgbClr val="5C6B8C"/>
          </a:solidFill>
          <a:ln/>
        </p:spPr>
      </p:sp>
      <p:sp>
        <p:nvSpPr>
          <p:cNvPr id="7" name="Text 5"/>
          <p:cNvSpPr/>
          <p:nvPr/>
        </p:nvSpPr>
        <p:spPr>
          <a:xfrm>
            <a:off x="9555480" y="658368"/>
            <a:ext cx="2194560" cy="32004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Automated / publish</a:t>
            </a:r>
            <a:endParaRPr lang="en-US" sz="1200" dirty="0"/>
          </a:p>
        </p:txBody>
      </p:sp>
      <p:sp>
        <p:nvSpPr>
          <p:cNvPr id="8" name="Shape 6"/>
          <p:cNvSpPr/>
          <p:nvPr/>
        </p:nvSpPr>
        <p:spPr>
          <a:xfrm>
            <a:off x="548640" y="1737360"/>
            <a:ext cx="3423818" cy="1691640"/>
          </a:xfrm>
          <a:prstGeom prst="roundRect">
            <a:avLst>
              <a:gd name="adj" fmla="val 5405"/>
            </a:avLst>
          </a:prstGeom>
          <a:solidFill>
            <a:srgbClr val="F7F8FB"/>
          </a:solidFill>
          <a:ln w="12700">
            <a:solidFill>
              <a:srgbClr val="E4E9F2"/>
            </a:solidFill>
            <a:prstDash val="solid"/>
          </a:ln>
        </p:spPr>
      </p:sp>
      <p:sp>
        <p:nvSpPr>
          <p:cNvPr id="9" name="Shape 7"/>
          <p:cNvSpPr/>
          <p:nvPr/>
        </p:nvSpPr>
        <p:spPr>
          <a:xfrm>
            <a:off x="804672" y="1993392"/>
            <a:ext cx="566928" cy="566928"/>
          </a:xfrm>
          <a:prstGeom prst="ellipse">
            <a:avLst/>
          </a:prstGeom>
          <a:solidFill>
            <a:srgbClr val="E1604A"/>
          </a:solidFill>
          <a:ln/>
        </p:spPr>
      </p:sp>
      <p:pic>
        <p:nvPicPr>
          <p:cNvPr id="10" name="Image 0" descr="preencoded.png">    </p:cNvPr>
          <p:cNvPicPr>
            <a:picLocks noChangeAspect="1"/>
          </p:cNvPicPr>
          <p:nvPr/>
        </p:nvPicPr>
        <p:blipFill>
          <a:blip r:embed="rId1"/>
          <a:stretch>
            <a:fillRect/>
          </a:stretch>
        </p:blipFill>
        <p:spPr>
          <a:xfrm>
            <a:off x="969081" y="2157801"/>
            <a:ext cx="238110" cy="238110"/>
          </a:xfrm>
          <a:prstGeom prst="rect">
            <a:avLst/>
          </a:prstGeom>
        </p:spPr>
      </p:pic>
      <p:sp>
        <p:nvSpPr>
          <p:cNvPr id="11" name="Text 8"/>
          <p:cNvSpPr/>
          <p:nvPr/>
        </p:nvSpPr>
        <p:spPr>
          <a:xfrm>
            <a:off x="3405530" y="1920240"/>
            <a:ext cx="384048" cy="384048"/>
          </a:xfrm>
          <a:prstGeom prst="rect">
            <a:avLst/>
          </a:prstGeom>
          <a:noFill/>
          <a:ln/>
        </p:spPr>
        <p:txBody>
          <a:bodyPr wrap="square" lIns="0" tIns="0" rIns="0" bIns="0" rtlCol="0" anchor="ctr"/>
          <a:lstStyle/>
          <a:p>
            <a:pPr algn="r" indent="0" marL="0">
              <a:buNone/>
            </a:pPr>
            <a:r>
              <a:rPr lang="en-US" sz="2000" b="1" dirty="0">
                <a:solidFill>
                  <a:srgbClr val="E4E9F2"/>
                </a:solidFill>
                <a:latin typeface="Cambria" pitchFamily="34" charset="0"/>
                <a:ea typeface="Cambria" pitchFamily="34" charset="-122"/>
                <a:cs typeface="Cambria" pitchFamily="34" charset="-120"/>
              </a:rPr>
              <a:t>1</a:t>
            </a:r>
            <a:endParaRPr lang="en-US" sz="2000" dirty="0"/>
          </a:p>
        </p:txBody>
      </p:sp>
      <p:sp>
        <p:nvSpPr>
          <p:cNvPr id="12" name="Text 9"/>
          <p:cNvSpPr/>
          <p:nvPr/>
        </p:nvSpPr>
        <p:spPr>
          <a:xfrm>
            <a:off x="804672" y="2606040"/>
            <a:ext cx="2966618" cy="32004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Read the manual</a:t>
            </a:r>
            <a:endParaRPr lang="en-US" sz="1500" dirty="0"/>
          </a:p>
        </p:txBody>
      </p:sp>
      <p:sp>
        <p:nvSpPr>
          <p:cNvPr id="13" name="Text 10"/>
          <p:cNvSpPr/>
          <p:nvPr/>
        </p:nvSpPr>
        <p:spPr>
          <a:xfrm>
            <a:off x="804672" y="2926080"/>
            <a:ext cx="2966618" cy="457200"/>
          </a:xfrm>
          <a:prstGeom prst="rect">
            <a:avLst/>
          </a:prstGeom>
          <a:noFill/>
          <a:ln/>
        </p:spPr>
        <p:txBody>
          <a:bodyPr wrap="square" lIns="0" tIns="0" rIns="0" bIns="0" rtlCol="0" anchor="ctr"/>
          <a:lstStyle/>
          <a:p>
            <a:pPr indent="0" marL="0">
              <a:lnSpc>
                <a:spcPct val="100000"/>
              </a:lnSpc>
              <a:buNone/>
            </a:pPr>
            <a:r>
              <a:rPr lang="en-US" sz="1150" dirty="0">
                <a:solidFill>
                  <a:srgbClr val="3A4358"/>
                </a:solidFill>
                <a:latin typeface="Calibri" pitchFamily="34" charset="0"/>
                <a:ea typeface="Calibri" pitchFamily="34" charset="-122"/>
                <a:cs typeface="Calibri" pitchFamily="34" charset="-120"/>
              </a:rPr>
              <a:t>GenAI reads every page of the Style Manual.</a:t>
            </a:r>
            <a:endParaRPr lang="en-US" sz="1150" dirty="0"/>
          </a:p>
        </p:txBody>
      </p:sp>
      <p:sp>
        <p:nvSpPr>
          <p:cNvPr id="14" name="Text 11"/>
          <p:cNvSpPr/>
          <p:nvPr/>
        </p:nvSpPr>
        <p:spPr>
          <a:xfrm>
            <a:off x="3995318" y="2327148"/>
            <a:ext cx="365760" cy="502920"/>
          </a:xfrm>
          <a:prstGeom prst="rect">
            <a:avLst/>
          </a:prstGeom>
          <a:noFill/>
          <a:ln/>
        </p:spPr>
        <p:txBody>
          <a:bodyPr wrap="square" lIns="0" tIns="0" rIns="0" bIns="0" rtlCol="0" anchor="ctr"/>
          <a:lstStyle/>
          <a:p>
            <a:pPr algn="ctr" indent="0" marL="0">
              <a:buNone/>
            </a:pPr>
            <a:r>
              <a:rPr lang="en-US" sz="2200" b="1" dirty="0">
                <a:solidFill>
                  <a:srgbClr val="5C6B8C"/>
                </a:solidFill>
                <a:latin typeface="Calibri" pitchFamily="34" charset="0"/>
                <a:ea typeface="Calibri" pitchFamily="34" charset="-122"/>
                <a:cs typeface="Calibri" pitchFamily="34" charset="-120"/>
              </a:rPr>
              <a:t>→</a:t>
            </a:r>
            <a:endParaRPr lang="en-US" sz="2200" dirty="0"/>
          </a:p>
        </p:txBody>
      </p:sp>
      <p:sp>
        <p:nvSpPr>
          <p:cNvPr id="15" name="Shape 12"/>
          <p:cNvSpPr/>
          <p:nvPr/>
        </p:nvSpPr>
        <p:spPr>
          <a:xfrm>
            <a:off x="4383938" y="1737360"/>
            <a:ext cx="3423818" cy="1691640"/>
          </a:xfrm>
          <a:prstGeom prst="roundRect">
            <a:avLst>
              <a:gd name="adj" fmla="val 5405"/>
            </a:avLst>
          </a:prstGeom>
          <a:solidFill>
            <a:srgbClr val="F7F8FB"/>
          </a:solidFill>
          <a:ln w="12700">
            <a:solidFill>
              <a:srgbClr val="E4E9F2"/>
            </a:solidFill>
            <a:prstDash val="solid"/>
          </a:ln>
        </p:spPr>
      </p:sp>
      <p:sp>
        <p:nvSpPr>
          <p:cNvPr id="16" name="Shape 13"/>
          <p:cNvSpPr/>
          <p:nvPr/>
        </p:nvSpPr>
        <p:spPr>
          <a:xfrm>
            <a:off x="4639970" y="1993392"/>
            <a:ext cx="566928" cy="566928"/>
          </a:xfrm>
          <a:prstGeom prst="ellipse">
            <a:avLst/>
          </a:prstGeom>
          <a:solidFill>
            <a:srgbClr val="E1604A"/>
          </a:solidFill>
          <a:ln/>
        </p:spPr>
      </p:sp>
      <p:pic>
        <p:nvPicPr>
          <p:cNvPr id="17" name="Image 1" descr="preencoded.png">    </p:cNvPr>
          <p:cNvPicPr>
            <a:picLocks noChangeAspect="1"/>
          </p:cNvPicPr>
          <p:nvPr/>
        </p:nvPicPr>
        <p:blipFill>
          <a:blip r:embed="rId2"/>
          <a:stretch>
            <a:fillRect/>
          </a:stretch>
        </p:blipFill>
        <p:spPr>
          <a:xfrm>
            <a:off x="4804380" y="2157801"/>
            <a:ext cx="238110" cy="238110"/>
          </a:xfrm>
          <a:prstGeom prst="rect">
            <a:avLst/>
          </a:prstGeom>
        </p:spPr>
      </p:pic>
      <p:sp>
        <p:nvSpPr>
          <p:cNvPr id="18" name="Text 14"/>
          <p:cNvSpPr/>
          <p:nvPr/>
        </p:nvSpPr>
        <p:spPr>
          <a:xfrm>
            <a:off x="7240829" y="1920240"/>
            <a:ext cx="384048" cy="384048"/>
          </a:xfrm>
          <a:prstGeom prst="rect">
            <a:avLst/>
          </a:prstGeom>
          <a:noFill/>
          <a:ln/>
        </p:spPr>
        <p:txBody>
          <a:bodyPr wrap="square" lIns="0" tIns="0" rIns="0" bIns="0" rtlCol="0" anchor="ctr"/>
          <a:lstStyle/>
          <a:p>
            <a:pPr algn="r" indent="0" marL="0">
              <a:buNone/>
            </a:pPr>
            <a:r>
              <a:rPr lang="en-US" sz="2000" b="1" dirty="0">
                <a:solidFill>
                  <a:srgbClr val="E4E9F2"/>
                </a:solidFill>
                <a:latin typeface="Cambria" pitchFamily="34" charset="0"/>
                <a:ea typeface="Cambria" pitchFamily="34" charset="-122"/>
                <a:cs typeface="Cambria" pitchFamily="34" charset="-120"/>
              </a:rPr>
              <a:t>2</a:t>
            </a:r>
            <a:endParaRPr lang="en-US" sz="2000" dirty="0"/>
          </a:p>
        </p:txBody>
      </p:sp>
      <p:sp>
        <p:nvSpPr>
          <p:cNvPr id="19" name="Text 15"/>
          <p:cNvSpPr/>
          <p:nvPr/>
        </p:nvSpPr>
        <p:spPr>
          <a:xfrm>
            <a:off x="4639970" y="2606040"/>
            <a:ext cx="2966618" cy="32004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Draft the rules</a:t>
            </a:r>
            <a:endParaRPr lang="en-US" sz="1500" dirty="0"/>
          </a:p>
        </p:txBody>
      </p:sp>
      <p:sp>
        <p:nvSpPr>
          <p:cNvPr id="20" name="Text 16"/>
          <p:cNvSpPr/>
          <p:nvPr/>
        </p:nvSpPr>
        <p:spPr>
          <a:xfrm>
            <a:off x="4639970" y="2926080"/>
            <a:ext cx="2966618" cy="457200"/>
          </a:xfrm>
          <a:prstGeom prst="rect">
            <a:avLst/>
          </a:prstGeom>
          <a:noFill/>
          <a:ln/>
        </p:spPr>
        <p:txBody>
          <a:bodyPr wrap="square" lIns="0" tIns="0" rIns="0" bIns="0" rtlCol="0" anchor="ctr"/>
          <a:lstStyle/>
          <a:p>
            <a:pPr indent="0" marL="0">
              <a:lnSpc>
                <a:spcPct val="100000"/>
              </a:lnSpc>
              <a:buNone/>
            </a:pPr>
            <a:r>
              <a:rPr lang="en-US" sz="1150" dirty="0">
                <a:solidFill>
                  <a:srgbClr val="3A4358"/>
                </a:solidFill>
                <a:latin typeface="Calibri" pitchFamily="34" charset="0"/>
                <a:ea typeface="Calibri" pitchFamily="34" charset="-122"/>
                <a:cs typeface="Calibri" pitchFamily="34" charset="-120"/>
              </a:rPr>
              <a:t>It turns the guidance into clear, specific rules.</a:t>
            </a:r>
            <a:endParaRPr lang="en-US" sz="1150" dirty="0"/>
          </a:p>
        </p:txBody>
      </p:sp>
      <p:sp>
        <p:nvSpPr>
          <p:cNvPr id="21" name="Text 17"/>
          <p:cNvSpPr/>
          <p:nvPr/>
        </p:nvSpPr>
        <p:spPr>
          <a:xfrm>
            <a:off x="7830617" y="2327148"/>
            <a:ext cx="365760" cy="502920"/>
          </a:xfrm>
          <a:prstGeom prst="rect">
            <a:avLst/>
          </a:prstGeom>
          <a:noFill/>
          <a:ln/>
        </p:spPr>
        <p:txBody>
          <a:bodyPr wrap="square" lIns="0" tIns="0" rIns="0" bIns="0" rtlCol="0" anchor="ctr"/>
          <a:lstStyle/>
          <a:p>
            <a:pPr algn="ctr" indent="0" marL="0">
              <a:buNone/>
            </a:pPr>
            <a:r>
              <a:rPr lang="en-US" sz="2200" b="1" dirty="0">
                <a:solidFill>
                  <a:srgbClr val="5C6B8C"/>
                </a:solidFill>
                <a:latin typeface="Calibri" pitchFamily="34" charset="0"/>
                <a:ea typeface="Calibri" pitchFamily="34" charset="-122"/>
                <a:cs typeface="Calibri" pitchFamily="34" charset="-120"/>
              </a:rPr>
              <a:t>→</a:t>
            </a:r>
            <a:endParaRPr lang="en-US" sz="2200" dirty="0"/>
          </a:p>
        </p:txBody>
      </p:sp>
      <p:sp>
        <p:nvSpPr>
          <p:cNvPr id="22" name="Shape 18"/>
          <p:cNvSpPr/>
          <p:nvPr/>
        </p:nvSpPr>
        <p:spPr>
          <a:xfrm>
            <a:off x="8219237" y="1737360"/>
            <a:ext cx="3423818" cy="1691640"/>
          </a:xfrm>
          <a:prstGeom prst="roundRect">
            <a:avLst>
              <a:gd name="adj" fmla="val 5405"/>
            </a:avLst>
          </a:prstGeom>
          <a:solidFill>
            <a:srgbClr val="F7F8FB"/>
          </a:solidFill>
          <a:ln w="12700">
            <a:solidFill>
              <a:srgbClr val="E4E9F2"/>
            </a:solidFill>
            <a:prstDash val="solid"/>
          </a:ln>
        </p:spPr>
      </p:sp>
      <p:sp>
        <p:nvSpPr>
          <p:cNvPr id="23" name="Shape 19"/>
          <p:cNvSpPr/>
          <p:nvPr/>
        </p:nvSpPr>
        <p:spPr>
          <a:xfrm>
            <a:off x="8475269" y="1993392"/>
            <a:ext cx="566928" cy="566928"/>
          </a:xfrm>
          <a:prstGeom prst="ellipse">
            <a:avLst/>
          </a:prstGeom>
          <a:solidFill>
            <a:srgbClr val="E1604A"/>
          </a:solidFill>
          <a:ln/>
        </p:spPr>
      </p:sp>
      <p:pic>
        <p:nvPicPr>
          <p:cNvPr id="24" name="Image 2" descr="preencoded.png">    </p:cNvPr>
          <p:cNvPicPr>
            <a:picLocks noChangeAspect="1"/>
          </p:cNvPicPr>
          <p:nvPr/>
        </p:nvPicPr>
        <p:blipFill>
          <a:blip r:embed="rId3"/>
          <a:stretch>
            <a:fillRect/>
          </a:stretch>
        </p:blipFill>
        <p:spPr>
          <a:xfrm>
            <a:off x="8639678" y="2157801"/>
            <a:ext cx="238110" cy="238110"/>
          </a:xfrm>
          <a:prstGeom prst="rect">
            <a:avLst/>
          </a:prstGeom>
        </p:spPr>
      </p:pic>
      <p:sp>
        <p:nvSpPr>
          <p:cNvPr id="25" name="Text 20"/>
          <p:cNvSpPr/>
          <p:nvPr/>
        </p:nvSpPr>
        <p:spPr>
          <a:xfrm>
            <a:off x="11076127" y="1920240"/>
            <a:ext cx="384048" cy="384048"/>
          </a:xfrm>
          <a:prstGeom prst="rect">
            <a:avLst/>
          </a:prstGeom>
          <a:noFill/>
          <a:ln/>
        </p:spPr>
        <p:txBody>
          <a:bodyPr wrap="square" lIns="0" tIns="0" rIns="0" bIns="0" rtlCol="0" anchor="ctr"/>
          <a:lstStyle/>
          <a:p>
            <a:pPr algn="r" indent="0" marL="0">
              <a:buNone/>
            </a:pPr>
            <a:r>
              <a:rPr lang="en-US" sz="2000" b="1" dirty="0">
                <a:solidFill>
                  <a:srgbClr val="E4E9F2"/>
                </a:solidFill>
                <a:latin typeface="Cambria" pitchFamily="34" charset="0"/>
                <a:ea typeface="Cambria" pitchFamily="34" charset="-122"/>
                <a:cs typeface="Cambria" pitchFamily="34" charset="-120"/>
              </a:rPr>
              <a:t>3</a:t>
            </a:r>
            <a:endParaRPr lang="en-US" sz="2000" dirty="0"/>
          </a:p>
        </p:txBody>
      </p:sp>
      <p:sp>
        <p:nvSpPr>
          <p:cNvPr id="26" name="Text 21"/>
          <p:cNvSpPr/>
          <p:nvPr/>
        </p:nvSpPr>
        <p:spPr>
          <a:xfrm>
            <a:off x="8475269" y="2606040"/>
            <a:ext cx="2966618" cy="32004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Write the checks</a:t>
            </a:r>
            <a:endParaRPr lang="en-US" sz="1500" dirty="0"/>
          </a:p>
        </p:txBody>
      </p:sp>
      <p:sp>
        <p:nvSpPr>
          <p:cNvPr id="27" name="Text 22"/>
          <p:cNvSpPr/>
          <p:nvPr/>
        </p:nvSpPr>
        <p:spPr>
          <a:xfrm>
            <a:off x="8475269" y="2926080"/>
            <a:ext cx="2966618" cy="457200"/>
          </a:xfrm>
          <a:prstGeom prst="rect">
            <a:avLst/>
          </a:prstGeom>
          <a:noFill/>
          <a:ln/>
        </p:spPr>
        <p:txBody>
          <a:bodyPr wrap="square" lIns="0" tIns="0" rIns="0" bIns="0" rtlCol="0" anchor="ctr"/>
          <a:lstStyle/>
          <a:p>
            <a:pPr indent="0" marL="0">
              <a:lnSpc>
                <a:spcPct val="100000"/>
              </a:lnSpc>
              <a:buNone/>
            </a:pPr>
            <a:r>
              <a:rPr lang="en-US" sz="1150" dirty="0">
                <a:solidFill>
                  <a:srgbClr val="3A4358"/>
                </a:solidFill>
                <a:latin typeface="Calibri" pitchFamily="34" charset="0"/>
                <a:ea typeface="Calibri" pitchFamily="34" charset="-122"/>
                <a:cs typeface="Calibri" pitchFamily="34" charset="-120"/>
              </a:rPr>
              <a:t>Each rule becomes a small automated check.</a:t>
            </a:r>
            <a:endParaRPr lang="en-US" sz="1150" dirty="0"/>
          </a:p>
        </p:txBody>
      </p:sp>
      <p:sp>
        <p:nvSpPr>
          <p:cNvPr id="28" name="Shape 23"/>
          <p:cNvSpPr/>
          <p:nvPr/>
        </p:nvSpPr>
        <p:spPr>
          <a:xfrm>
            <a:off x="548640" y="3931920"/>
            <a:ext cx="3423818" cy="1691640"/>
          </a:xfrm>
          <a:prstGeom prst="roundRect">
            <a:avLst>
              <a:gd name="adj" fmla="val 5405"/>
            </a:avLst>
          </a:prstGeom>
          <a:solidFill>
            <a:srgbClr val="EEF1F7"/>
          </a:solidFill>
          <a:ln w="12700">
            <a:solidFill>
              <a:srgbClr val="E4E9F2"/>
            </a:solidFill>
            <a:prstDash val="solid"/>
          </a:ln>
        </p:spPr>
      </p:sp>
      <p:sp>
        <p:nvSpPr>
          <p:cNvPr id="29" name="Shape 24"/>
          <p:cNvSpPr/>
          <p:nvPr/>
        </p:nvSpPr>
        <p:spPr>
          <a:xfrm>
            <a:off x="804672" y="4187952"/>
            <a:ext cx="566928" cy="566928"/>
          </a:xfrm>
          <a:prstGeom prst="ellipse">
            <a:avLst/>
          </a:prstGeom>
          <a:solidFill>
            <a:srgbClr val="5C6B8C"/>
          </a:solidFill>
          <a:ln/>
        </p:spPr>
      </p:sp>
      <p:pic>
        <p:nvPicPr>
          <p:cNvPr id="30" name="Image 3" descr="preencoded.png">    </p:cNvPr>
          <p:cNvPicPr>
            <a:picLocks noChangeAspect="1"/>
          </p:cNvPicPr>
          <p:nvPr/>
        </p:nvPicPr>
        <p:blipFill>
          <a:blip r:embed="rId4"/>
          <a:stretch>
            <a:fillRect/>
          </a:stretch>
        </p:blipFill>
        <p:spPr>
          <a:xfrm>
            <a:off x="969081" y="4352361"/>
            <a:ext cx="238110" cy="238110"/>
          </a:xfrm>
          <a:prstGeom prst="rect">
            <a:avLst/>
          </a:prstGeom>
        </p:spPr>
      </p:pic>
      <p:sp>
        <p:nvSpPr>
          <p:cNvPr id="31" name="Text 25"/>
          <p:cNvSpPr/>
          <p:nvPr/>
        </p:nvSpPr>
        <p:spPr>
          <a:xfrm>
            <a:off x="3405530" y="4114800"/>
            <a:ext cx="384048" cy="384048"/>
          </a:xfrm>
          <a:prstGeom prst="rect">
            <a:avLst/>
          </a:prstGeom>
          <a:noFill/>
          <a:ln/>
        </p:spPr>
        <p:txBody>
          <a:bodyPr wrap="square" lIns="0" tIns="0" rIns="0" bIns="0" rtlCol="0" anchor="ctr"/>
          <a:lstStyle/>
          <a:p>
            <a:pPr algn="r" indent="0" marL="0">
              <a:buNone/>
            </a:pPr>
            <a:r>
              <a:rPr lang="en-US" sz="2000" b="1" dirty="0">
                <a:solidFill>
                  <a:srgbClr val="E4E9F2"/>
                </a:solidFill>
                <a:latin typeface="Cambria" pitchFamily="34" charset="0"/>
                <a:ea typeface="Cambria" pitchFamily="34" charset="-122"/>
                <a:cs typeface="Cambria" pitchFamily="34" charset="-120"/>
              </a:rPr>
              <a:t>4</a:t>
            </a:r>
            <a:endParaRPr lang="en-US" sz="2000" dirty="0"/>
          </a:p>
        </p:txBody>
      </p:sp>
      <p:sp>
        <p:nvSpPr>
          <p:cNvPr id="32" name="Text 26"/>
          <p:cNvSpPr/>
          <p:nvPr/>
        </p:nvSpPr>
        <p:spPr>
          <a:xfrm>
            <a:off x="804672" y="4800600"/>
            <a:ext cx="2966618" cy="32004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Test every check</a:t>
            </a:r>
            <a:endParaRPr lang="en-US" sz="1500" dirty="0"/>
          </a:p>
        </p:txBody>
      </p:sp>
      <p:sp>
        <p:nvSpPr>
          <p:cNvPr id="33" name="Text 27"/>
          <p:cNvSpPr/>
          <p:nvPr/>
        </p:nvSpPr>
        <p:spPr>
          <a:xfrm>
            <a:off x="804672" y="5120640"/>
            <a:ext cx="2966618" cy="457200"/>
          </a:xfrm>
          <a:prstGeom prst="rect">
            <a:avLst/>
          </a:prstGeom>
          <a:noFill/>
          <a:ln/>
        </p:spPr>
        <p:txBody>
          <a:bodyPr wrap="square" lIns="0" tIns="0" rIns="0" bIns="0" rtlCol="0" anchor="ctr"/>
          <a:lstStyle/>
          <a:p>
            <a:pPr indent="0" marL="0">
              <a:lnSpc>
                <a:spcPct val="100000"/>
              </a:lnSpc>
              <a:buNone/>
            </a:pPr>
            <a:r>
              <a:rPr lang="en-US" sz="1150" dirty="0">
                <a:solidFill>
                  <a:srgbClr val="3A4358"/>
                </a:solidFill>
                <a:latin typeface="Calibri" pitchFamily="34" charset="0"/>
                <a:ea typeface="Calibri" pitchFamily="34" charset="-122"/>
                <a:cs typeface="Calibri" pitchFamily="34" charset="-120"/>
              </a:rPr>
              <a:t>Each is tried on examples that should and shouldn't flag.</a:t>
            </a:r>
            <a:endParaRPr lang="en-US" sz="1150" dirty="0"/>
          </a:p>
        </p:txBody>
      </p:sp>
      <p:sp>
        <p:nvSpPr>
          <p:cNvPr id="34" name="Text 28"/>
          <p:cNvSpPr/>
          <p:nvPr/>
        </p:nvSpPr>
        <p:spPr>
          <a:xfrm>
            <a:off x="3995318" y="4521708"/>
            <a:ext cx="365760" cy="502920"/>
          </a:xfrm>
          <a:prstGeom prst="rect">
            <a:avLst/>
          </a:prstGeom>
          <a:noFill/>
          <a:ln/>
        </p:spPr>
        <p:txBody>
          <a:bodyPr wrap="square" lIns="0" tIns="0" rIns="0" bIns="0" rtlCol="0" anchor="ctr"/>
          <a:lstStyle/>
          <a:p>
            <a:pPr algn="ctr" indent="0" marL="0">
              <a:buNone/>
            </a:pPr>
            <a:r>
              <a:rPr lang="en-US" sz="2200" b="1" dirty="0">
                <a:solidFill>
                  <a:srgbClr val="5C6B8C"/>
                </a:solidFill>
                <a:latin typeface="Calibri" pitchFamily="34" charset="0"/>
                <a:ea typeface="Calibri" pitchFamily="34" charset="-122"/>
                <a:cs typeface="Calibri" pitchFamily="34" charset="-120"/>
              </a:rPr>
              <a:t>→</a:t>
            </a:r>
            <a:endParaRPr lang="en-US" sz="2200" dirty="0"/>
          </a:p>
        </p:txBody>
      </p:sp>
      <p:sp>
        <p:nvSpPr>
          <p:cNvPr id="35" name="Shape 29"/>
          <p:cNvSpPr/>
          <p:nvPr/>
        </p:nvSpPr>
        <p:spPr>
          <a:xfrm>
            <a:off x="4383938" y="3931920"/>
            <a:ext cx="3423818" cy="1691640"/>
          </a:xfrm>
          <a:prstGeom prst="roundRect">
            <a:avLst>
              <a:gd name="adj" fmla="val 5405"/>
            </a:avLst>
          </a:prstGeom>
          <a:solidFill>
            <a:srgbClr val="EEF1F7"/>
          </a:solidFill>
          <a:ln w="12700">
            <a:solidFill>
              <a:srgbClr val="E4E9F2"/>
            </a:solidFill>
            <a:prstDash val="solid"/>
          </a:ln>
        </p:spPr>
      </p:sp>
      <p:sp>
        <p:nvSpPr>
          <p:cNvPr id="36" name="Shape 30"/>
          <p:cNvSpPr/>
          <p:nvPr/>
        </p:nvSpPr>
        <p:spPr>
          <a:xfrm>
            <a:off x="4639970" y="4187952"/>
            <a:ext cx="566928" cy="566928"/>
          </a:xfrm>
          <a:prstGeom prst="ellipse">
            <a:avLst/>
          </a:prstGeom>
          <a:solidFill>
            <a:srgbClr val="E1604A"/>
          </a:solidFill>
          <a:ln/>
        </p:spPr>
      </p:sp>
      <p:pic>
        <p:nvPicPr>
          <p:cNvPr id="37" name="Image 4" descr="preencoded.png">    </p:cNvPr>
          <p:cNvPicPr>
            <a:picLocks noChangeAspect="1"/>
          </p:cNvPicPr>
          <p:nvPr/>
        </p:nvPicPr>
        <p:blipFill>
          <a:blip r:embed="rId5"/>
          <a:stretch>
            <a:fillRect/>
          </a:stretch>
        </p:blipFill>
        <p:spPr>
          <a:xfrm>
            <a:off x="4804380" y="4352361"/>
            <a:ext cx="238110" cy="238110"/>
          </a:xfrm>
          <a:prstGeom prst="rect">
            <a:avLst/>
          </a:prstGeom>
        </p:spPr>
      </p:pic>
      <p:sp>
        <p:nvSpPr>
          <p:cNvPr id="38" name="Text 31"/>
          <p:cNvSpPr/>
          <p:nvPr/>
        </p:nvSpPr>
        <p:spPr>
          <a:xfrm>
            <a:off x="7240829" y="4114800"/>
            <a:ext cx="384048" cy="384048"/>
          </a:xfrm>
          <a:prstGeom prst="rect">
            <a:avLst/>
          </a:prstGeom>
          <a:noFill/>
          <a:ln/>
        </p:spPr>
        <p:txBody>
          <a:bodyPr wrap="square" lIns="0" tIns="0" rIns="0" bIns="0" rtlCol="0" anchor="ctr"/>
          <a:lstStyle/>
          <a:p>
            <a:pPr algn="r" indent="0" marL="0">
              <a:buNone/>
            </a:pPr>
            <a:r>
              <a:rPr lang="en-US" sz="2000" b="1" dirty="0">
                <a:solidFill>
                  <a:srgbClr val="E4E9F2"/>
                </a:solidFill>
                <a:latin typeface="Cambria" pitchFamily="34" charset="0"/>
                <a:ea typeface="Cambria" pitchFamily="34" charset="-122"/>
                <a:cs typeface="Cambria" pitchFamily="34" charset="-120"/>
              </a:rPr>
              <a:t>5</a:t>
            </a:r>
            <a:endParaRPr lang="en-US" sz="2000" dirty="0"/>
          </a:p>
        </p:txBody>
      </p:sp>
      <p:sp>
        <p:nvSpPr>
          <p:cNvPr id="39" name="Text 32"/>
          <p:cNvSpPr/>
          <p:nvPr/>
        </p:nvSpPr>
        <p:spPr>
          <a:xfrm>
            <a:off x="4639970" y="4800600"/>
            <a:ext cx="2966618" cy="32004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Fix the failures</a:t>
            </a:r>
            <a:endParaRPr lang="en-US" sz="1500" dirty="0"/>
          </a:p>
        </p:txBody>
      </p:sp>
      <p:sp>
        <p:nvSpPr>
          <p:cNvPr id="40" name="Text 33"/>
          <p:cNvSpPr/>
          <p:nvPr/>
        </p:nvSpPr>
        <p:spPr>
          <a:xfrm>
            <a:off x="4639970" y="5120640"/>
            <a:ext cx="2966618" cy="457200"/>
          </a:xfrm>
          <a:prstGeom prst="rect">
            <a:avLst/>
          </a:prstGeom>
          <a:noFill/>
          <a:ln/>
        </p:spPr>
        <p:txBody>
          <a:bodyPr wrap="square" lIns="0" tIns="0" rIns="0" bIns="0" rtlCol="0" anchor="ctr"/>
          <a:lstStyle/>
          <a:p>
            <a:pPr indent="0" marL="0">
              <a:lnSpc>
                <a:spcPct val="100000"/>
              </a:lnSpc>
              <a:buNone/>
            </a:pPr>
            <a:r>
              <a:rPr lang="en-US" sz="1150" dirty="0">
                <a:solidFill>
                  <a:srgbClr val="3A4358"/>
                </a:solidFill>
                <a:latin typeface="Calibri" pitchFamily="34" charset="0"/>
                <a:ea typeface="Calibri" pitchFamily="34" charset="-122"/>
                <a:cs typeface="Calibri" pitchFamily="34" charset="-120"/>
              </a:rPr>
              <a:t>GenAI repairs any check that didn't behave.</a:t>
            </a:r>
            <a:endParaRPr lang="en-US" sz="1150" dirty="0"/>
          </a:p>
        </p:txBody>
      </p:sp>
      <p:sp>
        <p:nvSpPr>
          <p:cNvPr id="41" name="Text 34"/>
          <p:cNvSpPr/>
          <p:nvPr/>
        </p:nvSpPr>
        <p:spPr>
          <a:xfrm>
            <a:off x="7830617" y="4521708"/>
            <a:ext cx="365760" cy="502920"/>
          </a:xfrm>
          <a:prstGeom prst="rect">
            <a:avLst/>
          </a:prstGeom>
          <a:noFill/>
          <a:ln/>
        </p:spPr>
        <p:txBody>
          <a:bodyPr wrap="square" lIns="0" tIns="0" rIns="0" bIns="0" rtlCol="0" anchor="ctr"/>
          <a:lstStyle/>
          <a:p>
            <a:pPr algn="ctr" indent="0" marL="0">
              <a:buNone/>
            </a:pPr>
            <a:r>
              <a:rPr lang="en-US" sz="2200" b="1" dirty="0">
                <a:solidFill>
                  <a:srgbClr val="5C6B8C"/>
                </a:solidFill>
                <a:latin typeface="Calibri" pitchFamily="34" charset="0"/>
                <a:ea typeface="Calibri" pitchFamily="34" charset="-122"/>
                <a:cs typeface="Calibri" pitchFamily="34" charset="-120"/>
              </a:rPr>
              <a:t>→</a:t>
            </a:r>
            <a:endParaRPr lang="en-US" sz="2200" dirty="0"/>
          </a:p>
        </p:txBody>
      </p:sp>
      <p:sp>
        <p:nvSpPr>
          <p:cNvPr id="42" name="Shape 35"/>
          <p:cNvSpPr/>
          <p:nvPr/>
        </p:nvSpPr>
        <p:spPr>
          <a:xfrm>
            <a:off x="8219237" y="3931920"/>
            <a:ext cx="3423818" cy="1691640"/>
          </a:xfrm>
          <a:prstGeom prst="roundRect">
            <a:avLst>
              <a:gd name="adj" fmla="val 5405"/>
            </a:avLst>
          </a:prstGeom>
          <a:solidFill>
            <a:srgbClr val="EEF1F7"/>
          </a:solidFill>
          <a:ln w="12700">
            <a:solidFill>
              <a:srgbClr val="E4E9F2"/>
            </a:solidFill>
            <a:prstDash val="solid"/>
          </a:ln>
        </p:spPr>
      </p:sp>
      <p:sp>
        <p:nvSpPr>
          <p:cNvPr id="43" name="Shape 36"/>
          <p:cNvSpPr/>
          <p:nvPr/>
        </p:nvSpPr>
        <p:spPr>
          <a:xfrm>
            <a:off x="8475269" y="4187952"/>
            <a:ext cx="566928" cy="566928"/>
          </a:xfrm>
          <a:prstGeom prst="ellipse">
            <a:avLst/>
          </a:prstGeom>
          <a:solidFill>
            <a:srgbClr val="5C6B8C"/>
          </a:solidFill>
          <a:ln/>
        </p:spPr>
      </p:sp>
      <p:pic>
        <p:nvPicPr>
          <p:cNvPr id="44" name="Image 5" descr="preencoded.png">    </p:cNvPr>
          <p:cNvPicPr>
            <a:picLocks noChangeAspect="1"/>
          </p:cNvPicPr>
          <p:nvPr/>
        </p:nvPicPr>
        <p:blipFill>
          <a:blip r:embed="rId6"/>
          <a:stretch>
            <a:fillRect/>
          </a:stretch>
        </p:blipFill>
        <p:spPr>
          <a:xfrm>
            <a:off x="8639678" y="4352361"/>
            <a:ext cx="238110" cy="238110"/>
          </a:xfrm>
          <a:prstGeom prst="rect">
            <a:avLst/>
          </a:prstGeom>
        </p:spPr>
      </p:pic>
      <p:sp>
        <p:nvSpPr>
          <p:cNvPr id="45" name="Text 37"/>
          <p:cNvSpPr/>
          <p:nvPr/>
        </p:nvSpPr>
        <p:spPr>
          <a:xfrm>
            <a:off x="11076127" y="4114800"/>
            <a:ext cx="384048" cy="384048"/>
          </a:xfrm>
          <a:prstGeom prst="rect">
            <a:avLst/>
          </a:prstGeom>
          <a:noFill/>
          <a:ln/>
        </p:spPr>
        <p:txBody>
          <a:bodyPr wrap="square" lIns="0" tIns="0" rIns="0" bIns="0" rtlCol="0" anchor="ctr"/>
          <a:lstStyle/>
          <a:p>
            <a:pPr algn="r" indent="0" marL="0">
              <a:buNone/>
            </a:pPr>
            <a:r>
              <a:rPr lang="en-US" sz="2000" b="1" dirty="0">
                <a:solidFill>
                  <a:srgbClr val="E4E9F2"/>
                </a:solidFill>
                <a:latin typeface="Cambria" pitchFamily="34" charset="0"/>
                <a:ea typeface="Cambria" pitchFamily="34" charset="-122"/>
                <a:cs typeface="Cambria" pitchFamily="34" charset="-120"/>
              </a:rPr>
              <a:t>6</a:t>
            </a:r>
            <a:endParaRPr lang="en-US" sz="2000" dirty="0"/>
          </a:p>
        </p:txBody>
      </p:sp>
      <p:sp>
        <p:nvSpPr>
          <p:cNvPr id="46" name="Text 38"/>
          <p:cNvSpPr/>
          <p:nvPr/>
        </p:nvSpPr>
        <p:spPr>
          <a:xfrm>
            <a:off x="8475269" y="4800600"/>
            <a:ext cx="2966618" cy="32004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Publish</a:t>
            </a:r>
            <a:endParaRPr lang="en-US" sz="1500" dirty="0"/>
          </a:p>
        </p:txBody>
      </p:sp>
      <p:sp>
        <p:nvSpPr>
          <p:cNvPr id="47" name="Text 39"/>
          <p:cNvSpPr/>
          <p:nvPr/>
        </p:nvSpPr>
        <p:spPr>
          <a:xfrm>
            <a:off x="8475269" y="5120640"/>
            <a:ext cx="2966618" cy="457200"/>
          </a:xfrm>
          <a:prstGeom prst="rect">
            <a:avLst/>
          </a:prstGeom>
          <a:noFill/>
          <a:ln/>
        </p:spPr>
        <p:txBody>
          <a:bodyPr wrap="square" lIns="0" tIns="0" rIns="0" bIns="0" rtlCol="0" anchor="ctr"/>
          <a:lstStyle/>
          <a:p>
            <a:pPr indent="0" marL="0">
              <a:lnSpc>
                <a:spcPct val="100000"/>
              </a:lnSpc>
              <a:buNone/>
            </a:pPr>
            <a:r>
              <a:rPr lang="en-US" sz="1150" dirty="0">
                <a:solidFill>
                  <a:srgbClr val="3A4358"/>
                </a:solidFill>
                <a:latin typeface="Calibri" pitchFamily="34" charset="0"/>
                <a:ea typeface="Calibri" pitchFamily="34" charset="-122"/>
                <a:cs typeface="Calibri" pitchFamily="34" charset="-120"/>
              </a:rPr>
              <a:t>Only checks that pass their tests ship to the app.</a:t>
            </a:r>
            <a:endParaRPr lang="en-US" sz="1150" dirty="0"/>
          </a:p>
        </p:txBody>
      </p:sp>
      <p:sp>
        <p:nvSpPr>
          <p:cNvPr id="48" name="Text 40"/>
          <p:cNvSpPr/>
          <p:nvPr/>
        </p:nvSpPr>
        <p:spPr>
          <a:xfrm>
            <a:off x="9748266" y="3474720"/>
            <a:ext cx="365760" cy="457200"/>
          </a:xfrm>
          <a:prstGeom prst="rect">
            <a:avLst/>
          </a:prstGeom>
          <a:noFill/>
          <a:ln/>
        </p:spPr>
        <p:txBody>
          <a:bodyPr wrap="square" lIns="0" tIns="0" rIns="0" bIns="0" rtlCol="0" anchor="ctr"/>
          <a:lstStyle/>
          <a:p>
            <a:pPr algn="ctr" indent="0" marL="0">
              <a:buNone/>
            </a:pPr>
            <a:r>
              <a:rPr lang="en-US" sz="2200" b="1" dirty="0">
                <a:solidFill>
                  <a:srgbClr val="5C6B8C"/>
                </a:solidFill>
                <a:latin typeface="Calibri" pitchFamily="34" charset="0"/>
                <a:ea typeface="Calibri" pitchFamily="34" charset="-122"/>
                <a:cs typeface="Calibri" pitchFamily="34" charset="-120"/>
              </a:rPr>
              <a:t>↓</a:t>
            </a:r>
            <a:endParaRPr lang="en-US" sz="2200" dirty="0"/>
          </a:p>
        </p:txBody>
      </p:sp>
      <p:sp>
        <p:nvSpPr>
          <p:cNvPr id="49" name="Shape 41"/>
          <p:cNvSpPr/>
          <p:nvPr/>
        </p:nvSpPr>
        <p:spPr>
          <a:xfrm>
            <a:off x="548640" y="5870448"/>
            <a:ext cx="11094415" cy="548640"/>
          </a:xfrm>
          <a:prstGeom prst="roundRect">
            <a:avLst>
              <a:gd name="adj" fmla="val 13333"/>
            </a:avLst>
          </a:prstGeom>
          <a:solidFill>
            <a:srgbClr val="1B2A4A"/>
          </a:solidFill>
          <a:ln/>
        </p:spPr>
      </p:sp>
      <p:sp>
        <p:nvSpPr>
          <p:cNvPr id="50" name="Text 42"/>
          <p:cNvSpPr/>
          <p:nvPr/>
        </p:nvSpPr>
        <p:spPr>
          <a:xfrm>
            <a:off x="822960" y="5870448"/>
            <a:ext cx="10545775" cy="548640"/>
          </a:xfrm>
          <a:prstGeom prst="rect">
            <a:avLst/>
          </a:prstGeom>
          <a:noFill/>
          <a:ln/>
        </p:spPr>
        <p:txBody>
          <a:bodyPr wrap="square" lIns="0" tIns="0" rIns="0" bIns="0" rtlCol="0" anchor="ctr"/>
          <a:lstStyle/>
          <a:p>
            <a:pPr indent="0" marL="0">
              <a:buNone/>
            </a:pPr>
            <a:r>
              <a:rPr lang="en-US" sz="1250" b="1" dirty="0">
                <a:solidFill>
                  <a:srgbClr val="E1604A"/>
                </a:solidFill>
                <a:latin typeface="Calibri" pitchFamily="34" charset="0"/>
                <a:ea typeface="Calibri" pitchFamily="34" charset="-122"/>
                <a:cs typeface="Calibri" pitchFamily="34" charset="-120"/>
              </a:rPr>
              <a:t>The big idea:  </a:t>
            </a:r>
            <a:pPr indent="0" marL="0">
              <a:buNone/>
            </a:pPr>
            <a:r>
              <a:rPr lang="en-US" sz="1250" dirty="0">
                <a:solidFill>
                  <a:srgbClr val="FFFFFF"/>
                </a:solidFill>
                <a:latin typeface="Calibri" pitchFamily="34" charset="0"/>
                <a:ea typeface="Calibri" pitchFamily="34" charset="-122"/>
                <a:cs typeface="Calibri" pitchFamily="34" charset="-120"/>
              </a:rPr>
              <a:t>GenAI does the heavy lifting once, offline — and every rule is tested before it ever reaches a user.</a:t>
            </a:r>
            <a:endParaRPr lang="en-US" sz="1250" dirty="0"/>
          </a:p>
        </p:txBody>
      </p:sp>
      <p:sp>
        <p:nvSpPr>
          <p:cNvPr id="51" name="Text 43"/>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52" name="Shape 44"/>
          <p:cNvSpPr/>
          <p:nvPr/>
        </p:nvSpPr>
        <p:spPr>
          <a:xfrm>
            <a:off x="11259007" y="6492240"/>
            <a:ext cx="82296" cy="82296"/>
          </a:xfrm>
          <a:prstGeom prst="ellipse">
            <a:avLst/>
          </a:prstGeom>
          <a:solidFill>
            <a:srgbClr val="E1604A"/>
          </a:solidFill>
          <a:ln/>
        </p:spPr>
      </p:sp>
      <p:sp>
        <p:nvSpPr>
          <p:cNvPr id="53" name="Text 45"/>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THE METHOD, UP CLOSE  ·  2 OF 3</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Follow one rule from guidance to shipped check</a:t>
            </a:r>
            <a:endParaRPr lang="en-US" sz="3200" dirty="0"/>
          </a:p>
        </p:txBody>
      </p:sp>
      <p:sp>
        <p:nvSpPr>
          <p:cNvPr id="4" name="Shape 2"/>
          <p:cNvSpPr/>
          <p:nvPr/>
        </p:nvSpPr>
        <p:spPr>
          <a:xfrm>
            <a:off x="777240" y="2011680"/>
            <a:ext cx="0" cy="2852928"/>
          </a:xfrm>
          <a:prstGeom prst="line">
            <a:avLst/>
          </a:prstGeom>
          <a:noFill/>
          <a:ln w="25400">
            <a:solidFill>
              <a:srgbClr val="E4E9F2"/>
            </a:solidFill>
            <a:prstDash val="solid"/>
          </a:ln>
        </p:spPr>
      </p:sp>
      <p:sp>
        <p:nvSpPr>
          <p:cNvPr id="5" name="Shape 3"/>
          <p:cNvSpPr/>
          <p:nvPr/>
        </p:nvSpPr>
        <p:spPr>
          <a:xfrm>
            <a:off x="548640" y="1783080"/>
            <a:ext cx="457200" cy="457200"/>
          </a:xfrm>
          <a:prstGeom prst="ellipse">
            <a:avLst/>
          </a:prstGeom>
          <a:solidFill>
            <a:srgbClr val="E1604A"/>
          </a:solidFill>
          <a:ln/>
        </p:spPr>
      </p:sp>
      <p:sp>
        <p:nvSpPr>
          <p:cNvPr id="6" name="Text 4"/>
          <p:cNvSpPr/>
          <p:nvPr/>
        </p:nvSpPr>
        <p:spPr>
          <a:xfrm>
            <a:off x="548640" y="1783080"/>
            <a:ext cx="45720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207008" y="1728216"/>
            <a:ext cx="5376672" cy="292608"/>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Guidance</a:t>
            </a:r>
            <a:endParaRPr lang="en-US" sz="1500" dirty="0"/>
          </a:p>
        </p:txBody>
      </p:sp>
      <p:sp>
        <p:nvSpPr>
          <p:cNvPr id="8" name="Text 6"/>
          <p:cNvSpPr/>
          <p:nvPr/>
        </p:nvSpPr>
        <p:spPr>
          <a:xfrm>
            <a:off x="1207008" y="2020824"/>
            <a:ext cx="5376672" cy="457200"/>
          </a:xfrm>
          <a:prstGeom prst="rect">
            <a:avLst/>
          </a:prstGeom>
          <a:noFill/>
          <a:ln/>
        </p:spPr>
        <p:txBody>
          <a:bodyPr wrap="square" lIns="0" tIns="0" rIns="0" bIns="0" rtlCol="0" anchor="ctr"/>
          <a:lstStyle/>
          <a:p>
            <a:pPr indent="0" marL="0">
              <a:lnSpc>
                <a:spcPct val="100000"/>
              </a:lnSpc>
              <a:buNone/>
            </a:pPr>
            <a:r>
              <a:rPr lang="en-US" sz="1250" dirty="0">
                <a:solidFill>
                  <a:srgbClr val="3A4358"/>
                </a:solidFill>
                <a:latin typeface="Calibri" pitchFamily="34" charset="0"/>
                <a:ea typeface="Calibri" pitchFamily="34" charset="-122"/>
                <a:cs typeface="Calibri" pitchFamily="34" charset="-120"/>
              </a:rPr>
              <a:t>The Style Manual says: “Use words for numbers under 10.”</a:t>
            </a:r>
            <a:endParaRPr lang="en-US" sz="1250" dirty="0"/>
          </a:p>
        </p:txBody>
      </p:sp>
      <p:sp>
        <p:nvSpPr>
          <p:cNvPr id="9" name="Shape 7"/>
          <p:cNvSpPr/>
          <p:nvPr/>
        </p:nvSpPr>
        <p:spPr>
          <a:xfrm>
            <a:off x="548640" y="2496312"/>
            <a:ext cx="457200" cy="457200"/>
          </a:xfrm>
          <a:prstGeom prst="ellipse">
            <a:avLst/>
          </a:prstGeom>
          <a:solidFill>
            <a:srgbClr val="E1604A"/>
          </a:solidFill>
          <a:ln/>
        </p:spPr>
      </p:sp>
      <p:sp>
        <p:nvSpPr>
          <p:cNvPr id="10" name="Text 8"/>
          <p:cNvSpPr/>
          <p:nvPr/>
        </p:nvSpPr>
        <p:spPr>
          <a:xfrm>
            <a:off x="548640" y="2496312"/>
            <a:ext cx="45720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207008" y="2441448"/>
            <a:ext cx="5376672" cy="292608"/>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Draft the rule</a:t>
            </a:r>
            <a:endParaRPr lang="en-US" sz="1500" dirty="0"/>
          </a:p>
        </p:txBody>
      </p:sp>
      <p:sp>
        <p:nvSpPr>
          <p:cNvPr id="12" name="Text 10"/>
          <p:cNvSpPr/>
          <p:nvPr/>
        </p:nvSpPr>
        <p:spPr>
          <a:xfrm>
            <a:off x="1207008" y="2734056"/>
            <a:ext cx="5376672" cy="457200"/>
          </a:xfrm>
          <a:prstGeom prst="rect">
            <a:avLst/>
          </a:prstGeom>
          <a:noFill/>
          <a:ln/>
        </p:spPr>
        <p:txBody>
          <a:bodyPr wrap="square" lIns="0" tIns="0" rIns="0" bIns="0" rtlCol="0" anchor="ctr"/>
          <a:lstStyle/>
          <a:p>
            <a:pPr indent="0" marL="0">
              <a:lnSpc>
                <a:spcPct val="100000"/>
              </a:lnSpc>
              <a:buNone/>
            </a:pPr>
            <a:r>
              <a:rPr lang="en-US" sz="1250" dirty="0">
                <a:solidFill>
                  <a:srgbClr val="3A4358"/>
                </a:solidFill>
                <a:latin typeface="Calibri" pitchFamily="34" charset="0"/>
                <a:ea typeface="Calibri" pitchFamily="34" charset="-122"/>
                <a:cs typeface="Calibri" pitchFamily="34" charset="-120"/>
              </a:rPr>
              <a:t>Plain English: flag a lone digit written in ordinary prose.</a:t>
            </a:r>
            <a:endParaRPr lang="en-US" sz="1250" dirty="0"/>
          </a:p>
        </p:txBody>
      </p:sp>
      <p:sp>
        <p:nvSpPr>
          <p:cNvPr id="13" name="Shape 11"/>
          <p:cNvSpPr/>
          <p:nvPr/>
        </p:nvSpPr>
        <p:spPr>
          <a:xfrm>
            <a:off x="548640" y="3209544"/>
            <a:ext cx="457200" cy="457200"/>
          </a:xfrm>
          <a:prstGeom prst="ellipse">
            <a:avLst/>
          </a:prstGeom>
          <a:solidFill>
            <a:srgbClr val="E1604A"/>
          </a:solidFill>
          <a:ln/>
        </p:spPr>
      </p:sp>
      <p:sp>
        <p:nvSpPr>
          <p:cNvPr id="14" name="Text 12"/>
          <p:cNvSpPr/>
          <p:nvPr/>
        </p:nvSpPr>
        <p:spPr>
          <a:xfrm>
            <a:off x="548640" y="3209544"/>
            <a:ext cx="45720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207008" y="3154680"/>
            <a:ext cx="5376672" cy="292608"/>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Write the check</a:t>
            </a:r>
            <a:endParaRPr lang="en-US" sz="1500" dirty="0"/>
          </a:p>
        </p:txBody>
      </p:sp>
      <p:sp>
        <p:nvSpPr>
          <p:cNvPr id="16" name="Text 14"/>
          <p:cNvSpPr/>
          <p:nvPr/>
        </p:nvSpPr>
        <p:spPr>
          <a:xfrm>
            <a:off x="1207008" y="3447288"/>
            <a:ext cx="5376672" cy="457200"/>
          </a:xfrm>
          <a:prstGeom prst="rect">
            <a:avLst/>
          </a:prstGeom>
          <a:noFill/>
          <a:ln/>
        </p:spPr>
        <p:txBody>
          <a:bodyPr wrap="square" lIns="0" tIns="0" rIns="0" bIns="0" rtlCol="0" anchor="ctr"/>
          <a:lstStyle/>
          <a:p>
            <a:pPr indent="0" marL="0">
              <a:lnSpc>
                <a:spcPct val="100000"/>
              </a:lnSpc>
              <a:buNone/>
            </a:pPr>
            <a:r>
              <a:rPr lang="en-US" sz="1250" dirty="0">
                <a:solidFill>
                  <a:srgbClr val="3A4358"/>
                </a:solidFill>
                <a:latin typeface="Calibri" pitchFamily="34" charset="0"/>
                <a:ea typeface="Calibri" pitchFamily="34" charset="-122"/>
                <a:cs typeface="Calibri" pitchFamily="34" charset="-120"/>
              </a:rPr>
              <a:t>GenAI turns the rule into a tiny piece of code.</a:t>
            </a:r>
            <a:endParaRPr lang="en-US" sz="1250" dirty="0"/>
          </a:p>
        </p:txBody>
      </p:sp>
      <p:sp>
        <p:nvSpPr>
          <p:cNvPr id="17" name="Shape 15"/>
          <p:cNvSpPr/>
          <p:nvPr/>
        </p:nvSpPr>
        <p:spPr>
          <a:xfrm>
            <a:off x="548640" y="3922776"/>
            <a:ext cx="457200" cy="457200"/>
          </a:xfrm>
          <a:prstGeom prst="ellipse">
            <a:avLst/>
          </a:prstGeom>
          <a:solidFill>
            <a:srgbClr val="E1604A"/>
          </a:solidFill>
          <a:ln/>
        </p:spPr>
      </p:sp>
      <p:sp>
        <p:nvSpPr>
          <p:cNvPr id="18" name="Text 16"/>
          <p:cNvSpPr/>
          <p:nvPr/>
        </p:nvSpPr>
        <p:spPr>
          <a:xfrm>
            <a:off x="548640" y="3922776"/>
            <a:ext cx="45720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9" name="Text 17"/>
          <p:cNvSpPr/>
          <p:nvPr/>
        </p:nvSpPr>
        <p:spPr>
          <a:xfrm>
            <a:off x="1207008" y="3867912"/>
            <a:ext cx="5376672" cy="292608"/>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Generate its tests</a:t>
            </a:r>
            <a:endParaRPr lang="en-US" sz="1500" dirty="0"/>
          </a:p>
        </p:txBody>
      </p:sp>
      <p:sp>
        <p:nvSpPr>
          <p:cNvPr id="20" name="Text 18"/>
          <p:cNvSpPr/>
          <p:nvPr/>
        </p:nvSpPr>
        <p:spPr>
          <a:xfrm>
            <a:off x="1207008" y="4160520"/>
            <a:ext cx="5376672" cy="457200"/>
          </a:xfrm>
          <a:prstGeom prst="rect">
            <a:avLst/>
          </a:prstGeom>
          <a:noFill/>
          <a:ln/>
        </p:spPr>
        <p:txBody>
          <a:bodyPr wrap="square" lIns="0" tIns="0" rIns="0" bIns="0" rtlCol="0" anchor="ctr"/>
          <a:lstStyle/>
          <a:p>
            <a:pPr indent="0" marL="0">
              <a:lnSpc>
                <a:spcPct val="100000"/>
              </a:lnSpc>
              <a:buNone/>
            </a:pPr>
            <a:r>
              <a:rPr lang="en-US" sz="1250" dirty="0">
                <a:solidFill>
                  <a:srgbClr val="3A4358"/>
                </a:solidFill>
                <a:latin typeface="Calibri" pitchFamily="34" charset="0"/>
                <a:ea typeface="Calibri" pitchFamily="34" charset="-122"/>
                <a:cs typeface="Calibri" pitchFamily="34" charset="-120"/>
              </a:rPr>
              <a:t>GenAI writes examples that should — and shouldn't — flag.</a:t>
            </a:r>
            <a:endParaRPr lang="en-US" sz="1250" dirty="0"/>
          </a:p>
        </p:txBody>
      </p:sp>
      <p:sp>
        <p:nvSpPr>
          <p:cNvPr id="21" name="Shape 19"/>
          <p:cNvSpPr/>
          <p:nvPr/>
        </p:nvSpPr>
        <p:spPr>
          <a:xfrm>
            <a:off x="548640" y="4636008"/>
            <a:ext cx="457200" cy="457200"/>
          </a:xfrm>
          <a:prstGeom prst="ellipse">
            <a:avLst/>
          </a:prstGeom>
          <a:solidFill>
            <a:srgbClr val="E1604A"/>
          </a:solidFill>
          <a:ln/>
        </p:spPr>
      </p:sp>
      <p:sp>
        <p:nvSpPr>
          <p:cNvPr id="22" name="Text 20"/>
          <p:cNvSpPr/>
          <p:nvPr/>
        </p:nvSpPr>
        <p:spPr>
          <a:xfrm>
            <a:off x="548640" y="4636008"/>
            <a:ext cx="457200" cy="45720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3" name="Text 21"/>
          <p:cNvSpPr/>
          <p:nvPr/>
        </p:nvSpPr>
        <p:spPr>
          <a:xfrm>
            <a:off x="1207008" y="4581144"/>
            <a:ext cx="5376672" cy="292608"/>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Test &amp; publish</a:t>
            </a:r>
            <a:endParaRPr lang="en-US" sz="1500" dirty="0"/>
          </a:p>
        </p:txBody>
      </p:sp>
      <p:sp>
        <p:nvSpPr>
          <p:cNvPr id="24" name="Text 22"/>
          <p:cNvSpPr/>
          <p:nvPr/>
        </p:nvSpPr>
        <p:spPr>
          <a:xfrm>
            <a:off x="1207008" y="4873752"/>
            <a:ext cx="5376672" cy="457200"/>
          </a:xfrm>
          <a:prstGeom prst="rect">
            <a:avLst/>
          </a:prstGeom>
          <a:noFill/>
          <a:ln/>
        </p:spPr>
        <p:txBody>
          <a:bodyPr wrap="square" lIns="0" tIns="0" rIns="0" bIns="0" rtlCol="0" anchor="ctr"/>
          <a:lstStyle/>
          <a:p>
            <a:pPr indent="0" marL="0">
              <a:lnSpc>
                <a:spcPct val="100000"/>
              </a:lnSpc>
              <a:buNone/>
            </a:pPr>
            <a:r>
              <a:rPr lang="en-US" sz="1250" dirty="0">
                <a:solidFill>
                  <a:srgbClr val="3A4358"/>
                </a:solidFill>
                <a:latin typeface="Calibri" pitchFamily="34" charset="0"/>
                <a:ea typeface="Calibri" pitchFamily="34" charset="-122"/>
                <a:cs typeface="Calibri" pitchFamily="34" charset="-120"/>
              </a:rPr>
              <a:t>Passes its own tests → ships. Fails → fixed, or held for a human.</a:t>
            </a:r>
            <a:endParaRPr lang="en-US" sz="1250" dirty="0"/>
          </a:p>
        </p:txBody>
      </p:sp>
      <p:sp>
        <p:nvSpPr>
          <p:cNvPr id="25" name="Shape 23"/>
          <p:cNvSpPr/>
          <p:nvPr/>
        </p:nvSpPr>
        <p:spPr>
          <a:xfrm>
            <a:off x="6903720" y="1783080"/>
            <a:ext cx="4739335" cy="3456432"/>
          </a:xfrm>
          <a:prstGeom prst="roundRect">
            <a:avLst>
              <a:gd name="adj" fmla="val 2646"/>
            </a:avLst>
          </a:prstGeom>
          <a:solidFill>
            <a:srgbClr val="1B2A4A"/>
          </a:solidFill>
          <a:ln/>
        </p:spPr>
      </p:sp>
      <p:sp>
        <p:nvSpPr>
          <p:cNvPr id="26" name="Text 24"/>
          <p:cNvSpPr/>
          <p:nvPr/>
        </p:nvSpPr>
        <p:spPr>
          <a:xfrm>
            <a:off x="7223760" y="1984248"/>
            <a:ext cx="4099255" cy="274320"/>
          </a:xfrm>
          <a:prstGeom prst="rect">
            <a:avLst/>
          </a:prstGeom>
          <a:noFill/>
          <a:ln/>
        </p:spPr>
        <p:txBody>
          <a:bodyPr wrap="square" lIns="0" tIns="0" rIns="0" bIns="0" rtlCol="0" anchor="ctr"/>
          <a:lstStyle/>
          <a:p>
            <a:pPr indent="0" marL="0">
              <a:buNone/>
            </a:pPr>
            <a:r>
              <a:rPr lang="en-US" sz="1050" b="1" spc="200" kern="0" dirty="0">
                <a:solidFill>
                  <a:srgbClr val="5C6B8C"/>
                </a:solidFill>
                <a:latin typeface="Calibri" pitchFamily="34" charset="0"/>
                <a:ea typeface="Calibri" pitchFamily="34" charset="-122"/>
                <a:cs typeface="Calibri" pitchFamily="34" charset="-120"/>
              </a:rPr>
              <a:t>what GenAI produced</a:t>
            </a:r>
            <a:endParaRPr lang="en-US" sz="1050" dirty="0"/>
          </a:p>
        </p:txBody>
      </p:sp>
      <p:sp>
        <p:nvSpPr>
          <p:cNvPr id="27" name="Text 25"/>
          <p:cNvSpPr/>
          <p:nvPr/>
        </p:nvSpPr>
        <p:spPr>
          <a:xfrm>
            <a:off x="7223760" y="2331720"/>
            <a:ext cx="4190695" cy="274320"/>
          </a:xfrm>
          <a:prstGeom prst="rect">
            <a:avLst/>
          </a:prstGeom>
          <a:noFill/>
          <a:ln/>
        </p:spPr>
        <p:txBody>
          <a:bodyPr wrap="square" lIns="0" tIns="0" rIns="0" bIns="0" rtlCol="0" anchor="ctr"/>
          <a:lstStyle/>
          <a:p>
            <a:pPr indent="0" marL="0">
              <a:buNone/>
            </a:pPr>
            <a:r>
              <a:rPr lang="en-US" sz="1200" dirty="0">
                <a:solidFill>
                  <a:srgbClr val="C9D6EF"/>
                </a:solidFill>
                <a:latin typeface="Courier New" pitchFamily="34" charset="0"/>
                <a:ea typeface="Courier New" pitchFamily="34" charset="-122"/>
                <a:cs typeface="Courier New" pitchFamily="34" charset="-120"/>
              </a:rPr>
              <a:t>rule    numbers / spell-under-10</a:t>
            </a:r>
            <a:endParaRPr lang="en-US" sz="1200" dirty="0"/>
          </a:p>
        </p:txBody>
      </p:sp>
      <p:sp>
        <p:nvSpPr>
          <p:cNvPr id="28" name="Text 26"/>
          <p:cNvSpPr/>
          <p:nvPr/>
        </p:nvSpPr>
        <p:spPr>
          <a:xfrm>
            <a:off x="7223760" y="2606040"/>
            <a:ext cx="4190695" cy="274320"/>
          </a:xfrm>
          <a:prstGeom prst="rect">
            <a:avLst/>
          </a:prstGeom>
          <a:noFill/>
          <a:ln/>
        </p:spPr>
        <p:txBody>
          <a:bodyPr wrap="square" lIns="0" tIns="0" rIns="0" bIns="0" rtlCol="0" anchor="ctr"/>
          <a:lstStyle/>
          <a:p>
            <a:pPr indent="0" marL="0">
              <a:buNone/>
            </a:pPr>
            <a:r>
              <a:rPr lang="en-US" sz="1200" dirty="0">
                <a:solidFill>
                  <a:srgbClr val="E1604A"/>
                </a:solidFill>
                <a:latin typeface="Courier New" pitchFamily="34" charset="0"/>
                <a:ea typeface="Courier New" pitchFamily="34" charset="-122"/>
                <a:cs typeface="Courier New" pitchFamily="34" charset="-120"/>
              </a:rPr>
              <a:t>check   \b[0-9]\b   (a lone digit)</a:t>
            </a:r>
            <a:endParaRPr lang="en-US" sz="1200" dirty="0"/>
          </a:p>
        </p:txBody>
      </p:sp>
      <p:sp>
        <p:nvSpPr>
          <p:cNvPr id="29" name="Text 27"/>
          <p:cNvSpPr/>
          <p:nvPr/>
        </p:nvSpPr>
        <p:spPr>
          <a:xfrm>
            <a:off x="7223760" y="2880360"/>
            <a:ext cx="4190695" cy="274320"/>
          </a:xfrm>
          <a:prstGeom prst="rect">
            <a:avLst/>
          </a:prstGeom>
          <a:noFill/>
          <a:ln/>
        </p:spPr>
        <p:txBody>
          <a:bodyPr wrap="square" lIns="0" tIns="0" rIns="0" bIns="0" rtlCol="0" anchor="ctr"/>
          <a:lstStyle/>
          <a:p>
            <a:pPr indent="0" marL="0">
              <a:buNone/>
            </a:pPr>
            <a:r>
              <a:rPr lang="en-US" sz="1200" dirty="0">
                <a:solidFill>
                  <a:srgbClr val="C9D6EF"/>
                </a:solidFill>
                <a:latin typeface="Courier New" pitchFamily="34" charset="0"/>
                <a:ea typeface="Courier New" pitchFamily="34" charset="-122"/>
                <a:cs typeface="Courier New" pitchFamily="34" charset="-120"/>
              </a:rPr>
              <a:t> </a:t>
            </a:r>
            <a:endParaRPr lang="en-US" sz="1200" dirty="0"/>
          </a:p>
        </p:txBody>
      </p:sp>
      <p:sp>
        <p:nvSpPr>
          <p:cNvPr id="30" name="Text 28"/>
          <p:cNvSpPr/>
          <p:nvPr/>
        </p:nvSpPr>
        <p:spPr>
          <a:xfrm>
            <a:off x="7223760" y="3154680"/>
            <a:ext cx="4190695" cy="274320"/>
          </a:xfrm>
          <a:prstGeom prst="rect">
            <a:avLst/>
          </a:prstGeom>
          <a:noFill/>
          <a:ln/>
        </p:spPr>
        <p:txBody>
          <a:bodyPr wrap="square" lIns="0" tIns="0" rIns="0" bIns="0" rtlCol="0" anchor="ctr"/>
          <a:lstStyle/>
          <a:p>
            <a:pPr indent="0" marL="0">
              <a:buNone/>
            </a:pPr>
            <a:r>
              <a:rPr lang="en-US" sz="1200" dirty="0">
                <a:solidFill>
                  <a:srgbClr val="8FA3C7"/>
                </a:solidFill>
                <a:latin typeface="Courier New" pitchFamily="34" charset="0"/>
                <a:ea typeface="Courier New" pitchFamily="34" charset="-122"/>
                <a:cs typeface="Courier New" pitchFamily="34" charset="-120"/>
              </a:rPr>
              <a:t>should flag:</a:t>
            </a:r>
            <a:endParaRPr lang="en-US" sz="1200" dirty="0"/>
          </a:p>
        </p:txBody>
      </p:sp>
      <p:sp>
        <p:nvSpPr>
          <p:cNvPr id="31" name="Text 29"/>
          <p:cNvSpPr/>
          <p:nvPr/>
        </p:nvSpPr>
        <p:spPr>
          <a:xfrm>
            <a:off x="7223760" y="3429000"/>
            <a:ext cx="4190695"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"There were 3 submissions."</a:t>
            </a:r>
            <a:endParaRPr lang="en-US" sz="1200" dirty="0"/>
          </a:p>
        </p:txBody>
      </p:sp>
      <p:sp>
        <p:nvSpPr>
          <p:cNvPr id="32" name="Text 30"/>
          <p:cNvSpPr/>
          <p:nvPr/>
        </p:nvSpPr>
        <p:spPr>
          <a:xfrm>
            <a:off x="7223760" y="3703320"/>
            <a:ext cx="4190695" cy="274320"/>
          </a:xfrm>
          <a:prstGeom prst="rect">
            <a:avLst/>
          </a:prstGeom>
          <a:noFill/>
          <a:ln/>
        </p:spPr>
        <p:txBody>
          <a:bodyPr wrap="square" lIns="0" tIns="0" rIns="0" bIns="0" rtlCol="0" anchor="ctr"/>
          <a:lstStyle/>
          <a:p>
            <a:pPr indent="0" marL="0">
              <a:buNone/>
            </a:pPr>
            <a:r>
              <a:rPr lang="en-US" sz="1200" dirty="0">
                <a:solidFill>
                  <a:srgbClr val="8FA3C7"/>
                </a:solidFill>
                <a:latin typeface="Courier New" pitchFamily="34" charset="0"/>
                <a:ea typeface="Courier New" pitchFamily="34" charset="-122"/>
                <a:cs typeface="Courier New" pitchFamily="34" charset="-120"/>
              </a:rPr>
              <a:t>should NOT flag:</a:t>
            </a:r>
            <a:endParaRPr lang="en-US" sz="1200" dirty="0"/>
          </a:p>
        </p:txBody>
      </p:sp>
      <p:sp>
        <p:nvSpPr>
          <p:cNvPr id="33" name="Text 31"/>
          <p:cNvSpPr/>
          <p:nvPr/>
        </p:nvSpPr>
        <p:spPr>
          <a:xfrm>
            <a:off x="7223760" y="3977640"/>
            <a:ext cx="4190695"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"Section 3 of the Act"</a:t>
            </a:r>
            <a:endParaRPr lang="en-US" sz="1200" dirty="0"/>
          </a:p>
        </p:txBody>
      </p:sp>
      <p:sp>
        <p:nvSpPr>
          <p:cNvPr id="34" name="Text 32"/>
          <p:cNvSpPr/>
          <p:nvPr/>
        </p:nvSpPr>
        <p:spPr>
          <a:xfrm>
            <a:off x="7223760" y="4251960"/>
            <a:ext cx="4190695" cy="27432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      "3 mm clearance"</a:t>
            </a:r>
            <a:endParaRPr lang="en-US" sz="1200" dirty="0"/>
          </a:p>
        </p:txBody>
      </p:sp>
      <p:sp>
        <p:nvSpPr>
          <p:cNvPr id="35" name="Shape 33"/>
          <p:cNvSpPr/>
          <p:nvPr/>
        </p:nvSpPr>
        <p:spPr>
          <a:xfrm>
            <a:off x="7223760" y="4709160"/>
            <a:ext cx="4099255" cy="384048"/>
          </a:xfrm>
          <a:prstGeom prst="roundRect">
            <a:avLst>
              <a:gd name="adj" fmla="val 14286"/>
            </a:avLst>
          </a:prstGeom>
          <a:solidFill>
            <a:srgbClr val="1E3A2A"/>
          </a:solidFill>
          <a:ln/>
        </p:spPr>
      </p:sp>
      <p:sp>
        <p:nvSpPr>
          <p:cNvPr id="36" name="Text 34"/>
          <p:cNvSpPr/>
          <p:nvPr/>
        </p:nvSpPr>
        <p:spPr>
          <a:xfrm>
            <a:off x="7360920" y="4709160"/>
            <a:ext cx="3824935" cy="384048"/>
          </a:xfrm>
          <a:prstGeom prst="rect">
            <a:avLst/>
          </a:prstGeom>
          <a:noFill/>
          <a:ln/>
        </p:spPr>
        <p:txBody>
          <a:bodyPr wrap="square" lIns="0" tIns="0" rIns="0" bIns="0" rtlCol="0" anchor="ctr"/>
          <a:lstStyle/>
          <a:p>
            <a:pPr indent="0" marL="0">
              <a:buNone/>
            </a:pPr>
            <a:r>
              <a:rPr lang="en-US" sz="1200" b="1" dirty="0">
                <a:solidFill>
                  <a:srgbClr val="7FD69B"/>
                </a:solidFill>
                <a:latin typeface="Calibri" pitchFamily="34" charset="0"/>
                <a:ea typeface="Calibri" pitchFamily="34" charset="-122"/>
                <a:cs typeface="Calibri" pitchFamily="34" charset="-120"/>
              </a:rPr>
              <a:t>PASS</a:t>
            </a:r>
            <a:pPr indent="0" marL="0">
              <a:buNone/>
            </a:pPr>
            <a:r>
              <a:rPr lang="en-US" sz="1200" dirty="0">
                <a:solidFill>
                  <a:srgbClr val="FFFFFF"/>
                </a:solidFill>
                <a:latin typeface="Calibri" pitchFamily="34" charset="0"/>
                <a:ea typeface="Calibri" pitchFamily="34" charset="-122"/>
                <a:cs typeface="Calibri" pitchFamily="34" charset="-120"/>
              </a:rPr>
              <a:t>   passed its tests, shipped to the app</a:t>
            </a:r>
            <a:endParaRPr lang="en-US" sz="1200" dirty="0"/>
          </a:p>
        </p:txBody>
      </p:sp>
      <p:sp>
        <p:nvSpPr>
          <p:cNvPr id="37" name="Shape 35"/>
          <p:cNvSpPr/>
          <p:nvPr/>
        </p:nvSpPr>
        <p:spPr>
          <a:xfrm>
            <a:off x="548640" y="5394960"/>
            <a:ext cx="11094415" cy="548640"/>
          </a:xfrm>
          <a:prstGeom prst="roundRect">
            <a:avLst>
              <a:gd name="adj" fmla="val 13333"/>
            </a:avLst>
          </a:prstGeom>
          <a:solidFill>
            <a:srgbClr val="1B2A4A"/>
          </a:solidFill>
          <a:ln/>
        </p:spPr>
      </p:sp>
      <p:sp>
        <p:nvSpPr>
          <p:cNvPr id="38" name="Text 36"/>
          <p:cNvSpPr/>
          <p:nvPr/>
        </p:nvSpPr>
        <p:spPr>
          <a:xfrm>
            <a:off x="822960" y="5394960"/>
            <a:ext cx="10545775" cy="548640"/>
          </a:xfrm>
          <a:prstGeom prst="rect">
            <a:avLst/>
          </a:prstGeom>
          <a:noFill/>
          <a:ln/>
        </p:spPr>
        <p:txBody>
          <a:bodyPr wrap="square" lIns="0" tIns="0" rIns="0" bIns="0" rtlCol="0" anchor="ctr"/>
          <a:lstStyle/>
          <a:p>
            <a:pPr indent="0" marL="0">
              <a:buNone/>
            </a:pPr>
            <a:r>
              <a:rPr lang="en-US" sz="1250" b="1" dirty="0">
                <a:solidFill>
                  <a:srgbClr val="E1604A"/>
                </a:solidFill>
                <a:latin typeface="Calibri" pitchFamily="34" charset="0"/>
                <a:ea typeface="Calibri" pitchFamily="34" charset="-122"/>
                <a:cs typeface="Calibri" pitchFamily="34" charset="-120"/>
              </a:rPr>
              <a:t>The trick:  </a:t>
            </a:r>
            <a:pPr indent="0" marL="0">
              <a:buNone/>
            </a:pPr>
            <a:r>
              <a:rPr lang="en-US" sz="1250" dirty="0">
                <a:solidFill>
                  <a:srgbClr val="FFFFFF"/>
                </a:solidFill>
                <a:latin typeface="Calibri" pitchFamily="34" charset="0"/>
                <a:ea typeface="Calibri" pitchFamily="34" charset="-122"/>
                <a:cs typeface="Calibri" pitchFamily="34" charset="-120"/>
              </a:rPr>
              <a:t>the AI writes the check AND the tests that prove it. The “should-not-flag” examples are what stop false alarms.</a:t>
            </a:r>
            <a:endParaRPr lang="en-US" sz="1250" dirty="0"/>
          </a:p>
        </p:txBody>
      </p:sp>
      <p:sp>
        <p:nvSpPr>
          <p:cNvPr id="39" name="Text 37"/>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40" name="Shape 38"/>
          <p:cNvSpPr/>
          <p:nvPr/>
        </p:nvSpPr>
        <p:spPr>
          <a:xfrm>
            <a:off x="11259007" y="6492240"/>
            <a:ext cx="82296" cy="82296"/>
          </a:xfrm>
          <a:prstGeom prst="ellipse">
            <a:avLst/>
          </a:prstGeom>
          <a:solidFill>
            <a:srgbClr val="E1604A"/>
          </a:solidFill>
          <a:ln/>
        </p:spPr>
      </p:sp>
      <p:sp>
        <p:nvSpPr>
          <p:cNvPr id="41" name="Text 39"/>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WHY THIS IS INTERESTING  ·  3 OF 3</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A repeatable way to turn a rulebook into software</a:t>
            </a:r>
            <a:endParaRPr lang="en-US" sz="3200" dirty="0"/>
          </a:p>
        </p:txBody>
      </p:sp>
      <p:sp>
        <p:nvSpPr>
          <p:cNvPr id="4" name="Shape 2"/>
          <p:cNvSpPr/>
          <p:nvPr/>
        </p:nvSpPr>
        <p:spPr>
          <a:xfrm>
            <a:off x="548640" y="1783080"/>
            <a:ext cx="5318608" cy="1417320"/>
          </a:xfrm>
          <a:prstGeom prst="roundRect">
            <a:avLst>
              <a:gd name="adj" fmla="val 6452"/>
            </a:avLst>
          </a:prstGeom>
          <a:solidFill>
            <a:srgbClr val="EEF1F7"/>
          </a:solidFill>
          <a:ln w="12700">
            <a:solidFill>
              <a:srgbClr val="E4E9F2"/>
            </a:solidFill>
            <a:prstDash val="solid"/>
          </a:ln>
        </p:spPr>
      </p:sp>
      <p:sp>
        <p:nvSpPr>
          <p:cNvPr id="5" name="Shape 3"/>
          <p:cNvSpPr/>
          <p:nvPr/>
        </p:nvSpPr>
        <p:spPr>
          <a:xfrm>
            <a:off x="841248" y="2075688"/>
            <a:ext cx="566928" cy="566928"/>
          </a:xfrm>
          <a:prstGeom prst="ellipse">
            <a:avLst/>
          </a:prstGeom>
          <a:solidFill>
            <a:srgbClr val="E1604A"/>
          </a:solidFill>
          <a:ln/>
        </p:spPr>
      </p:sp>
      <p:pic>
        <p:nvPicPr>
          <p:cNvPr id="6" name="Image 0" descr="preencoded.png">    </p:cNvPr>
          <p:cNvPicPr>
            <a:picLocks noChangeAspect="1"/>
          </p:cNvPicPr>
          <p:nvPr/>
        </p:nvPicPr>
        <p:blipFill>
          <a:blip r:embed="rId1"/>
          <a:stretch>
            <a:fillRect/>
          </a:stretch>
        </p:blipFill>
        <p:spPr>
          <a:xfrm>
            <a:off x="1005657" y="2240097"/>
            <a:ext cx="238110" cy="238110"/>
          </a:xfrm>
          <a:prstGeom prst="rect">
            <a:avLst/>
          </a:prstGeom>
        </p:spPr>
      </p:pic>
      <p:sp>
        <p:nvSpPr>
          <p:cNvPr id="7" name="Text 4"/>
          <p:cNvSpPr/>
          <p:nvPr/>
        </p:nvSpPr>
        <p:spPr>
          <a:xfrm>
            <a:off x="1600200" y="2020824"/>
            <a:ext cx="4038448" cy="365760"/>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Point it at any rulebook</a:t>
            </a:r>
            <a:endParaRPr lang="en-US" sz="1650" dirty="0"/>
          </a:p>
        </p:txBody>
      </p:sp>
      <p:sp>
        <p:nvSpPr>
          <p:cNvPr id="8" name="Text 5"/>
          <p:cNvSpPr/>
          <p:nvPr/>
        </p:nvSpPr>
        <p:spPr>
          <a:xfrm>
            <a:off x="1600200" y="2404872"/>
            <a:ext cx="4038448" cy="685800"/>
          </a:xfrm>
          <a:prstGeom prst="rect">
            <a:avLst/>
          </a:prstGeom>
          <a:noFill/>
          <a:ln/>
        </p:spPr>
        <p:txBody>
          <a:bodyPr wrap="square" lIns="0" tIns="0" rIns="0" bIns="0" rtlCol="0" anchor="ctr"/>
          <a:lstStyle/>
          <a:p>
            <a:pPr indent="0" marL="0">
              <a:lnSpc>
                <a:spcPct val="105000"/>
              </a:lnSpc>
              <a:buNone/>
            </a:pPr>
            <a:r>
              <a:rPr lang="en-US" sz="1250" dirty="0">
                <a:solidFill>
                  <a:srgbClr val="3A4358"/>
                </a:solidFill>
                <a:latin typeface="Calibri" pitchFamily="34" charset="0"/>
                <a:ea typeface="Calibri" pitchFamily="34" charset="-122"/>
                <a:cs typeface="Calibri" pitchFamily="34" charset="-120"/>
              </a:rPr>
              <a:t>Style guides, policies, legislation, standards, contracts — anywhere the rules are written down.</a:t>
            </a:r>
            <a:endParaRPr lang="en-US" sz="1250" dirty="0"/>
          </a:p>
        </p:txBody>
      </p:sp>
      <p:sp>
        <p:nvSpPr>
          <p:cNvPr id="9" name="Shape 6"/>
          <p:cNvSpPr/>
          <p:nvPr/>
        </p:nvSpPr>
        <p:spPr>
          <a:xfrm>
            <a:off x="6324448" y="1783080"/>
            <a:ext cx="5318608" cy="1417320"/>
          </a:xfrm>
          <a:prstGeom prst="roundRect">
            <a:avLst>
              <a:gd name="adj" fmla="val 6452"/>
            </a:avLst>
          </a:prstGeom>
          <a:solidFill>
            <a:srgbClr val="EEF1F7"/>
          </a:solidFill>
          <a:ln w="12700">
            <a:solidFill>
              <a:srgbClr val="E4E9F2"/>
            </a:solidFill>
            <a:prstDash val="solid"/>
          </a:ln>
        </p:spPr>
      </p:sp>
      <p:sp>
        <p:nvSpPr>
          <p:cNvPr id="10" name="Shape 7"/>
          <p:cNvSpPr/>
          <p:nvPr/>
        </p:nvSpPr>
        <p:spPr>
          <a:xfrm>
            <a:off x="6617056" y="2075688"/>
            <a:ext cx="566928" cy="566928"/>
          </a:xfrm>
          <a:prstGeom prst="ellipse">
            <a:avLst/>
          </a:prstGeom>
          <a:solidFill>
            <a:srgbClr val="E1604A"/>
          </a:solidFill>
          <a:ln/>
        </p:spPr>
      </p:sp>
      <p:pic>
        <p:nvPicPr>
          <p:cNvPr id="11" name="Image 1" descr="preencoded.png">    </p:cNvPr>
          <p:cNvPicPr>
            <a:picLocks noChangeAspect="1"/>
          </p:cNvPicPr>
          <p:nvPr/>
        </p:nvPicPr>
        <p:blipFill>
          <a:blip r:embed="rId2"/>
          <a:stretch>
            <a:fillRect/>
          </a:stretch>
        </p:blipFill>
        <p:spPr>
          <a:xfrm>
            <a:off x="6781465" y="2240097"/>
            <a:ext cx="238110" cy="238110"/>
          </a:xfrm>
          <a:prstGeom prst="rect">
            <a:avLst/>
          </a:prstGeom>
        </p:spPr>
      </p:pic>
      <p:sp>
        <p:nvSpPr>
          <p:cNvPr id="12" name="Text 8"/>
          <p:cNvSpPr/>
          <p:nvPr/>
        </p:nvSpPr>
        <p:spPr>
          <a:xfrm>
            <a:off x="7376008" y="2020824"/>
            <a:ext cx="4038448" cy="365760"/>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Every rule keeps its source</a:t>
            </a:r>
            <a:endParaRPr lang="en-US" sz="1650" dirty="0"/>
          </a:p>
        </p:txBody>
      </p:sp>
      <p:sp>
        <p:nvSpPr>
          <p:cNvPr id="13" name="Text 9"/>
          <p:cNvSpPr/>
          <p:nvPr/>
        </p:nvSpPr>
        <p:spPr>
          <a:xfrm>
            <a:off x="7376008" y="2404872"/>
            <a:ext cx="4038448" cy="685800"/>
          </a:xfrm>
          <a:prstGeom prst="rect">
            <a:avLst/>
          </a:prstGeom>
          <a:noFill/>
          <a:ln/>
        </p:spPr>
        <p:txBody>
          <a:bodyPr wrap="square" lIns="0" tIns="0" rIns="0" bIns="0" rtlCol="0" anchor="ctr"/>
          <a:lstStyle/>
          <a:p>
            <a:pPr indent="0" marL="0">
              <a:lnSpc>
                <a:spcPct val="105000"/>
              </a:lnSpc>
              <a:buNone/>
            </a:pPr>
            <a:r>
              <a:rPr lang="en-US" sz="1250" dirty="0">
                <a:solidFill>
                  <a:srgbClr val="3A4358"/>
                </a:solidFill>
                <a:latin typeface="Calibri" pitchFamily="34" charset="0"/>
                <a:ea typeface="Calibri" pitchFamily="34" charset="-122"/>
                <a:cs typeface="Calibri" pitchFamily="34" charset="-120"/>
              </a:rPr>
              <a:t>Traceable and auditable. Nothing is a black box you have to take on faith.</a:t>
            </a:r>
            <a:endParaRPr lang="en-US" sz="1250" dirty="0"/>
          </a:p>
        </p:txBody>
      </p:sp>
      <p:sp>
        <p:nvSpPr>
          <p:cNvPr id="14" name="Shape 10"/>
          <p:cNvSpPr/>
          <p:nvPr/>
        </p:nvSpPr>
        <p:spPr>
          <a:xfrm>
            <a:off x="548640" y="3520440"/>
            <a:ext cx="5318608" cy="1417320"/>
          </a:xfrm>
          <a:prstGeom prst="roundRect">
            <a:avLst>
              <a:gd name="adj" fmla="val 6452"/>
            </a:avLst>
          </a:prstGeom>
          <a:solidFill>
            <a:srgbClr val="EEF1F7"/>
          </a:solidFill>
          <a:ln w="12700">
            <a:solidFill>
              <a:srgbClr val="E4E9F2"/>
            </a:solidFill>
            <a:prstDash val="solid"/>
          </a:ln>
        </p:spPr>
      </p:sp>
      <p:sp>
        <p:nvSpPr>
          <p:cNvPr id="15" name="Shape 11"/>
          <p:cNvSpPr/>
          <p:nvPr/>
        </p:nvSpPr>
        <p:spPr>
          <a:xfrm>
            <a:off x="841248" y="3813048"/>
            <a:ext cx="566928" cy="566928"/>
          </a:xfrm>
          <a:prstGeom prst="ellipse">
            <a:avLst/>
          </a:prstGeom>
          <a:solidFill>
            <a:srgbClr val="E1604A"/>
          </a:solidFill>
          <a:ln/>
        </p:spPr>
      </p:sp>
      <p:pic>
        <p:nvPicPr>
          <p:cNvPr id="16" name="Image 2" descr="preencoded.png">    </p:cNvPr>
          <p:cNvPicPr>
            <a:picLocks noChangeAspect="1"/>
          </p:cNvPicPr>
          <p:nvPr/>
        </p:nvPicPr>
        <p:blipFill>
          <a:blip r:embed="rId3"/>
          <a:stretch>
            <a:fillRect/>
          </a:stretch>
        </p:blipFill>
        <p:spPr>
          <a:xfrm>
            <a:off x="1005657" y="3977457"/>
            <a:ext cx="238110" cy="238110"/>
          </a:xfrm>
          <a:prstGeom prst="rect">
            <a:avLst/>
          </a:prstGeom>
        </p:spPr>
      </p:pic>
      <p:sp>
        <p:nvSpPr>
          <p:cNvPr id="17" name="Text 12"/>
          <p:cNvSpPr/>
          <p:nvPr/>
        </p:nvSpPr>
        <p:spPr>
          <a:xfrm>
            <a:off x="1600200" y="3758184"/>
            <a:ext cx="4038448" cy="365760"/>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It tests itself</a:t>
            </a:r>
            <a:endParaRPr lang="en-US" sz="1650" dirty="0"/>
          </a:p>
        </p:txBody>
      </p:sp>
      <p:sp>
        <p:nvSpPr>
          <p:cNvPr id="18" name="Text 13"/>
          <p:cNvSpPr/>
          <p:nvPr/>
        </p:nvSpPr>
        <p:spPr>
          <a:xfrm>
            <a:off x="1600200" y="4142232"/>
            <a:ext cx="4038448" cy="685800"/>
          </a:xfrm>
          <a:prstGeom prst="rect">
            <a:avLst/>
          </a:prstGeom>
          <a:noFill/>
          <a:ln/>
        </p:spPr>
        <p:txBody>
          <a:bodyPr wrap="square" lIns="0" tIns="0" rIns="0" bIns="0" rtlCol="0" anchor="ctr"/>
          <a:lstStyle/>
          <a:p>
            <a:pPr indent="0" marL="0">
              <a:lnSpc>
                <a:spcPct val="105000"/>
              </a:lnSpc>
              <a:buNone/>
            </a:pPr>
            <a:r>
              <a:rPr lang="en-US" sz="1250" dirty="0">
                <a:solidFill>
                  <a:srgbClr val="3A4358"/>
                </a:solidFill>
                <a:latin typeface="Calibri" pitchFamily="34" charset="0"/>
                <a:ea typeface="Calibri" pitchFamily="34" charset="-122"/>
                <a:cs typeface="Calibri" pitchFamily="34" charset="-120"/>
              </a:rPr>
              <a:t>Generated examples verify each rule. Failures are quarantined, not shipped.</a:t>
            </a:r>
            <a:endParaRPr lang="en-US" sz="1250" dirty="0"/>
          </a:p>
        </p:txBody>
      </p:sp>
      <p:sp>
        <p:nvSpPr>
          <p:cNvPr id="19" name="Shape 14"/>
          <p:cNvSpPr/>
          <p:nvPr/>
        </p:nvSpPr>
        <p:spPr>
          <a:xfrm>
            <a:off x="6324448" y="3520440"/>
            <a:ext cx="5318608" cy="1417320"/>
          </a:xfrm>
          <a:prstGeom prst="roundRect">
            <a:avLst>
              <a:gd name="adj" fmla="val 6452"/>
            </a:avLst>
          </a:prstGeom>
          <a:solidFill>
            <a:srgbClr val="EEF1F7"/>
          </a:solidFill>
          <a:ln w="12700">
            <a:solidFill>
              <a:srgbClr val="E4E9F2"/>
            </a:solidFill>
            <a:prstDash val="solid"/>
          </a:ln>
        </p:spPr>
      </p:sp>
      <p:sp>
        <p:nvSpPr>
          <p:cNvPr id="20" name="Shape 15"/>
          <p:cNvSpPr/>
          <p:nvPr/>
        </p:nvSpPr>
        <p:spPr>
          <a:xfrm>
            <a:off x="6617056" y="3813048"/>
            <a:ext cx="566928" cy="566928"/>
          </a:xfrm>
          <a:prstGeom prst="ellipse">
            <a:avLst/>
          </a:prstGeom>
          <a:solidFill>
            <a:srgbClr val="E1604A"/>
          </a:solidFill>
          <a:ln/>
        </p:spPr>
      </p:sp>
      <p:pic>
        <p:nvPicPr>
          <p:cNvPr id="21" name="Image 3" descr="preencoded.png">    </p:cNvPr>
          <p:cNvPicPr>
            <a:picLocks noChangeAspect="1"/>
          </p:cNvPicPr>
          <p:nvPr/>
        </p:nvPicPr>
        <p:blipFill>
          <a:blip r:embed="rId4"/>
          <a:stretch>
            <a:fillRect/>
          </a:stretch>
        </p:blipFill>
        <p:spPr>
          <a:xfrm>
            <a:off x="6781465" y="3977457"/>
            <a:ext cx="238110" cy="238110"/>
          </a:xfrm>
          <a:prstGeom prst="rect">
            <a:avLst/>
          </a:prstGeom>
        </p:spPr>
      </p:pic>
      <p:sp>
        <p:nvSpPr>
          <p:cNvPr id="22" name="Text 16"/>
          <p:cNvSpPr/>
          <p:nvPr/>
        </p:nvSpPr>
        <p:spPr>
          <a:xfrm>
            <a:off x="7376008" y="3758184"/>
            <a:ext cx="4038448" cy="365760"/>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It keeps up</a:t>
            </a:r>
            <a:endParaRPr lang="en-US" sz="1650" dirty="0"/>
          </a:p>
        </p:txBody>
      </p:sp>
      <p:sp>
        <p:nvSpPr>
          <p:cNvPr id="23" name="Text 17"/>
          <p:cNvSpPr/>
          <p:nvPr/>
        </p:nvSpPr>
        <p:spPr>
          <a:xfrm>
            <a:off x="7376008" y="4142232"/>
            <a:ext cx="4038448" cy="685800"/>
          </a:xfrm>
          <a:prstGeom prst="rect">
            <a:avLst/>
          </a:prstGeom>
          <a:noFill/>
          <a:ln/>
        </p:spPr>
        <p:txBody>
          <a:bodyPr wrap="square" lIns="0" tIns="0" rIns="0" bIns="0" rtlCol="0" anchor="ctr"/>
          <a:lstStyle/>
          <a:p>
            <a:pPr indent="0" marL="0">
              <a:lnSpc>
                <a:spcPct val="105000"/>
              </a:lnSpc>
              <a:buNone/>
            </a:pPr>
            <a:r>
              <a:rPr lang="en-US" sz="1250" dirty="0">
                <a:solidFill>
                  <a:srgbClr val="3A4358"/>
                </a:solidFill>
                <a:latin typeface="Calibri" pitchFamily="34" charset="0"/>
                <a:ea typeface="Calibri" pitchFamily="34" charset="-122"/>
                <a:cs typeface="Calibri" pitchFamily="34" charset="-120"/>
              </a:rPr>
              <a:t>When the source changes, only the changed pages are re-processed.</a:t>
            </a:r>
            <a:endParaRPr lang="en-US" sz="1250" dirty="0"/>
          </a:p>
        </p:txBody>
      </p:sp>
      <p:sp>
        <p:nvSpPr>
          <p:cNvPr id="24" name="Shape 18"/>
          <p:cNvSpPr/>
          <p:nvPr/>
        </p:nvSpPr>
        <p:spPr>
          <a:xfrm>
            <a:off x="548640" y="5349240"/>
            <a:ext cx="11094415" cy="566928"/>
          </a:xfrm>
          <a:prstGeom prst="roundRect">
            <a:avLst>
              <a:gd name="adj" fmla="val 12903"/>
            </a:avLst>
          </a:prstGeom>
          <a:solidFill>
            <a:srgbClr val="1B2A4A"/>
          </a:solidFill>
          <a:ln/>
        </p:spPr>
      </p:sp>
      <p:sp>
        <p:nvSpPr>
          <p:cNvPr id="25" name="Text 19"/>
          <p:cNvSpPr/>
          <p:nvPr/>
        </p:nvSpPr>
        <p:spPr>
          <a:xfrm>
            <a:off x="822960" y="5349240"/>
            <a:ext cx="10545775" cy="566928"/>
          </a:xfrm>
          <a:prstGeom prst="rect">
            <a:avLst/>
          </a:prstGeom>
          <a:noFill/>
          <a:ln/>
        </p:spPr>
        <p:txBody>
          <a:bodyPr wrap="square" lIns="0" tIns="0" rIns="0" bIns="0" rtlCol="0" anchor="ctr"/>
          <a:lstStyle/>
          <a:p>
            <a:pPr indent="0" marL="0">
              <a:buNone/>
            </a:pPr>
            <a:r>
              <a:rPr lang="en-US" sz="1250" b="1" dirty="0">
                <a:solidFill>
                  <a:srgbClr val="E1604A"/>
                </a:solidFill>
                <a:latin typeface="Calibri" pitchFamily="34" charset="0"/>
                <a:ea typeface="Calibri" pitchFamily="34" charset="-122"/>
                <a:cs typeface="Calibri" pitchFamily="34" charset="-120"/>
              </a:rPr>
              <a:t>~800 rules </a:t>
            </a:r>
            <a:pPr indent="0" marL="0">
              <a:buNone/>
            </a:pPr>
            <a:r>
              <a:rPr lang="en-US" sz="1250" dirty="0">
                <a:solidFill>
                  <a:srgbClr val="FFFFFF"/>
                </a:solidFill>
                <a:latin typeface="Calibri" pitchFamily="34" charset="0"/>
                <a:ea typeface="Calibri" pitchFamily="34" charset="-122"/>
                <a:cs typeface="Calibri" pitchFamily="34" charset="-120"/>
              </a:rPr>
              <a:t>drafted, coded and tested by machine — leaving a few days of human review instead of months of manual work.</a:t>
            </a:r>
            <a:endParaRPr lang="en-US" sz="1250" dirty="0"/>
          </a:p>
        </p:txBody>
      </p:sp>
      <p:sp>
        <p:nvSpPr>
          <p:cNvPr id="26" name="Text 20"/>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27" name="Shape 21"/>
          <p:cNvSpPr/>
          <p:nvPr/>
        </p:nvSpPr>
        <p:spPr>
          <a:xfrm>
            <a:off x="11259007" y="6492240"/>
            <a:ext cx="82296" cy="82296"/>
          </a:xfrm>
          <a:prstGeom prst="ellipse">
            <a:avLst/>
          </a:prstGeom>
          <a:solidFill>
            <a:srgbClr val="E1604A"/>
          </a:solidFill>
          <a:ln/>
        </p:spPr>
      </p:sp>
      <p:sp>
        <p:nvSpPr>
          <p:cNvPr id="28" name="Text 22"/>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HOW IT CAN BE USED</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One engine, many front doors</a:t>
            </a:r>
            <a:endParaRPr lang="en-US" sz="3200" dirty="0"/>
          </a:p>
        </p:txBody>
      </p:sp>
      <p:sp>
        <p:nvSpPr>
          <p:cNvPr id="4" name="Shape 2"/>
          <p:cNvSpPr/>
          <p:nvPr/>
        </p:nvSpPr>
        <p:spPr>
          <a:xfrm>
            <a:off x="5138928" y="2057400"/>
            <a:ext cx="1911096" cy="3200400"/>
          </a:xfrm>
          <a:prstGeom prst="roundRect">
            <a:avLst>
              <a:gd name="adj" fmla="val 7656"/>
            </a:avLst>
          </a:prstGeom>
          <a:solidFill>
            <a:srgbClr val="1B2A4A"/>
          </a:solidFill>
          <a:ln/>
        </p:spPr>
      </p:sp>
      <p:sp>
        <p:nvSpPr>
          <p:cNvPr id="5" name="Shape 3"/>
          <p:cNvSpPr/>
          <p:nvPr/>
        </p:nvSpPr>
        <p:spPr>
          <a:xfrm>
            <a:off x="5765292" y="2423160"/>
            <a:ext cx="658368" cy="658368"/>
          </a:xfrm>
          <a:prstGeom prst="ellipse">
            <a:avLst/>
          </a:prstGeom>
          <a:solidFill>
            <a:srgbClr val="E1604A"/>
          </a:solidFill>
          <a:ln/>
        </p:spPr>
      </p:sp>
      <p:pic>
        <p:nvPicPr>
          <p:cNvPr id="6" name="Image 0" descr="preencoded.png">    </p:cNvPr>
          <p:cNvPicPr>
            <a:picLocks noChangeAspect="1"/>
          </p:cNvPicPr>
          <p:nvPr/>
        </p:nvPicPr>
        <p:blipFill>
          <a:blip r:embed="rId1"/>
          <a:stretch>
            <a:fillRect/>
          </a:stretch>
        </p:blipFill>
        <p:spPr>
          <a:xfrm>
            <a:off x="5956219" y="2614087"/>
            <a:ext cx="276515" cy="276515"/>
          </a:xfrm>
          <a:prstGeom prst="rect">
            <a:avLst/>
          </a:prstGeom>
        </p:spPr>
      </p:pic>
      <p:sp>
        <p:nvSpPr>
          <p:cNvPr id="7" name="Text 4"/>
          <p:cNvSpPr/>
          <p:nvPr/>
        </p:nvSpPr>
        <p:spPr>
          <a:xfrm>
            <a:off x="5230368" y="3200400"/>
            <a:ext cx="1728216" cy="731520"/>
          </a:xfrm>
          <a:prstGeom prst="rect">
            <a:avLst/>
          </a:prstGeom>
          <a:noFill/>
          <a:ln/>
        </p:spPr>
        <p:txBody>
          <a:bodyPr wrap="square" lIns="0" tIns="0" rIns="0" bIns="0" rtlCol="0" anchor="ctr"/>
          <a:lstStyle/>
          <a:p>
            <a:pPr algn="ctr" indent="0" marL="0">
              <a:lnSpc>
                <a:spcPct val="95000"/>
              </a:lnSpc>
              <a:buNone/>
            </a:pPr>
            <a:r>
              <a:rPr lang="en-US" sz="1700" b="1" dirty="0">
                <a:solidFill>
                  <a:srgbClr val="FFFFFF"/>
                </a:solidFill>
                <a:latin typeface="Cambria" pitchFamily="34" charset="0"/>
                <a:ea typeface="Cambria" pitchFamily="34" charset="-122"/>
                <a:cs typeface="Cambria" pitchFamily="34" charset="-120"/>
              </a:rPr>
              <a:t>The rule</a:t>
            </a:r>
            <a:endParaRPr lang="en-US" sz="1700" dirty="0"/>
          </a:p>
          <a:p>
            <a:pPr algn="ctr" indent="0" marL="0">
              <a:lnSpc>
                <a:spcPct val="95000"/>
              </a:lnSpc>
              <a:buNone/>
            </a:pPr>
            <a:r>
              <a:rPr lang="en-US" sz="1700" b="1" dirty="0">
                <a:solidFill>
                  <a:srgbClr val="FFFFFF"/>
                </a:solidFill>
                <a:latin typeface="Cambria" pitchFamily="34" charset="0"/>
                <a:ea typeface="Cambria" pitchFamily="34" charset="-122"/>
                <a:cs typeface="Cambria" pitchFamily="34" charset="-120"/>
              </a:rPr>
              <a:t>engine</a:t>
            </a:r>
            <a:endParaRPr lang="en-US" sz="1700" dirty="0"/>
          </a:p>
        </p:txBody>
      </p:sp>
      <p:sp>
        <p:nvSpPr>
          <p:cNvPr id="8" name="Text 5"/>
          <p:cNvSpPr/>
          <p:nvPr/>
        </p:nvSpPr>
        <p:spPr>
          <a:xfrm>
            <a:off x="5230368" y="4023360"/>
            <a:ext cx="1728216" cy="640080"/>
          </a:xfrm>
          <a:prstGeom prst="rect">
            <a:avLst/>
          </a:prstGeom>
          <a:noFill/>
          <a:ln/>
        </p:spPr>
        <p:txBody>
          <a:bodyPr wrap="square" lIns="0" tIns="0" rIns="0" bIns="0" rtlCol="0" anchor="ctr"/>
          <a:lstStyle/>
          <a:p>
            <a:pPr algn="ctr" indent="0" marL="0">
              <a:lnSpc>
                <a:spcPct val="100000"/>
              </a:lnSpc>
              <a:buNone/>
            </a:pPr>
            <a:r>
              <a:rPr lang="en-US" sz="1150" dirty="0">
                <a:solidFill>
                  <a:srgbClr val="C9D6EF"/>
                </a:solidFill>
                <a:latin typeface="Calibri" pitchFamily="34" charset="0"/>
                <a:ea typeface="Calibri" pitchFamily="34" charset="-122"/>
                <a:cs typeface="Calibri" pitchFamily="34" charset="-120"/>
              </a:rPr>
              <a:t>the checks +</a:t>
            </a:r>
            <a:endParaRPr lang="en-US" sz="1150" dirty="0"/>
          </a:p>
          <a:p>
            <a:pPr algn="ctr" indent="0" marL="0">
              <a:lnSpc>
                <a:spcPct val="100000"/>
              </a:lnSpc>
              <a:buNone/>
            </a:pPr>
            <a:r>
              <a:rPr lang="en-US" sz="1150" dirty="0">
                <a:solidFill>
                  <a:srgbClr val="C9D6EF"/>
                </a:solidFill>
                <a:latin typeface="Calibri" pitchFamily="34" charset="0"/>
                <a:ea typeface="Calibri" pitchFamily="34" charset="-122"/>
                <a:cs typeface="Calibri" pitchFamily="34" charset="-120"/>
              </a:rPr>
              <a:t>the rulebook</a:t>
            </a:r>
            <a:endParaRPr lang="en-US" sz="1150" dirty="0"/>
          </a:p>
        </p:txBody>
      </p:sp>
      <p:sp>
        <p:nvSpPr>
          <p:cNvPr id="9" name="Shape 6"/>
          <p:cNvSpPr/>
          <p:nvPr/>
        </p:nvSpPr>
        <p:spPr>
          <a:xfrm>
            <a:off x="548640" y="2103120"/>
            <a:ext cx="3977640" cy="914400"/>
          </a:xfrm>
          <a:prstGeom prst="roundRect">
            <a:avLst>
              <a:gd name="adj" fmla="val 9000"/>
            </a:avLst>
          </a:prstGeom>
          <a:solidFill>
            <a:srgbClr val="EEF1F7"/>
          </a:solidFill>
          <a:ln w="12700">
            <a:solidFill>
              <a:srgbClr val="E4E9F2"/>
            </a:solidFill>
            <a:prstDash val="solid"/>
          </a:ln>
        </p:spPr>
      </p:sp>
      <p:sp>
        <p:nvSpPr>
          <p:cNvPr id="10" name="Shape 7"/>
          <p:cNvSpPr/>
          <p:nvPr/>
        </p:nvSpPr>
        <p:spPr>
          <a:xfrm>
            <a:off x="777240" y="2313432"/>
            <a:ext cx="493776" cy="493776"/>
          </a:xfrm>
          <a:prstGeom prst="ellipse">
            <a:avLst/>
          </a:prstGeom>
          <a:solidFill>
            <a:srgbClr val="E1604A"/>
          </a:solidFill>
          <a:ln/>
        </p:spPr>
      </p:sp>
      <p:pic>
        <p:nvPicPr>
          <p:cNvPr id="11" name="Image 1" descr="preencoded.png">    </p:cNvPr>
          <p:cNvPicPr>
            <a:picLocks noChangeAspect="1"/>
          </p:cNvPicPr>
          <p:nvPr/>
        </p:nvPicPr>
        <p:blipFill>
          <a:blip r:embed="rId2"/>
          <a:stretch>
            <a:fillRect/>
          </a:stretch>
        </p:blipFill>
        <p:spPr>
          <a:xfrm>
            <a:off x="920435" y="2456627"/>
            <a:ext cx="207386" cy="207386"/>
          </a:xfrm>
          <a:prstGeom prst="rect">
            <a:avLst/>
          </a:prstGeom>
        </p:spPr>
      </p:pic>
      <p:sp>
        <p:nvSpPr>
          <p:cNvPr id="12" name="Text 8"/>
          <p:cNvSpPr/>
          <p:nvPr/>
        </p:nvSpPr>
        <p:spPr>
          <a:xfrm>
            <a:off x="1417320" y="2249424"/>
            <a:ext cx="292608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Web editor</a:t>
            </a:r>
            <a:endParaRPr lang="en-US" sz="1450" dirty="0"/>
          </a:p>
        </p:txBody>
      </p:sp>
      <p:sp>
        <p:nvSpPr>
          <p:cNvPr id="13" name="Text 9"/>
          <p:cNvSpPr/>
          <p:nvPr/>
        </p:nvSpPr>
        <p:spPr>
          <a:xfrm>
            <a:off x="1417320" y="2560320"/>
            <a:ext cx="2926080" cy="384048"/>
          </a:xfrm>
          <a:prstGeom prst="rect">
            <a:avLst/>
          </a:prstGeom>
          <a:noFill/>
          <a:ln/>
        </p:spPr>
        <p:txBody>
          <a:bodyPr wrap="square" lIns="0" tIns="0" rIns="0" bIns="0" rtlCol="0" anchor="ctr"/>
          <a:lstStyle/>
          <a:p>
            <a:pPr indent="0" marL="0">
              <a:lnSpc>
                <a:spcPct val="95000"/>
              </a:lnSpc>
              <a:buNone/>
            </a:pPr>
            <a:r>
              <a:rPr lang="en-US" sz="1150" dirty="0">
                <a:solidFill>
                  <a:srgbClr val="3A4358"/>
                </a:solidFill>
                <a:latin typeface="Calibri" pitchFamily="34" charset="0"/>
                <a:ea typeface="Calibri" pitchFamily="34" charset="-122"/>
                <a:cs typeface="Calibri" pitchFamily="34" charset="-120"/>
              </a:rPr>
              <a:t>Write in the browser; see flags live.</a:t>
            </a:r>
            <a:endParaRPr lang="en-US" sz="1150" dirty="0"/>
          </a:p>
        </p:txBody>
      </p:sp>
      <p:sp>
        <p:nvSpPr>
          <p:cNvPr id="14" name="Shape 10"/>
          <p:cNvSpPr/>
          <p:nvPr/>
        </p:nvSpPr>
        <p:spPr>
          <a:xfrm>
            <a:off x="4526280" y="2560320"/>
            <a:ext cx="612648" cy="0"/>
          </a:xfrm>
          <a:prstGeom prst="line">
            <a:avLst/>
          </a:prstGeom>
          <a:noFill/>
          <a:ln w="19050">
            <a:solidFill>
              <a:srgbClr val="5C6B8C"/>
            </a:solidFill>
            <a:prstDash val="solid"/>
          </a:ln>
        </p:spPr>
      </p:sp>
      <p:sp>
        <p:nvSpPr>
          <p:cNvPr id="15" name="Shape 11"/>
          <p:cNvSpPr/>
          <p:nvPr/>
        </p:nvSpPr>
        <p:spPr>
          <a:xfrm>
            <a:off x="548640" y="3246120"/>
            <a:ext cx="3977640" cy="914400"/>
          </a:xfrm>
          <a:prstGeom prst="roundRect">
            <a:avLst>
              <a:gd name="adj" fmla="val 9000"/>
            </a:avLst>
          </a:prstGeom>
          <a:solidFill>
            <a:srgbClr val="EEF1F7"/>
          </a:solidFill>
          <a:ln w="12700">
            <a:solidFill>
              <a:srgbClr val="E4E9F2"/>
            </a:solidFill>
            <a:prstDash val="solid"/>
          </a:ln>
        </p:spPr>
      </p:sp>
      <p:sp>
        <p:nvSpPr>
          <p:cNvPr id="16" name="Shape 12"/>
          <p:cNvSpPr/>
          <p:nvPr/>
        </p:nvSpPr>
        <p:spPr>
          <a:xfrm>
            <a:off x="777240" y="3456432"/>
            <a:ext cx="493776" cy="493776"/>
          </a:xfrm>
          <a:prstGeom prst="ellipse">
            <a:avLst/>
          </a:prstGeom>
          <a:solidFill>
            <a:srgbClr val="E1604A"/>
          </a:solidFill>
          <a:ln/>
        </p:spPr>
      </p:sp>
      <p:pic>
        <p:nvPicPr>
          <p:cNvPr id="17" name="Image 2" descr="preencoded.png">    </p:cNvPr>
          <p:cNvPicPr>
            <a:picLocks noChangeAspect="1"/>
          </p:cNvPicPr>
          <p:nvPr/>
        </p:nvPicPr>
        <p:blipFill>
          <a:blip r:embed="rId3"/>
          <a:stretch>
            <a:fillRect/>
          </a:stretch>
        </p:blipFill>
        <p:spPr>
          <a:xfrm>
            <a:off x="920435" y="3599627"/>
            <a:ext cx="207386" cy="207386"/>
          </a:xfrm>
          <a:prstGeom prst="rect">
            <a:avLst/>
          </a:prstGeom>
        </p:spPr>
      </p:pic>
      <p:sp>
        <p:nvSpPr>
          <p:cNvPr id="18" name="Text 13"/>
          <p:cNvSpPr/>
          <p:nvPr/>
        </p:nvSpPr>
        <p:spPr>
          <a:xfrm>
            <a:off x="1417320" y="3392424"/>
            <a:ext cx="292608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API / CI check</a:t>
            </a:r>
            <a:endParaRPr lang="en-US" sz="1450" dirty="0"/>
          </a:p>
        </p:txBody>
      </p:sp>
      <p:sp>
        <p:nvSpPr>
          <p:cNvPr id="19" name="Text 14"/>
          <p:cNvSpPr/>
          <p:nvPr/>
        </p:nvSpPr>
        <p:spPr>
          <a:xfrm>
            <a:off x="1417320" y="3703320"/>
            <a:ext cx="2926080" cy="384048"/>
          </a:xfrm>
          <a:prstGeom prst="rect">
            <a:avLst/>
          </a:prstGeom>
          <a:noFill/>
          <a:ln/>
        </p:spPr>
        <p:txBody>
          <a:bodyPr wrap="square" lIns="0" tIns="0" rIns="0" bIns="0" rtlCol="0" anchor="ctr"/>
          <a:lstStyle/>
          <a:p>
            <a:pPr indent="0" marL="0">
              <a:lnSpc>
                <a:spcPct val="95000"/>
              </a:lnSpc>
              <a:buNone/>
            </a:pPr>
            <a:r>
              <a:rPr lang="en-US" sz="1150" dirty="0">
                <a:solidFill>
                  <a:srgbClr val="3A4358"/>
                </a:solidFill>
                <a:latin typeface="Calibri" pitchFamily="34" charset="0"/>
                <a:ea typeface="Calibri" pitchFamily="34" charset="-122"/>
                <a:cs typeface="Calibri" pitchFamily="34" charset="-120"/>
              </a:rPr>
              <a:t>Gate documents in an automated pipeline.</a:t>
            </a:r>
            <a:endParaRPr lang="en-US" sz="1150" dirty="0"/>
          </a:p>
        </p:txBody>
      </p:sp>
      <p:sp>
        <p:nvSpPr>
          <p:cNvPr id="20" name="Shape 15"/>
          <p:cNvSpPr/>
          <p:nvPr/>
        </p:nvSpPr>
        <p:spPr>
          <a:xfrm>
            <a:off x="4526280" y="3703320"/>
            <a:ext cx="612648" cy="0"/>
          </a:xfrm>
          <a:prstGeom prst="line">
            <a:avLst/>
          </a:prstGeom>
          <a:noFill/>
          <a:ln w="19050">
            <a:solidFill>
              <a:srgbClr val="5C6B8C"/>
            </a:solidFill>
            <a:prstDash val="solid"/>
          </a:ln>
        </p:spPr>
      </p:sp>
      <p:sp>
        <p:nvSpPr>
          <p:cNvPr id="21" name="Shape 16"/>
          <p:cNvSpPr/>
          <p:nvPr/>
        </p:nvSpPr>
        <p:spPr>
          <a:xfrm>
            <a:off x="548640" y="4389120"/>
            <a:ext cx="3977640" cy="914400"/>
          </a:xfrm>
          <a:prstGeom prst="roundRect">
            <a:avLst>
              <a:gd name="adj" fmla="val 9000"/>
            </a:avLst>
          </a:prstGeom>
          <a:solidFill>
            <a:srgbClr val="EEF1F7"/>
          </a:solidFill>
          <a:ln w="12700">
            <a:solidFill>
              <a:srgbClr val="E4E9F2"/>
            </a:solidFill>
            <a:prstDash val="solid"/>
          </a:ln>
        </p:spPr>
      </p:sp>
      <p:sp>
        <p:nvSpPr>
          <p:cNvPr id="22" name="Shape 17"/>
          <p:cNvSpPr/>
          <p:nvPr/>
        </p:nvSpPr>
        <p:spPr>
          <a:xfrm>
            <a:off x="777240" y="4599432"/>
            <a:ext cx="493776" cy="493776"/>
          </a:xfrm>
          <a:prstGeom prst="ellipse">
            <a:avLst/>
          </a:prstGeom>
          <a:solidFill>
            <a:srgbClr val="E1604A"/>
          </a:solidFill>
          <a:ln/>
        </p:spPr>
      </p:sp>
      <p:pic>
        <p:nvPicPr>
          <p:cNvPr id="23" name="Image 3" descr="preencoded.png">    </p:cNvPr>
          <p:cNvPicPr>
            <a:picLocks noChangeAspect="1"/>
          </p:cNvPicPr>
          <p:nvPr/>
        </p:nvPicPr>
        <p:blipFill>
          <a:blip r:embed="rId4"/>
          <a:stretch>
            <a:fillRect/>
          </a:stretch>
        </p:blipFill>
        <p:spPr>
          <a:xfrm>
            <a:off x="920435" y="4742627"/>
            <a:ext cx="207386" cy="207386"/>
          </a:xfrm>
          <a:prstGeom prst="rect">
            <a:avLst/>
          </a:prstGeom>
        </p:spPr>
      </p:pic>
      <p:sp>
        <p:nvSpPr>
          <p:cNvPr id="24" name="Text 18"/>
          <p:cNvSpPr/>
          <p:nvPr/>
        </p:nvSpPr>
        <p:spPr>
          <a:xfrm>
            <a:off x="1417320" y="4535424"/>
            <a:ext cx="292608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Agent tool (MCP)</a:t>
            </a:r>
            <a:endParaRPr lang="en-US" sz="1450" dirty="0"/>
          </a:p>
        </p:txBody>
      </p:sp>
      <p:sp>
        <p:nvSpPr>
          <p:cNvPr id="25" name="Text 19"/>
          <p:cNvSpPr/>
          <p:nvPr/>
        </p:nvSpPr>
        <p:spPr>
          <a:xfrm>
            <a:off x="1417320" y="4846320"/>
            <a:ext cx="2926080" cy="384048"/>
          </a:xfrm>
          <a:prstGeom prst="rect">
            <a:avLst/>
          </a:prstGeom>
          <a:noFill/>
          <a:ln/>
        </p:spPr>
        <p:txBody>
          <a:bodyPr wrap="square" lIns="0" tIns="0" rIns="0" bIns="0" rtlCol="0" anchor="ctr"/>
          <a:lstStyle/>
          <a:p>
            <a:pPr indent="0" marL="0">
              <a:lnSpc>
                <a:spcPct val="95000"/>
              </a:lnSpc>
              <a:buNone/>
            </a:pPr>
            <a:r>
              <a:rPr lang="en-US" sz="1150" dirty="0">
                <a:solidFill>
                  <a:srgbClr val="3A4358"/>
                </a:solidFill>
                <a:latin typeface="Calibri" pitchFamily="34" charset="0"/>
                <a:ea typeface="Calibri" pitchFamily="34" charset="-122"/>
                <a:cs typeface="Calibri" pitchFamily="34" charset="-120"/>
              </a:rPr>
              <a:t>An AI agent can call it as a tool.</a:t>
            </a:r>
            <a:endParaRPr lang="en-US" sz="1150" dirty="0"/>
          </a:p>
        </p:txBody>
      </p:sp>
      <p:sp>
        <p:nvSpPr>
          <p:cNvPr id="26" name="Shape 20"/>
          <p:cNvSpPr/>
          <p:nvPr/>
        </p:nvSpPr>
        <p:spPr>
          <a:xfrm>
            <a:off x="4526280" y="4846320"/>
            <a:ext cx="612648" cy="0"/>
          </a:xfrm>
          <a:prstGeom prst="line">
            <a:avLst/>
          </a:prstGeom>
          <a:noFill/>
          <a:ln w="19050">
            <a:solidFill>
              <a:srgbClr val="5C6B8C"/>
            </a:solidFill>
            <a:prstDash val="solid"/>
          </a:ln>
        </p:spPr>
      </p:sp>
      <p:sp>
        <p:nvSpPr>
          <p:cNvPr id="27" name="Shape 21"/>
          <p:cNvSpPr/>
          <p:nvPr/>
        </p:nvSpPr>
        <p:spPr>
          <a:xfrm>
            <a:off x="7665415" y="2103120"/>
            <a:ext cx="3977640" cy="914400"/>
          </a:xfrm>
          <a:prstGeom prst="roundRect">
            <a:avLst>
              <a:gd name="adj" fmla="val 9000"/>
            </a:avLst>
          </a:prstGeom>
          <a:solidFill>
            <a:srgbClr val="EEF1F7"/>
          </a:solidFill>
          <a:ln w="12700">
            <a:solidFill>
              <a:srgbClr val="E4E9F2"/>
            </a:solidFill>
            <a:prstDash val="solid"/>
          </a:ln>
        </p:spPr>
      </p:sp>
      <p:sp>
        <p:nvSpPr>
          <p:cNvPr id="28" name="Shape 22"/>
          <p:cNvSpPr/>
          <p:nvPr/>
        </p:nvSpPr>
        <p:spPr>
          <a:xfrm>
            <a:off x="7894015" y="2313432"/>
            <a:ext cx="493776" cy="493776"/>
          </a:xfrm>
          <a:prstGeom prst="ellipse">
            <a:avLst/>
          </a:prstGeom>
          <a:solidFill>
            <a:srgbClr val="E1604A"/>
          </a:solidFill>
          <a:ln/>
        </p:spPr>
      </p:sp>
      <p:pic>
        <p:nvPicPr>
          <p:cNvPr id="29" name="Image 4" descr="preencoded.png">    </p:cNvPr>
          <p:cNvPicPr>
            <a:picLocks noChangeAspect="1"/>
          </p:cNvPicPr>
          <p:nvPr/>
        </p:nvPicPr>
        <p:blipFill>
          <a:blip r:embed="rId5"/>
          <a:stretch>
            <a:fillRect/>
          </a:stretch>
        </p:blipFill>
        <p:spPr>
          <a:xfrm>
            <a:off x="8037210" y="2456627"/>
            <a:ext cx="207386" cy="207386"/>
          </a:xfrm>
          <a:prstGeom prst="rect">
            <a:avLst/>
          </a:prstGeom>
        </p:spPr>
      </p:pic>
      <p:sp>
        <p:nvSpPr>
          <p:cNvPr id="30" name="Text 23"/>
          <p:cNvSpPr/>
          <p:nvPr/>
        </p:nvSpPr>
        <p:spPr>
          <a:xfrm>
            <a:off x="8534095" y="2249424"/>
            <a:ext cx="292608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LLM middleware</a:t>
            </a:r>
            <a:endParaRPr lang="en-US" sz="1450" dirty="0"/>
          </a:p>
        </p:txBody>
      </p:sp>
      <p:sp>
        <p:nvSpPr>
          <p:cNvPr id="31" name="Text 24"/>
          <p:cNvSpPr/>
          <p:nvPr/>
        </p:nvSpPr>
        <p:spPr>
          <a:xfrm>
            <a:off x="8534095" y="2560320"/>
            <a:ext cx="2926080" cy="384048"/>
          </a:xfrm>
          <a:prstGeom prst="rect">
            <a:avLst/>
          </a:prstGeom>
          <a:noFill/>
          <a:ln/>
        </p:spPr>
        <p:txBody>
          <a:bodyPr wrap="square" lIns="0" tIns="0" rIns="0" bIns="0" rtlCol="0" anchor="ctr"/>
          <a:lstStyle/>
          <a:p>
            <a:pPr indent="0" marL="0">
              <a:lnSpc>
                <a:spcPct val="95000"/>
              </a:lnSpc>
              <a:buNone/>
            </a:pPr>
            <a:r>
              <a:rPr lang="en-US" sz="1150" dirty="0">
                <a:solidFill>
                  <a:srgbClr val="3A4358"/>
                </a:solidFill>
                <a:latin typeface="Calibri" pitchFamily="34" charset="0"/>
                <a:ea typeface="Calibri" pitchFamily="34" charset="-122"/>
                <a:cs typeface="Calibri" pitchFamily="34" charset="-120"/>
              </a:rPr>
              <a:t>Check another AI's output before users see it.</a:t>
            </a:r>
            <a:endParaRPr lang="en-US" sz="1150" dirty="0"/>
          </a:p>
        </p:txBody>
      </p:sp>
      <p:sp>
        <p:nvSpPr>
          <p:cNvPr id="32" name="Shape 25"/>
          <p:cNvSpPr/>
          <p:nvPr/>
        </p:nvSpPr>
        <p:spPr>
          <a:xfrm>
            <a:off x="7050024" y="2560320"/>
            <a:ext cx="615391" cy="0"/>
          </a:xfrm>
          <a:prstGeom prst="line">
            <a:avLst/>
          </a:prstGeom>
          <a:noFill/>
          <a:ln w="19050">
            <a:solidFill>
              <a:srgbClr val="5C6B8C"/>
            </a:solidFill>
            <a:prstDash val="solid"/>
          </a:ln>
        </p:spPr>
      </p:sp>
      <p:sp>
        <p:nvSpPr>
          <p:cNvPr id="33" name="Shape 26"/>
          <p:cNvSpPr/>
          <p:nvPr/>
        </p:nvSpPr>
        <p:spPr>
          <a:xfrm>
            <a:off x="7665415" y="3246120"/>
            <a:ext cx="3977640" cy="914400"/>
          </a:xfrm>
          <a:prstGeom prst="roundRect">
            <a:avLst>
              <a:gd name="adj" fmla="val 9000"/>
            </a:avLst>
          </a:prstGeom>
          <a:solidFill>
            <a:srgbClr val="EEF1F7"/>
          </a:solidFill>
          <a:ln w="12700">
            <a:solidFill>
              <a:srgbClr val="E4E9F2"/>
            </a:solidFill>
            <a:prstDash val="solid"/>
          </a:ln>
        </p:spPr>
      </p:sp>
      <p:sp>
        <p:nvSpPr>
          <p:cNvPr id="34" name="Shape 27"/>
          <p:cNvSpPr/>
          <p:nvPr/>
        </p:nvSpPr>
        <p:spPr>
          <a:xfrm>
            <a:off x="7894015" y="3456432"/>
            <a:ext cx="493776" cy="493776"/>
          </a:xfrm>
          <a:prstGeom prst="ellipse">
            <a:avLst/>
          </a:prstGeom>
          <a:solidFill>
            <a:srgbClr val="E1604A"/>
          </a:solidFill>
          <a:ln/>
        </p:spPr>
      </p:sp>
      <p:pic>
        <p:nvPicPr>
          <p:cNvPr id="35" name="Image 5" descr="preencoded.png">    </p:cNvPr>
          <p:cNvPicPr>
            <a:picLocks noChangeAspect="1"/>
          </p:cNvPicPr>
          <p:nvPr/>
        </p:nvPicPr>
        <p:blipFill>
          <a:blip r:embed="rId6"/>
          <a:stretch>
            <a:fillRect/>
          </a:stretch>
        </p:blipFill>
        <p:spPr>
          <a:xfrm>
            <a:off x="8037210" y="3599627"/>
            <a:ext cx="207386" cy="207386"/>
          </a:xfrm>
          <a:prstGeom prst="rect">
            <a:avLst/>
          </a:prstGeom>
        </p:spPr>
      </p:pic>
      <p:sp>
        <p:nvSpPr>
          <p:cNvPr id="36" name="Text 28"/>
          <p:cNvSpPr/>
          <p:nvPr/>
        </p:nvSpPr>
        <p:spPr>
          <a:xfrm>
            <a:off x="8534095" y="3392424"/>
            <a:ext cx="292608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Word round-trip</a:t>
            </a:r>
            <a:endParaRPr lang="en-US" sz="1450" dirty="0"/>
          </a:p>
        </p:txBody>
      </p:sp>
      <p:sp>
        <p:nvSpPr>
          <p:cNvPr id="37" name="Text 29"/>
          <p:cNvSpPr/>
          <p:nvPr/>
        </p:nvSpPr>
        <p:spPr>
          <a:xfrm>
            <a:off x="8534095" y="3703320"/>
            <a:ext cx="2926080" cy="384048"/>
          </a:xfrm>
          <a:prstGeom prst="rect">
            <a:avLst/>
          </a:prstGeom>
          <a:noFill/>
          <a:ln/>
        </p:spPr>
        <p:txBody>
          <a:bodyPr wrap="square" lIns="0" tIns="0" rIns="0" bIns="0" rtlCol="0" anchor="ctr"/>
          <a:lstStyle/>
          <a:p>
            <a:pPr indent="0" marL="0">
              <a:lnSpc>
                <a:spcPct val="95000"/>
              </a:lnSpc>
              <a:buNone/>
            </a:pPr>
            <a:r>
              <a:rPr lang="en-US" sz="1150" dirty="0">
                <a:solidFill>
                  <a:srgbClr val="3A4358"/>
                </a:solidFill>
                <a:latin typeface="Calibri" pitchFamily="34" charset="0"/>
                <a:ea typeface="Calibri" pitchFamily="34" charset="-122"/>
                <a:cs typeface="Calibri" pitchFamily="34" charset="-120"/>
              </a:rPr>
              <a:t>Import a .docx, check it, hand it back.</a:t>
            </a:r>
            <a:endParaRPr lang="en-US" sz="1150" dirty="0"/>
          </a:p>
        </p:txBody>
      </p:sp>
      <p:sp>
        <p:nvSpPr>
          <p:cNvPr id="38" name="Shape 30"/>
          <p:cNvSpPr/>
          <p:nvPr/>
        </p:nvSpPr>
        <p:spPr>
          <a:xfrm>
            <a:off x="7050024" y="3703320"/>
            <a:ext cx="615391" cy="0"/>
          </a:xfrm>
          <a:prstGeom prst="line">
            <a:avLst/>
          </a:prstGeom>
          <a:noFill/>
          <a:ln w="19050">
            <a:solidFill>
              <a:srgbClr val="5C6B8C"/>
            </a:solidFill>
            <a:prstDash val="solid"/>
          </a:ln>
        </p:spPr>
      </p:sp>
      <p:sp>
        <p:nvSpPr>
          <p:cNvPr id="39" name="Shape 31"/>
          <p:cNvSpPr/>
          <p:nvPr/>
        </p:nvSpPr>
        <p:spPr>
          <a:xfrm>
            <a:off x="7665415" y="4389120"/>
            <a:ext cx="3977640" cy="914400"/>
          </a:xfrm>
          <a:prstGeom prst="roundRect">
            <a:avLst>
              <a:gd name="adj" fmla="val 9000"/>
            </a:avLst>
          </a:prstGeom>
          <a:solidFill>
            <a:srgbClr val="EEF1F7"/>
          </a:solidFill>
          <a:ln w="12700">
            <a:solidFill>
              <a:srgbClr val="E4E9F2"/>
            </a:solidFill>
            <a:prstDash val="solid"/>
          </a:ln>
        </p:spPr>
      </p:sp>
      <p:sp>
        <p:nvSpPr>
          <p:cNvPr id="40" name="Shape 32"/>
          <p:cNvSpPr/>
          <p:nvPr/>
        </p:nvSpPr>
        <p:spPr>
          <a:xfrm>
            <a:off x="7894015" y="4599432"/>
            <a:ext cx="493776" cy="493776"/>
          </a:xfrm>
          <a:prstGeom prst="ellipse">
            <a:avLst/>
          </a:prstGeom>
          <a:solidFill>
            <a:srgbClr val="E1604A"/>
          </a:solidFill>
          <a:ln/>
        </p:spPr>
      </p:sp>
      <p:pic>
        <p:nvPicPr>
          <p:cNvPr id="41" name="Image 6" descr="preencoded.png">    </p:cNvPr>
          <p:cNvPicPr>
            <a:picLocks noChangeAspect="1"/>
          </p:cNvPicPr>
          <p:nvPr/>
        </p:nvPicPr>
        <p:blipFill>
          <a:blip r:embed="rId7"/>
          <a:stretch>
            <a:fillRect/>
          </a:stretch>
        </p:blipFill>
        <p:spPr>
          <a:xfrm>
            <a:off x="8037210" y="4742627"/>
            <a:ext cx="207386" cy="207386"/>
          </a:xfrm>
          <a:prstGeom prst="rect">
            <a:avLst/>
          </a:prstGeom>
        </p:spPr>
      </p:pic>
      <p:sp>
        <p:nvSpPr>
          <p:cNvPr id="42" name="Text 33"/>
          <p:cNvSpPr/>
          <p:nvPr/>
        </p:nvSpPr>
        <p:spPr>
          <a:xfrm>
            <a:off x="8534095" y="4535424"/>
            <a:ext cx="292608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Structured data</a:t>
            </a:r>
            <a:endParaRPr lang="en-US" sz="1450" dirty="0"/>
          </a:p>
        </p:txBody>
      </p:sp>
      <p:sp>
        <p:nvSpPr>
          <p:cNvPr id="43" name="Text 34"/>
          <p:cNvSpPr/>
          <p:nvPr/>
        </p:nvSpPr>
        <p:spPr>
          <a:xfrm>
            <a:off x="8534095" y="4846320"/>
            <a:ext cx="2926080" cy="384048"/>
          </a:xfrm>
          <a:prstGeom prst="rect">
            <a:avLst/>
          </a:prstGeom>
          <a:noFill/>
          <a:ln/>
        </p:spPr>
        <p:txBody>
          <a:bodyPr wrap="square" lIns="0" tIns="0" rIns="0" bIns="0" rtlCol="0" anchor="ctr"/>
          <a:lstStyle/>
          <a:p>
            <a:pPr indent="0" marL="0">
              <a:lnSpc>
                <a:spcPct val="95000"/>
              </a:lnSpc>
              <a:buNone/>
            </a:pPr>
            <a:r>
              <a:rPr lang="en-US" sz="1150" dirty="0">
                <a:solidFill>
                  <a:srgbClr val="3A4358"/>
                </a:solidFill>
                <a:latin typeface="Calibri" pitchFamily="34" charset="0"/>
                <a:ea typeface="Calibri" pitchFamily="34" charset="-122"/>
                <a:cs typeface="Calibri" pitchFamily="34" charset="-120"/>
              </a:rPr>
              <a:t>Turn finished content into web metadata.</a:t>
            </a:r>
            <a:endParaRPr lang="en-US" sz="1150" dirty="0"/>
          </a:p>
        </p:txBody>
      </p:sp>
      <p:sp>
        <p:nvSpPr>
          <p:cNvPr id="44" name="Shape 35"/>
          <p:cNvSpPr/>
          <p:nvPr/>
        </p:nvSpPr>
        <p:spPr>
          <a:xfrm>
            <a:off x="7050024" y="4846320"/>
            <a:ext cx="615391" cy="0"/>
          </a:xfrm>
          <a:prstGeom prst="line">
            <a:avLst/>
          </a:prstGeom>
          <a:noFill/>
          <a:ln w="19050">
            <a:solidFill>
              <a:srgbClr val="5C6B8C"/>
            </a:solidFill>
            <a:prstDash val="solid"/>
          </a:ln>
        </p:spPr>
      </p:sp>
      <p:sp>
        <p:nvSpPr>
          <p:cNvPr id="45" name="Text 36"/>
          <p:cNvSpPr/>
          <p:nvPr/>
        </p:nvSpPr>
        <p:spPr>
          <a:xfrm>
            <a:off x="548640" y="5623560"/>
            <a:ext cx="11094415" cy="365760"/>
          </a:xfrm>
          <a:prstGeom prst="rect">
            <a:avLst/>
          </a:prstGeom>
          <a:noFill/>
          <a:ln/>
        </p:spPr>
        <p:txBody>
          <a:bodyPr wrap="square" lIns="0" tIns="0" rIns="0" bIns="0" rtlCol="0" anchor="ctr"/>
          <a:lstStyle/>
          <a:p>
            <a:pPr algn="ctr" indent="0" marL="0">
              <a:buNone/>
            </a:pPr>
            <a:r>
              <a:rPr lang="en-US" sz="1350" i="1" dirty="0">
                <a:solidFill>
                  <a:srgbClr val="5C6B8C"/>
                </a:solidFill>
                <a:latin typeface="Calibri" pitchFamily="34" charset="0"/>
                <a:ea typeface="Calibri" pitchFamily="34" charset="-122"/>
                <a:cs typeface="Calibri" pitchFamily="34" charset="-120"/>
              </a:rPr>
              <a:t>Build the checking once — then plug it in wherever writing happens.</a:t>
            </a:r>
            <a:endParaRPr lang="en-US" sz="1350" dirty="0"/>
          </a:p>
        </p:txBody>
      </p:sp>
      <p:sp>
        <p:nvSpPr>
          <p:cNvPr id="46" name="Text 37"/>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47" name="Shape 38"/>
          <p:cNvSpPr/>
          <p:nvPr/>
        </p:nvSpPr>
        <p:spPr>
          <a:xfrm>
            <a:off x="11259007" y="6492240"/>
            <a:ext cx="82296" cy="82296"/>
          </a:xfrm>
          <a:prstGeom prst="ellipse">
            <a:avLst/>
          </a:prstGeom>
          <a:solidFill>
            <a:srgbClr val="E1604A"/>
          </a:solidFill>
          <a:ln/>
        </p:spPr>
      </p:sp>
      <p:sp>
        <p:nvSpPr>
          <p:cNvPr id="48" name="Text 39"/>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DEPLOYMENT · A CLOSER LOOK</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A style gate for AI-written text</a:t>
            </a:r>
            <a:endParaRPr lang="en-US" sz="3200" dirty="0"/>
          </a:p>
        </p:txBody>
      </p:sp>
      <p:sp>
        <p:nvSpPr>
          <p:cNvPr id="4" name="Shape 2"/>
          <p:cNvSpPr/>
          <p:nvPr/>
        </p:nvSpPr>
        <p:spPr>
          <a:xfrm>
            <a:off x="795528" y="2121408"/>
            <a:ext cx="0" cy="2743200"/>
          </a:xfrm>
          <a:prstGeom prst="line">
            <a:avLst/>
          </a:prstGeom>
          <a:noFill/>
          <a:ln w="25400">
            <a:solidFill>
              <a:srgbClr val="E4E9F2"/>
            </a:solidFill>
            <a:prstDash val="solid"/>
          </a:ln>
        </p:spPr>
      </p:sp>
      <p:sp>
        <p:nvSpPr>
          <p:cNvPr id="5" name="Shape 3"/>
          <p:cNvSpPr/>
          <p:nvPr/>
        </p:nvSpPr>
        <p:spPr>
          <a:xfrm>
            <a:off x="548640" y="1874520"/>
            <a:ext cx="493776" cy="493776"/>
          </a:xfrm>
          <a:prstGeom prst="ellipse">
            <a:avLst/>
          </a:prstGeom>
          <a:solidFill>
            <a:srgbClr val="E1604A"/>
          </a:solidFill>
          <a:ln/>
        </p:spPr>
      </p:sp>
      <p:sp>
        <p:nvSpPr>
          <p:cNvPr id="6" name="Text 4"/>
          <p:cNvSpPr/>
          <p:nvPr/>
        </p:nvSpPr>
        <p:spPr>
          <a:xfrm>
            <a:off x="548640" y="1874520"/>
            <a:ext cx="493776" cy="493776"/>
          </a:xfrm>
          <a:prstGeom prst="rect">
            <a:avLst/>
          </a:prstGeom>
          <a:noFill/>
          <a:ln/>
        </p:spPr>
        <p:txBody>
          <a:bodyPr wrap="square" rtlCol="0" anchor="ctr"/>
          <a:lstStyle/>
          <a:p>
            <a:pPr algn="ctr" indent="0" marL="0">
              <a:buNone/>
            </a:pPr>
            <a:r>
              <a:rPr lang="en-US" sz="1404" b="1" dirty="0">
                <a:solidFill>
                  <a:srgbClr val="FFFFFF"/>
                </a:solidFill>
                <a:latin typeface="Cambria" pitchFamily="34" charset="0"/>
                <a:ea typeface="Cambria" pitchFamily="34" charset="-122"/>
                <a:cs typeface="Cambria" pitchFamily="34" charset="-120"/>
              </a:rPr>
              <a:t>1</a:t>
            </a:r>
            <a:endParaRPr lang="en-US" sz="1404" dirty="0"/>
          </a:p>
        </p:txBody>
      </p:sp>
      <p:sp>
        <p:nvSpPr>
          <p:cNvPr id="7" name="Text 5"/>
          <p:cNvSpPr/>
          <p:nvPr/>
        </p:nvSpPr>
        <p:spPr>
          <a:xfrm>
            <a:off x="1261872" y="1856232"/>
            <a:ext cx="5230368" cy="310896"/>
          </a:xfrm>
          <a:prstGeom prst="rect">
            <a:avLst/>
          </a:prstGeom>
          <a:noFill/>
          <a:ln/>
        </p:spPr>
        <p:txBody>
          <a:bodyPr wrap="square" lIns="0" tIns="0" rIns="0" bIns="0" rtlCol="0" anchor="ctr"/>
          <a:lstStyle/>
          <a:p>
            <a:pPr indent="0" marL="0">
              <a:buNone/>
            </a:pPr>
            <a:r>
              <a:rPr lang="en-US" sz="1550" b="1" dirty="0">
                <a:solidFill>
                  <a:srgbClr val="1B2A4A"/>
                </a:solidFill>
                <a:latin typeface="Cambria" pitchFamily="34" charset="0"/>
                <a:ea typeface="Cambria" pitchFamily="34" charset="-122"/>
                <a:cs typeface="Cambria" pitchFamily="34" charset="-120"/>
              </a:rPr>
              <a:t>An AI writes a draft</a:t>
            </a:r>
            <a:endParaRPr lang="en-US" sz="1550" dirty="0"/>
          </a:p>
        </p:txBody>
      </p:sp>
      <p:sp>
        <p:nvSpPr>
          <p:cNvPr id="8" name="Text 6"/>
          <p:cNvSpPr/>
          <p:nvPr/>
        </p:nvSpPr>
        <p:spPr>
          <a:xfrm>
            <a:off x="1261872" y="2167128"/>
            <a:ext cx="5230368" cy="457200"/>
          </a:xfrm>
          <a:prstGeom prst="rect">
            <a:avLst/>
          </a:prstGeom>
          <a:noFill/>
          <a:ln/>
        </p:spPr>
        <p:txBody>
          <a:bodyPr wrap="square" lIns="0" tIns="0" rIns="0" bIns="0" rtlCol="0" anchor="ctr"/>
          <a:lstStyle/>
          <a:p>
            <a:pPr indent="0" marL="0">
              <a:lnSpc>
                <a:spcPct val="100000"/>
              </a:lnSpc>
              <a:buNone/>
            </a:pPr>
            <a:r>
              <a:rPr lang="en-US" sz="1250" dirty="0">
                <a:solidFill>
                  <a:srgbClr val="3A4358"/>
                </a:solidFill>
                <a:latin typeface="Calibri" pitchFamily="34" charset="0"/>
                <a:ea typeface="Calibri" pitchFamily="34" charset="-122"/>
                <a:cs typeface="Calibri" pitchFamily="34" charset="-120"/>
              </a:rPr>
              <a:t>e.g. a chatbot answers a citizen's question.</a:t>
            </a:r>
            <a:endParaRPr lang="en-US" sz="1250" dirty="0"/>
          </a:p>
        </p:txBody>
      </p:sp>
      <p:sp>
        <p:nvSpPr>
          <p:cNvPr id="9" name="Shape 7"/>
          <p:cNvSpPr/>
          <p:nvPr/>
        </p:nvSpPr>
        <p:spPr>
          <a:xfrm>
            <a:off x="548640" y="2788920"/>
            <a:ext cx="493776" cy="493776"/>
          </a:xfrm>
          <a:prstGeom prst="ellipse">
            <a:avLst/>
          </a:prstGeom>
          <a:solidFill>
            <a:srgbClr val="E1604A"/>
          </a:solidFill>
          <a:ln/>
        </p:spPr>
      </p:sp>
      <p:sp>
        <p:nvSpPr>
          <p:cNvPr id="10" name="Text 8"/>
          <p:cNvSpPr/>
          <p:nvPr/>
        </p:nvSpPr>
        <p:spPr>
          <a:xfrm>
            <a:off x="548640" y="2788920"/>
            <a:ext cx="493776" cy="493776"/>
          </a:xfrm>
          <a:prstGeom prst="rect">
            <a:avLst/>
          </a:prstGeom>
          <a:noFill/>
          <a:ln/>
        </p:spPr>
        <p:txBody>
          <a:bodyPr wrap="square" rtlCol="0" anchor="ctr"/>
          <a:lstStyle/>
          <a:p>
            <a:pPr algn="ctr" indent="0" marL="0">
              <a:buNone/>
            </a:pPr>
            <a:r>
              <a:rPr lang="en-US" sz="1404" b="1" dirty="0">
                <a:solidFill>
                  <a:srgbClr val="FFFFFF"/>
                </a:solidFill>
                <a:latin typeface="Cambria" pitchFamily="34" charset="0"/>
                <a:ea typeface="Cambria" pitchFamily="34" charset="-122"/>
                <a:cs typeface="Cambria" pitchFamily="34" charset="-120"/>
              </a:rPr>
              <a:t>2</a:t>
            </a:r>
            <a:endParaRPr lang="en-US" sz="1404" dirty="0"/>
          </a:p>
        </p:txBody>
      </p:sp>
      <p:sp>
        <p:nvSpPr>
          <p:cNvPr id="11" name="Text 9"/>
          <p:cNvSpPr/>
          <p:nvPr/>
        </p:nvSpPr>
        <p:spPr>
          <a:xfrm>
            <a:off x="1261872" y="2770632"/>
            <a:ext cx="5230368" cy="310896"/>
          </a:xfrm>
          <a:prstGeom prst="rect">
            <a:avLst/>
          </a:prstGeom>
          <a:noFill/>
          <a:ln/>
        </p:spPr>
        <p:txBody>
          <a:bodyPr wrap="square" lIns="0" tIns="0" rIns="0" bIns="0" rtlCol="0" anchor="ctr"/>
          <a:lstStyle/>
          <a:p>
            <a:pPr indent="0" marL="0">
              <a:buNone/>
            </a:pPr>
            <a:r>
              <a:rPr lang="en-US" sz="1550" b="1" dirty="0">
                <a:solidFill>
                  <a:srgbClr val="1B2A4A"/>
                </a:solidFill>
                <a:latin typeface="Cambria" pitchFamily="34" charset="0"/>
                <a:ea typeface="Cambria" pitchFamily="34" charset="-122"/>
                <a:cs typeface="Cambria" pitchFamily="34" charset="-120"/>
              </a:rPr>
              <a:t>Octavius checks it</a:t>
            </a:r>
            <a:endParaRPr lang="en-US" sz="1550" dirty="0"/>
          </a:p>
        </p:txBody>
      </p:sp>
      <p:sp>
        <p:nvSpPr>
          <p:cNvPr id="12" name="Text 10"/>
          <p:cNvSpPr/>
          <p:nvPr/>
        </p:nvSpPr>
        <p:spPr>
          <a:xfrm>
            <a:off x="1261872" y="3081528"/>
            <a:ext cx="5230368" cy="457200"/>
          </a:xfrm>
          <a:prstGeom prst="rect">
            <a:avLst/>
          </a:prstGeom>
          <a:noFill/>
          <a:ln/>
        </p:spPr>
        <p:txBody>
          <a:bodyPr wrap="square" lIns="0" tIns="0" rIns="0" bIns="0" rtlCol="0" anchor="ctr"/>
          <a:lstStyle/>
          <a:p>
            <a:pPr indent="0" marL="0">
              <a:lnSpc>
                <a:spcPct val="100000"/>
              </a:lnSpc>
              <a:buNone/>
            </a:pPr>
            <a:r>
              <a:rPr lang="en-US" sz="1250" dirty="0">
                <a:solidFill>
                  <a:srgbClr val="3A4358"/>
                </a:solidFill>
                <a:latin typeface="Calibri" pitchFamily="34" charset="0"/>
                <a:ea typeface="Calibri" pitchFamily="34" charset="-122"/>
                <a:cs typeface="Calibri" pitchFamily="34" charset="-120"/>
              </a:rPr>
              <a:t>the draft is run against the active rulebook.</a:t>
            </a:r>
            <a:endParaRPr lang="en-US" sz="1250" dirty="0"/>
          </a:p>
        </p:txBody>
      </p:sp>
      <p:sp>
        <p:nvSpPr>
          <p:cNvPr id="13" name="Shape 11"/>
          <p:cNvSpPr/>
          <p:nvPr/>
        </p:nvSpPr>
        <p:spPr>
          <a:xfrm>
            <a:off x="548640" y="3703320"/>
            <a:ext cx="493776" cy="493776"/>
          </a:xfrm>
          <a:prstGeom prst="ellipse">
            <a:avLst/>
          </a:prstGeom>
          <a:solidFill>
            <a:srgbClr val="E1604A"/>
          </a:solidFill>
          <a:ln/>
        </p:spPr>
      </p:sp>
      <p:sp>
        <p:nvSpPr>
          <p:cNvPr id="14" name="Text 12"/>
          <p:cNvSpPr/>
          <p:nvPr/>
        </p:nvSpPr>
        <p:spPr>
          <a:xfrm>
            <a:off x="548640" y="3703320"/>
            <a:ext cx="493776" cy="493776"/>
          </a:xfrm>
          <a:prstGeom prst="rect">
            <a:avLst/>
          </a:prstGeom>
          <a:noFill/>
          <a:ln/>
        </p:spPr>
        <p:txBody>
          <a:bodyPr wrap="square" rtlCol="0" anchor="ctr"/>
          <a:lstStyle/>
          <a:p>
            <a:pPr algn="ctr" indent="0" marL="0">
              <a:buNone/>
            </a:pPr>
            <a:r>
              <a:rPr lang="en-US" sz="1404" b="1" dirty="0">
                <a:solidFill>
                  <a:srgbClr val="FFFFFF"/>
                </a:solidFill>
                <a:latin typeface="Cambria" pitchFamily="34" charset="0"/>
                <a:ea typeface="Cambria" pitchFamily="34" charset="-122"/>
                <a:cs typeface="Cambria" pitchFamily="34" charset="-120"/>
              </a:rPr>
              <a:t>3</a:t>
            </a:r>
            <a:endParaRPr lang="en-US" sz="1404" dirty="0"/>
          </a:p>
        </p:txBody>
      </p:sp>
      <p:sp>
        <p:nvSpPr>
          <p:cNvPr id="15" name="Text 13"/>
          <p:cNvSpPr/>
          <p:nvPr/>
        </p:nvSpPr>
        <p:spPr>
          <a:xfrm>
            <a:off x="1261872" y="3685032"/>
            <a:ext cx="5230368" cy="310896"/>
          </a:xfrm>
          <a:prstGeom prst="rect">
            <a:avLst/>
          </a:prstGeom>
          <a:noFill/>
          <a:ln/>
        </p:spPr>
        <p:txBody>
          <a:bodyPr wrap="square" lIns="0" tIns="0" rIns="0" bIns="0" rtlCol="0" anchor="ctr"/>
          <a:lstStyle/>
          <a:p>
            <a:pPr indent="0" marL="0">
              <a:buNone/>
            </a:pPr>
            <a:r>
              <a:rPr lang="en-US" sz="1550" b="1" dirty="0">
                <a:solidFill>
                  <a:srgbClr val="1B2A4A"/>
                </a:solidFill>
                <a:latin typeface="Cambria" pitchFamily="34" charset="0"/>
                <a:ea typeface="Cambria" pitchFamily="34" charset="-122"/>
                <a:cs typeface="Cambria" pitchFamily="34" charset="-120"/>
              </a:rPr>
              <a:t>Show draft + flags</a:t>
            </a:r>
            <a:endParaRPr lang="en-US" sz="1550" dirty="0"/>
          </a:p>
        </p:txBody>
      </p:sp>
      <p:sp>
        <p:nvSpPr>
          <p:cNvPr id="16" name="Text 14"/>
          <p:cNvSpPr/>
          <p:nvPr/>
        </p:nvSpPr>
        <p:spPr>
          <a:xfrm>
            <a:off x="1261872" y="3995928"/>
            <a:ext cx="5230368" cy="457200"/>
          </a:xfrm>
          <a:prstGeom prst="rect">
            <a:avLst/>
          </a:prstGeom>
          <a:noFill/>
          <a:ln/>
        </p:spPr>
        <p:txBody>
          <a:bodyPr wrap="square" lIns="0" tIns="0" rIns="0" bIns="0" rtlCol="0" anchor="ctr"/>
          <a:lstStyle/>
          <a:p>
            <a:pPr indent="0" marL="0">
              <a:lnSpc>
                <a:spcPct val="100000"/>
              </a:lnSpc>
              <a:buNone/>
            </a:pPr>
            <a:r>
              <a:rPr lang="en-US" sz="1250" dirty="0">
                <a:solidFill>
                  <a:srgbClr val="3A4358"/>
                </a:solidFill>
                <a:latin typeface="Calibri" pitchFamily="34" charset="0"/>
                <a:ea typeface="Calibri" pitchFamily="34" charset="-122"/>
                <a:cs typeface="Calibri" pitchFamily="34" charset="-120"/>
              </a:rPr>
              <a:t>the reader sees the text with any issues marked.</a:t>
            </a:r>
            <a:endParaRPr lang="en-US" sz="1250" dirty="0"/>
          </a:p>
        </p:txBody>
      </p:sp>
      <p:sp>
        <p:nvSpPr>
          <p:cNvPr id="17" name="Shape 15"/>
          <p:cNvSpPr/>
          <p:nvPr/>
        </p:nvSpPr>
        <p:spPr>
          <a:xfrm>
            <a:off x="548640" y="4617720"/>
            <a:ext cx="493776" cy="493776"/>
          </a:xfrm>
          <a:prstGeom prst="ellipse">
            <a:avLst/>
          </a:prstGeom>
          <a:solidFill>
            <a:srgbClr val="5C6B8C"/>
          </a:solidFill>
          <a:ln/>
        </p:spPr>
      </p:sp>
      <p:sp>
        <p:nvSpPr>
          <p:cNvPr id="18" name="Text 16"/>
          <p:cNvSpPr/>
          <p:nvPr/>
        </p:nvSpPr>
        <p:spPr>
          <a:xfrm>
            <a:off x="548640" y="4617720"/>
            <a:ext cx="493776" cy="493776"/>
          </a:xfrm>
          <a:prstGeom prst="rect">
            <a:avLst/>
          </a:prstGeom>
          <a:noFill/>
          <a:ln/>
        </p:spPr>
        <p:txBody>
          <a:bodyPr wrap="square" rtlCol="0" anchor="ctr"/>
          <a:lstStyle/>
          <a:p>
            <a:pPr algn="ctr" indent="0" marL="0">
              <a:buNone/>
            </a:pPr>
            <a:r>
              <a:rPr lang="en-US" sz="1404" b="1" dirty="0">
                <a:solidFill>
                  <a:srgbClr val="FFFFFF"/>
                </a:solidFill>
                <a:latin typeface="Cambria" pitchFamily="34" charset="0"/>
                <a:ea typeface="Cambria" pitchFamily="34" charset="-122"/>
                <a:cs typeface="Cambria" pitchFamily="34" charset="-120"/>
              </a:rPr>
              <a:t>4</a:t>
            </a:r>
            <a:endParaRPr lang="en-US" sz="1404" dirty="0"/>
          </a:p>
        </p:txBody>
      </p:sp>
      <p:sp>
        <p:nvSpPr>
          <p:cNvPr id="19" name="Text 17"/>
          <p:cNvSpPr/>
          <p:nvPr/>
        </p:nvSpPr>
        <p:spPr>
          <a:xfrm>
            <a:off x="1261872" y="4599432"/>
            <a:ext cx="5230368" cy="310896"/>
          </a:xfrm>
          <a:prstGeom prst="rect">
            <a:avLst/>
          </a:prstGeom>
          <a:noFill/>
          <a:ln/>
        </p:spPr>
        <p:txBody>
          <a:bodyPr wrap="square" lIns="0" tIns="0" rIns="0" bIns="0" rtlCol="0" anchor="ctr"/>
          <a:lstStyle/>
          <a:p>
            <a:pPr indent="0" marL="0">
              <a:buNone/>
            </a:pPr>
            <a:r>
              <a:rPr lang="en-US" sz="1550" b="1" dirty="0">
                <a:solidFill>
                  <a:srgbClr val="1B2A4A"/>
                </a:solidFill>
                <a:latin typeface="Cambria" pitchFamily="34" charset="0"/>
                <a:ea typeface="Cambria" pitchFamily="34" charset="-122"/>
                <a:cs typeface="Cambria" pitchFamily="34" charset="-120"/>
              </a:rPr>
              <a:t>Optional: one retry</a:t>
            </a:r>
            <a:endParaRPr lang="en-US" sz="1550" dirty="0"/>
          </a:p>
        </p:txBody>
      </p:sp>
      <p:sp>
        <p:nvSpPr>
          <p:cNvPr id="20" name="Text 18"/>
          <p:cNvSpPr/>
          <p:nvPr/>
        </p:nvSpPr>
        <p:spPr>
          <a:xfrm>
            <a:off x="1261872" y="4910328"/>
            <a:ext cx="5230368" cy="457200"/>
          </a:xfrm>
          <a:prstGeom prst="rect">
            <a:avLst/>
          </a:prstGeom>
          <a:noFill/>
          <a:ln/>
        </p:spPr>
        <p:txBody>
          <a:bodyPr wrap="square" lIns="0" tIns="0" rIns="0" bIns="0" rtlCol="0" anchor="ctr"/>
          <a:lstStyle/>
          <a:p>
            <a:pPr indent="0" marL="0">
              <a:lnSpc>
                <a:spcPct val="100000"/>
              </a:lnSpc>
              <a:buNone/>
            </a:pPr>
            <a:r>
              <a:rPr lang="en-US" sz="1250" dirty="0">
                <a:solidFill>
                  <a:srgbClr val="3A4358"/>
                </a:solidFill>
                <a:latin typeface="Calibri" pitchFamily="34" charset="0"/>
                <a:ea typeface="Calibri" pitchFamily="34" charset="-122"/>
                <a:cs typeface="Calibri" pitchFamily="34" charset="-120"/>
              </a:rPr>
              <a:t>the AI may regenerate once, with the issues as instructions.</a:t>
            </a:r>
            <a:endParaRPr lang="en-US" sz="1250" dirty="0"/>
          </a:p>
        </p:txBody>
      </p:sp>
      <p:sp>
        <p:nvSpPr>
          <p:cNvPr id="21" name="Shape 19"/>
          <p:cNvSpPr/>
          <p:nvPr/>
        </p:nvSpPr>
        <p:spPr>
          <a:xfrm>
            <a:off x="6858000" y="1828800"/>
            <a:ext cx="4785055" cy="1097280"/>
          </a:xfrm>
          <a:prstGeom prst="roundRect">
            <a:avLst>
              <a:gd name="adj" fmla="val 8333"/>
            </a:avLst>
          </a:prstGeom>
          <a:solidFill>
            <a:srgbClr val="EEF1F7"/>
          </a:solidFill>
          <a:ln w="12700">
            <a:solidFill>
              <a:srgbClr val="E4E9F2"/>
            </a:solidFill>
            <a:prstDash val="solid"/>
          </a:ln>
        </p:spPr>
      </p:sp>
      <p:sp>
        <p:nvSpPr>
          <p:cNvPr id="22" name="Shape 20"/>
          <p:cNvSpPr/>
          <p:nvPr/>
        </p:nvSpPr>
        <p:spPr>
          <a:xfrm>
            <a:off x="7114032" y="2103120"/>
            <a:ext cx="530352" cy="530352"/>
          </a:xfrm>
          <a:prstGeom prst="ellipse">
            <a:avLst/>
          </a:prstGeom>
          <a:solidFill>
            <a:srgbClr val="E1604A"/>
          </a:solidFill>
          <a:ln/>
        </p:spPr>
      </p:sp>
      <p:pic>
        <p:nvPicPr>
          <p:cNvPr id="23" name="Image 0" descr="preencoded.png">    </p:cNvPr>
          <p:cNvPicPr>
            <a:picLocks noChangeAspect="1"/>
          </p:cNvPicPr>
          <p:nvPr/>
        </p:nvPicPr>
        <p:blipFill>
          <a:blip r:embed="rId1"/>
          <a:stretch>
            <a:fillRect/>
          </a:stretch>
        </p:blipFill>
        <p:spPr>
          <a:xfrm>
            <a:off x="7267834" y="2256922"/>
            <a:ext cx="222748" cy="222748"/>
          </a:xfrm>
          <a:prstGeom prst="rect">
            <a:avLst/>
          </a:prstGeom>
        </p:spPr>
      </p:pic>
      <p:sp>
        <p:nvSpPr>
          <p:cNvPr id="24" name="Text 21"/>
          <p:cNvSpPr/>
          <p:nvPr/>
        </p:nvSpPr>
        <p:spPr>
          <a:xfrm>
            <a:off x="7818120" y="2011680"/>
            <a:ext cx="3642055" cy="329184"/>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Never rewrites silently</a:t>
            </a:r>
            <a:endParaRPr lang="en-US" sz="1500" dirty="0"/>
          </a:p>
        </p:txBody>
      </p:sp>
      <p:sp>
        <p:nvSpPr>
          <p:cNvPr id="25" name="Text 22"/>
          <p:cNvSpPr/>
          <p:nvPr/>
        </p:nvSpPr>
        <p:spPr>
          <a:xfrm>
            <a:off x="7818120" y="2340864"/>
            <a:ext cx="3642055" cy="502920"/>
          </a:xfrm>
          <a:prstGeom prst="rect">
            <a:avLst/>
          </a:prstGeom>
          <a:noFill/>
          <a:ln/>
        </p:spPr>
        <p:txBody>
          <a:bodyPr wrap="square" lIns="0" tIns="0" rIns="0" bIns="0" rtlCol="0" anchor="ctr"/>
          <a:lstStyle/>
          <a:p>
            <a:pPr indent="0" marL="0">
              <a:lnSpc>
                <a:spcPct val="100000"/>
              </a:lnSpc>
              <a:buNone/>
            </a:pPr>
            <a:r>
              <a:rPr lang="en-US" sz="1180" dirty="0">
                <a:solidFill>
                  <a:srgbClr val="3A4358"/>
                </a:solidFill>
                <a:latin typeface="Calibri" pitchFamily="34" charset="0"/>
                <a:ea typeface="Calibri" pitchFamily="34" charset="-122"/>
                <a:cs typeface="Calibri" pitchFamily="34" charset="-120"/>
              </a:rPr>
              <a:t>Any change is shown to the person — never applied behind their back.</a:t>
            </a:r>
            <a:endParaRPr lang="en-US" sz="1180" dirty="0"/>
          </a:p>
        </p:txBody>
      </p:sp>
      <p:sp>
        <p:nvSpPr>
          <p:cNvPr id="26" name="Shape 23"/>
          <p:cNvSpPr/>
          <p:nvPr/>
        </p:nvSpPr>
        <p:spPr>
          <a:xfrm>
            <a:off x="6858000" y="3145536"/>
            <a:ext cx="4785055" cy="1097280"/>
          </a:xfrm>
          <a:prstGeom prst="roundRect">
            <a:avLst>
              <a:gd name="adj" fmla="val 8333"/>
            </a:avLst>
          </a:prstGeom>
          <a:solidFill>
            <a:srgbClr val="EEF1F7"/>
          </a:solidFill>
          <a:ln w="12700">
            <a:solidFill>
              <a:srgbClr val="E4E9F2"/>
            </a:solidFill>
            <a:prstDash val="solid"/>
          </a:ln>
        </p:spPr>
      </p:sp>
      <p:sp>
        <p:nvSpPr>
          <p:cNvPr id="27" name="Shape 24"/>
          <p:cNvSpPr/>
          <p:nvPr/>
        </p:nvSpPr>
        <p:spPr>
          <a:xfrm>
            <a:off x="7114032" y="3419856"/>
            <a:ext cx="530352" cy="530352"/>
          </a:xfrm>
          <a:prstGeom prst="ellipse">
            <a:avLst/>
          </a:prstGeom>
          <a:solidFill>
            <a:srgbClr val="E1604A"/>
          </a:solidFill>
          <a:ln/>
        </p:spPr>
      </p:sp>
      <p:pic>
        <p:nvPicPr>
          <p:cNvPr id="28" name="Image 1" descr="preencoded.png">    </p:cNvPr>
          <p:cNvPicPr>
            <a:picLocks noChangeAspect="1"/>
          </p:cNvPicPr>
          <p:nvPr/>
        </p:nvPicPr>
        <p:blipFill>
          <a:blip r:embed="rId2"/>
          <a:stretch>
            <a:fillRect/>
          </a:stretch>
        </p:blipFill>
        <p:spPr>
          <a:xfrm>
            <a:off x="7267834" y="3573658"/>
            <a:ext cx="222748" cy="222748"/>
          </a:xfrm>
          <a:prstGeom prst="rect">
            <a:avLst/>
          </a:prstGeom>
        </p:spPr>
      </p:pic>
      <p:sp>
        <p:nvSpPr>
          <p:cNvPr id="29" name="Text 25"/>
          <p:cNvSpPr/>
          <p:nvPr/>
        </p:nvSpPr>
        <p:spPr>
          <a:xfrm>
            <a:off x="7818120" y="3328416"/>
            <a:ext cx="3642055" cy="329184"/>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Bounded — one retry</a:t>
            </a:r>
            <a:endParaRPr lang="en-US" sz="1500" dirty="0"/>
          </a:p>
        </p:txBody>
      </p:sp>
      <p:sp>
        <p:nvSpPr>
          <p:cNvPr id="30" name="Text 26"/>
          <p:cNvSpPr/>
          <p:nvPr/>
        </p:nvSpPr>
        <p:spPr>
          <a:xfrm>
            <a:off x="7818120" y="3657600"/>
            <a:ext cx="3642055" cy="502920"/>
          </a:xfrm>
          <a:prstGeom prst="rect">
            <a:avLst/>
          </a:prstGeom>
          <a:noFill/>
          <a:ln/>
        </p:spPr>
        <p:txBody>
          <a:bodyPr wrap="square" lIns="0" tIns="0" rIns="0" bIns="0" rtlCol="0" anchor="ctr"/>
          <a:lstStyle/>
          <a:p>
            <a:pPr indent="0" marL="0">
              <a:lnSpc>
                <a:spcPct val="100000"/>
              </a:lnSpc>
              <a:buNone/>
            </a:pPr>
            <a:r>
              <a:rPr lang="en-US" sz="1180" dirty="0">
                <a:solidFill>
                  <a:srgbClr val="3A4358"/>
                </a:solidFill>
                <a:latin typeface="Calibri" pitchFamily="34" charset="0"/>
                <a:ea typeface="Calibri" pitchFamily="34" charset="-122"/>
                <a:cs typeface="Calibri" pitchFamily="34" charset="-120"/>
              </a:rPr>
              <a:t>At most one regeneration, so cost and delay stay predictable.</a:t>
            </a:r>
            <a:endParaRPr lang="en-US" sz="1180" dirty="0"/>
          </a:p>
        </p:txBody>
      </p:sp>
      <p:sp>
        <p:nvSpPr>
          <p:cNvPr id="31" name="Shape 27"/>
          <p:cNvSpPr/>
          <p:nvPr/>
        </p:nvSpPr>
        <p:spPr>
          <a:xfrm>
            <a:off x="6858000" y="4462272"/>
            <a:ext cx="4785055" cy="1097280"/>
          </a:xfrm>
          <a:prstGeom prst="roundRect">
            <a:avLst>
              <a:gd name="adj" fmla="val 8333"/>
            </a:avLst>
          </a:prstGeom>
          <a:solidFill>
            <a:srgbClr val="EEF1F7"/>
          </a:solidFill>
          <a:ln w="12700">
            <a:solidFill>
              <a:srgbClr val="E4E9F2"/>
            </a:solidFill>
            <a:prstDash val="solid"/>
          </a:ln>
        </p:spPr>
      </p:sp>
      <p:sp>
        <p:nvSpPr>
          <p:cNvPr id="32" name="Shape 28"/>
          <p:cNvSpPr/>
          <p:nvPr/>
        </p:nvSpPr>
        <p:spPr>
          <a:xfrm>
            <a:off x="7114032" y="4736592"/>
            <a:ext cx="530352" cy="530352"/>
          </a:xfrm>
          <a:prstGeom prst="ellipse">
            <a:avLst/>
          </a:prstGeom>
          <a:solidFill>
            <a:srgbClr val="E1604A"/>
          </a:solidFill>
          <a:ln/>
        </p:spPr>
      </p:sp>
      <p:pic>
        <p:nvPicPr>
          <p:cNvPr id="33" name="Image 2" descr="preencoded.png">    </p:cNvPr>
          <p:cNvPicPr>
            <a:picLocks noChangeAspect="1"/>
          </p:cNvPicPr>
          <p:nvPr/>
        </p:nvPicPr>
        <p:blipFill>
          <a:blip r:embed="rId3"/>
          <a:stretch>
            <a:fillRect/>
          </a:stretch>
        </p:blipFill>
        <p:spPr>
          <a:xfrm>
            <a:off x="7267834" y="4890394"/>
            <a:ext cx="222748" cy="222748"/>
          </a:xfrm>
          <a:prstGeom prst="rect">
            <a:avLst/>
          </a:prstGeom>
        </p:spPr>
      </p:pic>
      <p:sp>
        <p:nvSpPr>
          <p:cNvPr id="34" name="Text 29"/>
          <p:cNvSpPr/>
          <p:nvPr/>
        </p:nvSpPr>
        <p:spPr>
          <a:xfrm>
            <a:off x="7818120" y="4645152"/>
            <a:ext cx="3642055" cy="329184"/>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The person stays in control</a:t>
            </a:r>
            <a:endParaRPr lang="en-US" sz="1500" dirty="0"/>
          </a:p>
        </p:txBody>
      </p:sp>
      <p:sp>
        <p:nvSpPr>
          <p:cNvPr id="35" name="Text 30"/>
          <p:cNvSpPr/>
          <p:nvPr/>
        </p:nvSpPr>
        <p:spPr>
          <a:xfrm>
            <a:off x="7818120" y="4974336"/>
            <a:ext cx="3642055" cy="502920"/>
          </a:xfrm>
          <a:prstGeom prst="rect">
            <a:avLst/>
          </a:prstGeom>
          <a:noFill/>
          <a:ln/>
        </p:spPr>
        <p:txBody>
          <a:bodyPr wrap="square" lIns="0" tIns="0" rIns="0" bIns="0" rtlCol="0" anchor="ctr"/>
          <a:lstStyle/>
          <a:p>
            <a:pPr indent="0" marL="0">
              <a:lnSpc>
                <a:spcPct val="100000"/>
              </a:lnSpc>
              <a:buNone/>
            </a:pPr>
            <a:r>
              <a:rPr lang="en-US" sz="1180" dirty="0">
                <a:solidFill>
                  <a:srgbClr val="3A4358"/>
                </a:solidFill>
                <a:latin typeface="Calibri" pitchFamily="34" charset="0"/>
                <a:ea typeface="Calibri" pitchFamily="34" charset="-122"/>
                <a:cs typeface="Calibri" pitchFamily="34" charset="-120"/>
              </a:rPr>
              <a:t>If issues remain, the reader decides what to do.</a:t>
            </a:r>
            <a:endParaRPr lang="en-US" sz="1180" dirty="0"/>
          </a:p>
        </p:txBody>
      </p:sp>
      <p:sp>
        <p:nvSpPr>
          <p:cNvPr id="36" name="Text 31"/>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37" name="Shape 32"/>
          <p:cNvSpPr/>
          <p:nvPr/>
        </p:nvSpPr>
        <p:spPr>
          <a:xfrm>
            <a:off x="11259007" y="6492240"/>
            <a:ext cx="82296" cy="82296"/>
          </a:xfrm>
          <a:prstGeom prst="ellipse">
            <a:avLst/>
          </a:prstGeom>
          <a:solidFill>
            <a:srgbClr val="E1604A"/>
          </a:solidFill>
          <a:ln/>
        </p:spPr>
      </p:sp>
      <p:sp>
        <p:nvSpPr>
          <p:cNvPr id="38" name="Text 33"/>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DEPLOYMENT · THE HARD ONE</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The Word problem: round-tripping is hard</a:t>
            </a:r>
            <a:endParaRPr lang="en-US" sz="3200" dirty="0"/>
          </a:p>
        </p:txBody>
      </p:sp>
      <p:sp>
        <p:nvSpPr>
          <p:cNvPr id="4" name="Shape 2"/>
          <p:cNvSpPr/>
          <p:nvPr/>
        </p:nvSpPr>
        <p:spPr>
          <a:xfrm>
            <a:off x="548640" y="1783080"/>
            <a:ext cx="5318608" cy="3383280"/>
          </a:xfrm>
          <a:prstGeom prst="roundRect">
            <a:avLst>
              <a:gd name="adj" fmla="val 2703"/>
            </a:avLst>
          </a:prstGeom>
          <a:solidFill>
            <a:srgbClr val="EEF1F7"/>
          </a:solidFill>
          <a:ln w="12700">
            <a:solidFill>
              <a:srgbClr val="E4E9F2"/>
            </a:solidFill>
            <a:prstDash val="solid"/>
          </a:ln>
        </p:spPr>
      </p:sp>
      <p:sp>
        <p:nvSpPr>
          <p:cNvPr id="5" name="Shape 3"/>
          <p:cNvSpPr/>
          <p:nvPr/>
        </p:nvSpPr>
        <p:spPr>
          <a:xfrm>
            <a:off x="868680" y="2075688"/>
            <a:ext cx="548640" cy="548640"/>
          </a:xfrm>
          <a:prstGeom prst="ellipse">
            <a:avLst/>
          </a:prstGeom>
          <a:solidFill>
            <a:srgbClr val="5C6B8C"/>
          </a:solidFill>
          <a:ln/>
        </p:spPr>
      </p:sp>
      <p:pic>
        <p:nvPicPr>
          <p:cNvPr id="6" name="Image 0" descr="preencoded.png">    </p:cNvPr>
          <p:cNvPicPr>
            <a:picLocks noChangeAspect="1"/>
          </p:cNvPicPr>
          <p:nvPr/>
        </p:nvPicPr>
        <p:blipFill>
          <a:blip r:embed="rId1"/>
          <a:stretch>
            <a:fillRect/>
          </a:stretch>
        </p:blipFill>
        <p:spPr>
          <a:xfrm>
            <a:off x="1027786" y="2234794"/>
            <a:ext cx="230429" cy="230429"/>
          </a:xfrm>
          <a:prstGeom prst="rect">
            <a:avLst/>
          </a:prstGeom>
        </p:spPr>
      </p:pic>
      <p:sp>
        <p:nvSpPr>
          <p:cNvPr id="7" name="Text 4"/>
          <p:cNvSpPr/>
          <p:nvPr/>
        </p:nvSpPr>
        <p:spPr>
          <a:xfrm>
            <a:off x="1554480" y="2148840"/>
            <a:ext cx="4129888" cy="365760"/>
          </a:xfrm>
          <a:prstGeom prst="rect">
            <a:avLst/>
          </a:prstGeom>
          <a:noFill/>
          <a:ln/>
        </p:spPr>
        <p:txBody>
          <a:bodyPr wrap="square" lIns="0" tIns="0" rIns="0" bIns="0" rtlCol="0" anchor="ctr"/>
          <a:lstStyle/>
          <a:p>
            <a:pPr indent="0" marL="0">
              <a:buNone/>
            </a:pPr>
            <a:r>
              <a:rPr lang="en-US" sz="1800" b="1" dirty="0">
                <a:solidFill>
                  <a:srgbClr val="1B2A4A"/>
                </a:solidFill>
                <a:latin typeface="Cambria" pitchFamily="34" charset="0"/>
                <a:ea typeface="Cambria" pitchFamily="34" charset="-122"/>
                <a:cs typeface="Cambria" pitchFamily="34" charset="-120"/>
              </a:rPr>
              <a:t>The goal</a:t>
            </a:r>
            <a:endParaRPr lang="en-US" sz="1800" dirty="0"/>
          </a:p>
        </p:txBody>
      </p:sp>
      <p:sp>
        <p:nvSpPr>
          <p:cNvPr id="8" name="Text 5"/>
          <p:cNvSpPr/>
          <p:nvPr/>
        </p:nvSpPr>
        <p:spPr>
          <a:xfrm>
            <a:off x="914400" y="2834640"/>
            <a:ext cx="4587088" cy="548640"/>
          </a:xfrm>
          <a:prstGeom prst="rect">
            <a:avLst/>
          </a:prstGeom>
          <a:noFill/>
          <a:ln/>
        </p:spPr>
        <p:txBody>
          <a:bodyPr wrap="square" lIns="0" tIns="0" rIns="0" bIns="0" rtlCol="0" anchor="ctr"/>
          <a:lstStyle/>
          <a:p>
            <a:pPr indent="0" marL="0">
              <a:lnSpc>
                <a:spcPct val="110000"/>
              </a:lnSpc>
              <a:buNone/>
            </a:pPr>
            <a:r>
              <a:rPr lang="en-US" sz="1300" dirty="0">
                <a:solidFill>
                  <a:srgbClr val="3A4358"/>
                </a:solidFill>
                <a:latin typeface="Calibri" pitchFamily="34" charset="0"/>
                <a:ea typeface="Calibri" pitchFamily="34" charset="-122"/>
                <a:cs typeface="Calibri" pitchFamily="34" charset="-120"/>
              </a:rPr>
              <a:t>Most government writing lives in Microsoft Word. Ideally you'd:</a:t>
            </a:r>
            <a:endParaRPr lang="en-US" sz="1300" dirty="0"/>
          </a:p>
        </p:txBody>
      </p:sp>
      <p:sp>
        <p:nvSpPr>
          <p:cNvPr id="9" name="Shape 6"/>
          <p:cNvSpPr/>
          <p:nvPr/>
        </p:nvSpPr>
        <p:spPr>
          <a:xfrm>
            <a:off x="960120" y="3593592"/>
            <a:ext cx="146304" cy="146304"/>
          </a:xfrm>
          <a:prstGeom prst="ellipse">
            <a:avLst/>
          </a:prstGeom>
          <a:solidFill>
            <a:srgbClr val="E1604A"/>
          </a:solidFill>
          <a:ln/>
        </p:spPr>
      </p:sp>
      <p:sp>
        <p:nvSpPr>
          <p:cNvPr id="10" name="Text 7"/>
          <p:cNvSpPr/>
          <p:nvPr/>
        </p:nvSpPr>
        <p:spPr>
          <a:xfrm>
            <a:off x="1234440" y="3493008"/>
            <a:ext cx="4312768" cy="365760"/>
          </a:xfrm>
          <a:prstGeom prst="rect">
            <a:avLst/>
          </a:prstGeom>
          <a:noFill/>
          <a:ln/>
        </p:spPr>
        <p:txBody>
          <a:bodyPr wrap="square" lIns="0" tIns="0" rIns="0" bIns="0" rtlCol="0" anchor="ctr"/>
          <a:lstStyle/>
          <a:p>
            <a:pPr indent="0" marL="0">
              <a:buNone/>
            </a:pPr>
            <a:r>
              <a:rPr lang="en-US" sz="1350" dirty="0">
                <a:solidFill>
                  <a:srgbClr val="1B2A4A"/>
                </a:solidFill>
                <a:latin typeface="Calibri" pitchFamily="34" charset="0"/>
                <a:ea typeface="Calibri" pitchFamily="34" charset="-122"/>
                <a:cs typeface="Calibri" pitchFamily="34" charset="-120"/>
              </a:rPr>
              <a:t>Import the .docx</a:t>
            </a:r>
            <a:endParaRPr lang="en-US" sz="1350" dirty="0"/>
          </a:p>
        </p:txBody>
      </p:sp>
      <p:sp>
        <p:nvSpPr>
          <p:cNvPr id="11" name="Shape 8"/>
          <p:cNvSpPr/>
          <p:nvPr/>
        </p:nvSpPr>
        <p:spPr>
          <a:xfrm>
            <a:off x="960120" y="4050792"/>
            <a:ext cx="146304" cy="146304"/>
          </a:xfrm>
          <a:prstGeom prst="ellipse">
            <a:avLst/>
          </a:prstGeom>
          <a:solidFill>
            <a:srgbClr val="E1604A"/>
          </a:solidFill>
          <a:ln/>
        </p:spPr>
      </p:sp>
      <p:sp>
        <p:nvSpPr>
          <p:cNvPr id="12" name="Text 9"/>
          <p:cNvSpPr/>
          <p:nvPr/>
        </p:nvSpPr>
        <p:spPr>
          <a:xfrm>
            <a:off x="1234440" y="3950208"/>
            <a:ext cx="4312768" cy="365760"/>
          </a:xfrm>
          <a:prstGeom prst="rect">
            <a:avLst/>
          </a:prstGeom>
          <a:noFill/>
          <a:ln/>
        </p:spPr>
        <p:txBody>
          <a:bodyPr wrap="square" lIns="0" tIns="0" rIns="0" bIns="0" rtlCol="0" anchor="ctr"/>
          <a:lstStyle/>
          <a:p>
            <a:pPr indent="0" marL="0">
              <a:buNone/>
            </a:pPr>
            <a:r>
              <a:rPr lang="en-US" sz="1350" dirty="0">
                <a:solidFill>
                  <a:srgbClr val="1B2A4A"/>
                </a:solidFill>
                <a:latin typeface="Calibri" pitchFamily="34" charset="0"/>
                <a:ea typeface="Calibri" pitchFamily="34" charset="-122"/>
                <a:cs typeface="Calibri" pitchFamily="34" charset="-120"/>
              </a:rPr>
              <a:t>Check it against the rulebook</a:t>
            </a:r>
            <a:endParaRPr lang="en-US" sz="1350" dirty="0"/>
          </a:p>
        </p:txBody>
      </p:sp>
      <p:sp>
        <p:nvSpPr>
          <p:cNvPr id="13" name="Shape 10"/>
          <p:cNvSpPr/>
          <p:nvPr/>
        </p:nvSpPr>
        <p:spPr>
          <a:xfrm>
            <a:off x="960120" y="4507992"/>
            <a:ext cx="146304" cy="146304"/>
          </a:xfrm>
          <a:prstGeom prst="ellipse">
            <a:avLst/>
          </a:prstGeom>
          <a:solidFill>
            <a:srgbClr val="E1604A"/>
          </a:solidFill>
          <a:ln/>
        </p:spPr>
      </p:sp>
      <p:sp>
        <p:nvSpPr>
          <p:cNvPr id="14" name="Text 11"/>
          <p:cNvSpPr/>
          <p:nvPr/>
        </p:nvSpPr>
        <p:spPr>
          <a:xfrm>
            <a:off x="1234440" y="4407408"/>
            <a:ext cx="4312768" cy="365760"/>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Hand it back — formatting intact</a:t>
            </a:r>
            <a:endParaRPr lang="en-US" sz="1350" dirty="0"/>
          </a:p>
        </p:txBody>
      </p:sp>
      <p:sp>
        <p:nvSpPr>
          <p:cNvPr id="15" name="Shape 12"/>
          <p:cNvSpPr/>
          <p:nvPr/>
        </p:nvSpPr>
        <p:spPr>
          <a:xfrm>
            <a:off x="6324448" y="1783080"/>
            <a:ext cx="5318608" cy="3383280"/>
          </a:xfrm>
          <a:prstGeom prst="roundRect">
            <a:avLst>
              <a:gd name="adj" fmla="val 2703"/>
            </a:avLst>
          </a:prstGeom>
          <a:solidFill>
            <a:srgbClr val="1B2A4A"/>
          </a:solidFill>
          <a:ln/>
        </p:spPr>
      </p:sp>
      <p:sp>
        <p:nvSpPr>
          <p:cNvPr id="16" name="Shape 13"/>
          <p:cNvSpPr/>
          <p:nvPr/>
        </p:nvSpPr>
        <p:spPr>
          <a:xfrm>
            <a:off x="6644488" y="2075688"/>
            <a:ext cx="548640" cy="548640"/>
          </a:xfrm>
          <a:prstGeom prst="ellipse">
            <a:avLst/>
          </a:prstGeom>
          <a:solidFill>
            <a:srgbClr val="E1604A"/>
          </a:solidFill>
          <a:ln/>
        </p:spPr>
      </p:sp>
      <p:pic>
        <p:nvPicPr>
          <p:cNvPr id="17" name="Image 1" descr="preencoded.png">    </p:cNvPr>
          <p:cNvPicPr>
            <a:picLocks noChangeAspect="1"/>
          </p:cNvPicPr>
          <p:nvPr/>
        </p:nvPicPr>
        <p:blipFill>
          <a:blip r:embed="rId2"/>
          <a:stretch>
            <a:fillRect/>
          </a:stretch>
        </p:blipFill>
        <p:spPr>
          <a:xfrm>
            <a:off x="6803593" y="2234794"/>
            <a:ext cx="230429" cy="230429"/>
          </a:xfrm>
          <a:prstGeom prst="rect">
            <a:avLst/>
          </a:prstGeom>
        </p:spPr>
      </p:pic>
      <p:sp>
        <p:nvSpPr>
          <p:cNvPr id="18" name="Text 14"/>
          <p:cNvSpPr/>
          <p:nvPr/>
        </p:nvSpPr>
        <p:spPr>
          <a:xfrm>
            <a:off x="7330288" y="2148840"/>
            <a:ext cx="4129888"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Why it's hard</a:t>
            </a:r>
            <a:endParaRPr lang="en-US" sz="1800" dirty="0"/>
          </a:p>
        </p:txBody>
      </p:sp>
      <p:sp>
        <p:nvSpPr>
          <p:cNvPr id="19" name="Text 15"/>
          <p:cNvSpPr/>
          <p:nvPr/>
        </p:nvSpPr>
        <p:spPr>
          <a:xfrm>
            <a:off x="6690208" y="2880360"/>
            <a:ext cx="274320" cy="365760"/>
          </a:xfrm>
          <a:prstGeom prst="rect">
            <a:avLst/>
          </a:prstGeom>
          <a:noFill/>
          <a:ln/>
        </p:spPr>
        <p:txBody>
          <a:bodyPr wrap="square" lIns="0" tIns="0" rIns="0" bIns="0" rtlCol="0" anchor="t"/>
          <a:lstStyle/>
          <a:p>
            <a:pPr indent="0" marL="0">
              <a:buNone/>
            </a:pPr>
            <a:r>
              <a:rPr lang="en-US" sz="1500" b="1" dirty="0">
                <a:solidFill>
                  <a:srgbClr val="E1604A"/>
                </a:solidFill>
                <a:latin typeface="Calibri" pitchFamily="34" charset="0"/>
                <a:ea typeface="Calibri" pitchFamily="34" charset="-122"/>
                <a:cs typeface="Calibri" pitchFamily="34" charset="-120"/>
              </a:rPr>
              <a:t>–</a:t>
            </a:r>
            <a:endParaRPr lang="en-US" sz="1500" dirty="0"/>
          </a:p>
        </p:txBody>
      </p:sp>
      <p:sp>
        <p:nvSpPr>
          <p:cNvPr id="20" name="Text 16"/>
          <p:cNvSpPr/>
          <p:nvPr/>
        </p:nvSpPr>
        <p:spPr>
          <a:xfrm>
            <a:off x="6982816" y="2880360"/>
            <a:ext cx="4312768" cy="548640"/>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Word files are richly, messily formatted</a:t>
            </a:r>
            <a:endParaRPr lang="en-US" sz="1300" dirty="0"/>
          </a:p>
        </p:txBody>
      </p:sp>
      <p:sp>
        <p:nvSpPr>
          <p:cNvPr id="21" name="Text 17"/>
          <p:cNvSpPr/>
          <p:nvPr/>
        </p:nvSpPr>
        <p:spPr>
          <a:xfrm>
            <a:off x="6690208" y="3447288"/>
            <a:ext cx="274320" cy="365760"/>
          </a:xfrm>
          <a:prstGeom prst="rect">
            <a:avLst/>
          </a:prstGeom>
          <a:noFill/>
          <a:ln/>
        </p:spPr>
        <p:txBody>
          <a:bodyPr wrap="square" lIns="0" tIns="0" rIns="0" bIns="0" rtlCol="0" anchor="t"/>
          <a:lstStyle/>
          <a:p>
            <a:pPr indent="0" marL="0">
              <a:buNone/>
            </a:pPr>
            <a:r>
              <a:rPr lang="en-US" sz="1500" b="1" dirty="0">
                <a:solidFill>
                  <a:srgbClr val="E1604A"/>
                </a:solidFill>
                <a:latin typeface="Calibri" pitchFamily="34" charset="0"/>
                <a:ea typeface="Calibri" pitchFamily="34" charset="-122"/>
                <a:cs typeface="Calibri" pitchFamily="34" charset="-120"/>
              </a:rPr>
              <a:t>–</a:t>
            </a:r>
            <a:endParaRPr lang="en-US" sz="1500" dirty="0"/>
          </a:p>
        </p:txBody>
      </p:sp>
      <p:sp>
        <p:nvSpPr>
          <p:cNvPr id="22" name="Text 18"/>
          <p:cNvSpPr/>
          <p:nvPr/>
        </p:nvSpPr>
        <p:spPr>
          <a:xfrm>
            <a:off x="6982816" y="3447288"/>
            <a:ext cx="4312768" cy="548640"/>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Custom styles, tables, tracked changes, comments</a:t>
            </a:r>
            <a:endParaRPr lang="en-US" sz="1300" dirty="0"/>
          </a:p>
        </p:txBody>
      </p:sp>
      <p:sp>
        <p:nvSpPr>
          <p:cNvPr id="23" name="Text 19"/>
          <p:cNvSpPr/>
          <p:nvPr/>
        </p:nvSpPr>
        <p:spPr>
          <a:xfrm>
            <a:off x="6690208" y="4014216"/>
            <a:ext cx="274320" cy="365760"/>
          </a:xfrm>
          <a:prstGeom prst="rect">
            <a:avLst/>
          </a:prstGeom>
          <a:noFill/>
          <a:ln/>
        </p:spPr>
        <p:txBody>
          <a:bodyPr wrap="square" lIns="0" tIns="0" rIns="0" bIns="0" rtlCol="0" anchor="t"/>
          <a:lstStyle/>
          <a:p>
            <a:pPr indent="0" marL="0">
              <a:buNone/>
            </a:pPr>
            <a:r>
              <a:rPr lang="en-US" sz="1500" b="1" dirty="0">
                <a:solidFill>
                  <a:srgbClr val="E1604A"/>
                </a:solidFill>
                <a:latin typeface="Calibri" pitchFamily="34" charset="0"/>
                <a:ea typeface="Calibri" pitchFamily="34" charset="-122"/>
                <a:cs typeface="Calibri" pitchFamily="34" charset="-120"/>
              </a:rPr>
              <a:t>–</a:t>
            </a:r>
            <a:endParaRPr lang="en-US" sz="1500" dirty="0"/>
          </a:p>
        </p:txBody>
      </p:sp>
      <p:sp>
        <p:nvSpPr>
          <p:cNvPr id="24" name="Text 20"/>
          <p:cNvSpPr/>
          <p:nvPr/>
        </p:nvSpPr>
        <p:spPr>
          <a:xfrm>
            <a:off x="6982816" y="4014216"/>
            <a:ext cx="4312768" cy="548640"/>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Converting in — and back out — can drop or alter formatting</a:t>
            </a:r>
            <a:endParaRPr lang="en-US" sz="1300" dirty="0"/>
          </a:p>
        </p:txBody>
      </p:sp>
      <p:sp>
        <p:nvSpPr>
          <p:cNvPr id="25" name="Text 21"/>
          <p:cNvSpPr/>
          <p:nvPr/>
        </p:nvSpPr>
        <p:spPr>
          <a:xfrm>
            <a:off x="6690208" y="4581144"/>
            <a:ext cx="274320" cy="365760"/>
          </a:xfrm>
          <a:prstGeom prst="rect">
            <a:avLst/>
          </a:prstGeom>
          <a:noFill/>
          <a:ln/>
        </p:spPr>
        <p:txBody>
          <a:bodyPr wrap="square" lIns="0" tIns="0" rIns="0" bIns="0" rtlCol="0" anchor="t"/>
          <a:lstStyle/>
          <a:p>
            <a:pPr indent="0" marL="0">
              <a:buNone/>
            </a:pPr>
            <a:r>
              <a:rPr lang="en-US" sz="1500" b="1" dirty="0">
                <a:solidFill>
                  <a:srgbClr val="E1604A"/>
                </a:solidFill>
                <a:latin typeface="Calibri" pitchFamily="34" charset="0"/>
                <a:ea typeface="Calibri" pitchFamily="34" charset="-122"/>
                <a:cs typeface="Calibri" pitchFamily="34" charset="-120"/>
              </a:rPr>
              <a:t>–</a:t>
            </a:r>
            <a:endParaRPr lang="en-US" sz="1500" dirty="0"/>
          </a:p>
        </p:txBody>
      </p:sp>
      <p:sp>
        <p:nvSpPr>
          <p:cNvPr id="26" name="Text 22"/>
          <p:cNvSpPr/>
          <p:nvPr/>
        </p:nvSpPr>
        <p:spPr>
          <a:xfrm>
            <a:off x="6982816" y="4581144"/>
            <a:ext cx="4312768" cy="548640"/>
          </a:xfrm>
          <a:prstGeom prst="rect">
            <a:avLst/>
          </a:prstGeom>
          <a:noFill/>
          <a:ln/>
        </p:spPr>
        <p:txBody>
          <a:bodyPr wrap="square" lIns="0" tIns="0" rIns="0" bIns="0"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 perfect round-trip can't be guaranteed</a:t>
            </a:r>
            <a:endParaRPr lang="en-US" sz="1300" dirty="0"/>
          </a:p>
        </p:txBody>
      </p:sp>
      <p:sp>
        <p:nvSpPr>
          <p:cNvPr id="27" name="Shape 23"/>
          <p:cNvSpPr/>
          <p:nvPr/>
        </p:nvSpPr>
        <p:spPr>
          <a:xfrm>
            <a:off x="548640" y="5440680"/>
            <a:ext cx="11094415" cy="548640"/>
          </a:xfrm>
          <a:prstGeom prst="roundRect">
            <a:avLst>
              <a:gd name="adj" fmla="val 13333"/>
            </a:avLst>
          </a:prstGeom>
          <a:solidFill>
            <a:srgbClr val="1B2A4A"/>
          </a:solidFill>
          <a:ln/>
        </p:spPr>
      </p:sp>
      <p:sp>
        <p:nvSpPr>
          <p:cNvPr id="28" name="Text 24"/>
          <p:cNvSpPr/>
          <p:nvPr/>
        </p:nvSpPr>
        <p:spPr>
          <a:xfrm>
            <a:off x="822960" y="5440680"/>
            <a:ext cx="10545775" cy="548640"/>
          </a:xfrm>
          <a:prstGeom prst="rect">
            <a:avLst/>
          </a:prstGeom>
          <a:noFill/>
          <a:ln/>
        </p:spPr>
        <p:txBody>
          <a:bodyPr wrap="square" lIns="0" tIns="0" rIns="0" bIns="0" rtlCol="0" anchor="ctr"/>
          <a:lstStyle/>
          <a:p>
            <a:pPr indent="0" marL="0">
              <a:buNone/>
            </a:pPr>
            <a:r>
              <a:rPr lang="en-US" sz="1250" b="1" dirty="0">
                <a:solidFill>
                  <a:srgbClr val="E1604A"/>
                </a:solidFill>
                <a:latin typeface="Calibri" pitchFamily="34" charset="0"/>
                <a:ea typeface="Calibri" pitchFamily="34" charset="-122"/>
                <a:cs typeface="Calibri" pitchFamily="34" charset="-120"/>
              </a:rPr>
              <a:t>The honest design stance:  </a:t>
            </a:r>
            <a:pPr indent="0" marL="0">
              <a:buNone/>
            </a:pPr>
            <a:r>
              <a:rPr lang="en-US" sz="1250" dirty="0">
                <a:solidFill>
                  <a:srgbClr val="FFFFFF"/>
                </a:solidFill>
                <a:latin typeface="Calibri" pitchFamily="34" charset="0"/>
                <a:ea typeface="Calibri" pitchFamily="34" charset="-122"/>
                <a:cs typeface="Calibri" pitchFamily="34" charset="-120"/>
              </a:rPr>
              <a:t>treat a perfect round-trip as best-effort, and report every formatting change instead of hiding it.</a:t>
            </a:r>
            <a:endParaRPr lang="en-US" sz="1250" dirty="0"/>
          </a:p>
        </p:txBody>
      </p:sp>
      <p:sp>
        <p:nvSpPr>
          <p:cNvPr id="29" name="Text 25"/>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30" name="Shape 26"/>
          <p:cNvSpPr/>
          <p:nvPr/>
        </p:nvSpPr>
        <p:spPr>
          <a:xfrm>
            <a:off x="11259007" y="6492240"/>
            <a:ext cx="82296" cy="82296"/>
          </a:xfrm>
          <a:prstGeom prst="ellipse">
            <a:avLst/>
          </a:prstGeom>
          <a:solidFill>
            <a:srgbClr val="E1604A"/>
          </a:solidFill>
          <a:ln/>
        </p:spPr>
      </p:sp>
      <p:sp>
        <p:nvSpPr>
          <p:cNvPr id="31" name="Text 27"/>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BEING HONEST · WHERE IT FALLS SHORT</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Right now, it flags too much</a:t>
            </a:r>
            <a:endParaRPr lang="en-US" sz="3200" dirty="0"/>
          </a:p>
        </p:txBody>
      </p:sp>
      <p:sp>
        <p:nvSpPr>
          <p:cNvPr id="4" name="Shape 2"/>
          <p:cNvSpPr/>
          <p:nvPr/>
        </p:nvSpPr>
        <p:spPr>
          <a:xfrm>
            <a:off x="548640" y="1828800"/>
            <a:ext cx="4206240" cy="3886200"/>
          </a:xfrm>
          <a:prstGeom prst="roundRect">
            <a:avLst>
              <a:gd name="adj" fmla="val 2824"/>
            </a:avLst>
          </a:prstGeom>
          <a:solidFill>
            <a:srgbClr val="1B2A4A"/>
          </a:solidFill>
          <a:ln/>
        </p:spPr>
      </p:sp>
      <p:sp>
        <p:nvSpPr>
          <p:cNvPr id="5" name="Text 3"/>
          <p:cNvSpPr/>
          <p:nvPr/>
        </p:nvSpPr>
        <p:spPr>
          <a:xfrm>
            <a:off x="914400" y="2194560"/>
            <a:ext cx="3474720" cy="457200"/>
          </a:xfrm>
          <a:prstGeom prst="rect">
            <a:avLst/>
          </a:prstGeom>
          <a:noFill/>
          <a:ln/>
        </p:spPr>
        <p:txBody>
          <a:bodyPr wrap="square" lIns="0" tIns="0" rIns="0" bIns="0" rtlCol="0" anchor="ctr"/>
          <a:lstStyle/>
          <a:p>
            <a:pPr algn="ctr" indent="0" marL="0">
              <a:lnSpc>
                <a:spcPct val="105000"/>
              </a:lnSpc>
              <a:buNone/>
            </a:pPr>
            <a:r>
              <a:rPr lang="en-US" sz="1300" dirty="0">
                <a:solidFill>
                  <a:srgbClr val="C9D6EF"/>
                </a:solidFill>
                <a:latin typeface="Calibri" pitchFamily="34" charset="0"/>
                <a:ea typeface="Calibri" pitchFamily="34" charset="-122"/>
                <a:cs typeface="Calibri" pitchFamily="34" charset="-120"/>
              </a:rPr>
              <a:t>On one short, informal snippet:</a:t>
            </a:r>
            <a:endParaRPr lang="en-US" sz="1300" dirty="0"/>
          </a:p>
        </p:txBody>
      </p:sp>
      <p:sp>
        <p:nvSpPr>
          <p:cNvPr id="6" name="Text 4"/>
          <p:cNvSpPr/>
          <p:nvPr/>
        </p:nvSpPr>
        <p:spPr>
          <a:xfrm>
            <a:off x="548640" y="2697480"/>
            <a:ext cx="4206240" cy="1188720"/>
          </a:xfrm>
          <a:prstGeom prst="rect">
            <a:avLst/>
          </a:prstGeom>
          <a:noFill/>
          <a:ln/>
        </p:spPr>
        <p:txBody>
          <a:bodyPr wrap="square" lIns="0" tIns="0" rIns="0" bIns="0" rtlCol="0" anchor="ctr"/>
          <a:lstStyle/>
          <a:p>
            <a:pPr algn="ctr" indent="0" marL="0">
              <a:buNone/>
            </a:pPr>
            <a:r>
              <a:rPr lang="en-US" sz="8400" b="1" dirty="0">
                <a:solidFill>
                  <a:srgbClr val="E1604A"/>
                </a:solidFill>
                <a:latin typeface="Cambria" pitchFamily="34" charset="0"/>
                <a:ea typeface="Cambria" pitchFamily="34" charset="-122"/>
                <a:cs typeface="Cambria" pitchFamily="34" charset="-120"/>
              </a:rPr>
              <a:t>33</a:t>
            </a:r>
            <a:endParaRPr lang="en-US" sz="8400" dirty="0"/>
          </a:p>
        </p:txBody>
      </p:sp>
      <p:sp>
        <p:nvSpPr>
          <p:cNvPr id="7" name="Text 5"/>
          <p:cNvSpPr/>
          <p:nvPr/>
        </p:nvSpPr>
        <p:spPr>
          <a:xfrm>
            <a:off x="548640" y="3840480"/>
            <a:ext cx="4206240" cy="32004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flags raised</a:t>
            </a:r>
            <a:endParaRPr lang="en-US" sz="1400" dirty="0"/>
          </a:p>
        </p:txBody>
      </p:sp>
      <p:sp>
        <p:nvSpPr>
          <p:cNvPr id="8" name="Text 6"/>
          <p:cNvSpPr/>
          <p:nvPr/>
        </p:nvSpPr>
        <p:spPr>
          <a:xfrm>
            <a:off x="548640" y="4160520"/>
            <a:ext cx="4206240" cy="457200"/>
          </a:xfrm>
          <a:prstGeom prst="rect">
            <a:avLst/>
          </a:prstGeom>
          <a:noFill/>
          <a:ln/>
        </p:spPr>
        <p:txBody>
          <a:bodyPr wrap="square" lIns="0" tIns="0" rIns="0" bIns="0" rtlCol="0" anchor="ctr"/>
          <a:lstStyle/>
          <a:p>
            <a:pPr algn="ctr" indent="0" marL="0">
              <a:buNone/>
            </a:pPr>
            <a:r>
              <a:rPr lang="en-US" sz="2600" b="1" dirty="0">
                <a:solidFill>
                  <a:srgbClr val="5C6B8C"/>
                </a:solidFill>
                <a:latin typeface="Calibri" pitchFamily="34" charset="0"/>
                <a:ea typeface="Calibri" pitchFamily="34" charset="-122"/>
                <a:cs typeface="Calibri" pitchFamily="34" charset="-120"/>
              </a:rPr>
              <a:t>↓</a:t>
            </a:r>
            <a:endParaRPr lang="en-US" sz="2600" dirty="0"/>
          </a:p>
        </p:txBody>
      </p:sp>
      <p:sp>
        <p:nvSpPr>
          <p:cNvPr id="9" name="Text 7"/>
          <p:cNvSpPr/>
          <p:nvPr/>
        </p:nvSpPr>
        <p:spPr>
          <a:xfrm>
            <a:off x="548640" y="4617720"/>
            <a:ext cx="420624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when a handful </a:t>
            </a:r>
            <a:pPr algn="ctr" indent="0" marL="0">
              <a:buNone/>
            </a:pPr>
            <a:r>
              <a:rPr lang="en-US" sz="1500" dirty="0">
                <a:solidFill>
                  <a:srgbClr val="C9D6EF"/>
                </a:solidFill>
                <a:latin typeface="Calibri" pitchFamily="34" charset="0"/>
                <a:ea typeface="Calibri" pitchFamily="34" charset="-122"/>
                <a:cs typeface="Calibri" pitchFamily="34" charset="-120"/>
              </a:rPr>
              <a:t>would do</a:t>
            </a:r>
            <a:endParaRPr lang="en-US" sz="1500" dirty="0"/>
          </a:p>
        </p:txBody>
      </p:sp>
      <p:sp>
        <p:nvSpPr>
          <p:cNvPr id="10" name="Text 8"/>
          <p:cNvSpPr/>
          <p:nvPr/>
        </p:nvSpPr>
        <p:spPr>
          <a:xfrm>
            <a:off x="822960" y="5120640"/>
            <a:ext cx="3657600" cy="457200"/>
          </a:xfrm>
          <a:prstGeom prst="rect">
            <a:avLst/>
          </a:prstGeom>
          <a:noFill/>
          <a:ln/>
        </p:spPr>
        <p:txBody>
          <a:bodyPr wrap="square" lIns="0" tIns="0" rIns="0" bIns="0" rtlCol="0" anchor="ctr"/>
          <a:lstStyle/>
          <a:p>
            <a:pPr algn="ctr" indent="0" marL="0">
              <a:buNone/>
            </a:pPr>
            <a:r>
              <a:rPr lang="en-US" sz="1100" i="1" dirty="0">
                <a:solidFill>
                  <a:srgbClr val="5C6B8C"/>
                </a:solidFill>
                <a:latin typeface="Calibri" pitchFamily="34" charset="0"/>
                <a:ea typeface="Calibri" pitchFamily="34" charset="-122"/>
                <a:cs typeface="Calibri" pitchFamily="34" charset="-120"/>
              </a:rPr>
              <a:t>(the old engine ran every rule on every sentence)</a:t>
            </a:r>
            <a:endParaRPr lang="en-US" sz="1100" dirty="0"/>
          </a:p>
        </p:txBody>
      </p:sp>
      <p:sp>
        <p:nvSpPr>
          <p:cNvPr id="11" name="Shape 9"/>
          <p:cNvSpPr/>
          <p:nvPr/>
        </p:nvSpPr>
        <p:spPr>
          <a:xfrm>
            <a:off x="5074920" y="1874520"/>
            <a:ext cx="548640" cy="548640"/>
          </a:xfrm>
          <a:prstGeom prst="ellipse">
            <a:avLst/>
          </a:prstGeom>
          <a:solidFill>
            <a:srgbClr val="E1604A"/>
          </a:solidFill>
          <a:ln/>
        </p:spPr>
      </p:sp>
      <p:pic>
        <p:nvPicPr>
          <p:cNvPr id="12" name="Image 0" descr="preencoded.png">    </p:cNvPr>
          <p:cNvPicPr>
            <a:picLocks noChangeAspect="1"/>
          </p:cNvPicPr>
          <p:nvPr/>
        </p:nvPicPr>
        <p:blipFill>
          <a:blip r:embed="rId1"/>
          <a:stretch>
            <a:fillRect/>
          </a:stretch>
        </p:blipFill>
        <p:spPr>
          <a:xfrm>
            <a:off x="5234026" y="2033626"/>
            <a:ext cx="230429" cy="230429"/>
          </a:xfrm>
          <a:prstGeom prst="rect">
            <a:avLst/>
          </a:prstGeom>
        </p:spPr>
      </p:pic>
      <p:sp>
        <p:nvSpPr>
          <p:cNvPr id="13" name="Text 10"/>
          <p:cNvSpPr/>
          <p:nvPr/>
        </p:nvSpPr>
        <p:spPr>
          <a:xfrm>
            <a:off x="5824728" y="1837944"/>
            <a:ext cx="5818327" cy="320040"/>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It runs every rule, everywhere</a:t>
            </a:r>
            <a:endParaRPr lang="en-US" sz="1650" dirty="0"/>
          </a:p>
        </p:txBody>
      </p:sp>
      <p:sp>
        <p:nvSpPr>
          <p:cNvPr id="14" name="Text 11"/>
          <p:cNvSpPr/>
          <p:nvPr/>
        </p:nvSpPr>
        <p:spPr>
          <a:xfrm>
            <a:off x="5824728" y="2185416"/>
            <a:ext cx="5818327" cy="640080"/>
          </a:xfrm>
          <a:prstGeom prst="rect">
            <a:avLst/>
          </a:prstGeom>
          <a:noFill/>
          <a:ln/>
        </p:spPr>
        <p:txBody>
          <a:bodyPr wrap="square" lIns="0" tIns="0" rIns="0" bIns="0" rtlCol="0" anchor="ctr"/>
          <a:lstStyle/>
          <a:p>
            <a:pPr indent="0" marL="0">
              <a:lnSpc>
                <a:spcPct val="105000"/>
              </a:lnSpc>
              <a:buNone/>
            </a:pPr>
            <a:r>
              <a:rPr lang="en-US" sz="1300" dirty="0">
                <a:solidFill>
                  <a:srgbClr val="3A4358"/>
                </a:solidFill>
                <a:latin typeface="Calibri" pitchFamily="34" charset="0"/>
                <a:ea typeface="Calibri" pitchFamily="34" charset="-122"/>
                <a:cs typeface="Calibri" pitchFamily="34" charset="-120"/>
              </a:rPr>
              <a:t>No sense of which checks are even relevant to the sentence in front of it.</a:t>
            </a:r>
            <a:endParaRPr lang="en-US" sz="1300" dirty="0"/>
          </a:p>
        </p:txBody>
      </p:sp>
      <p:sp>
        <p:nvSpPr>
          <p:cNvPr id="15" name="Shape 12"/>
          <p:cNvSpPr/>
          <p:nvPr/>
        </p:nvSpPr>
        <p:spPr>
          <a:xfrm>
            <a:off x="5074920" y="2926080"/>
            <a:ext cx="548640" cy="548640"/>
          </a:xfrm>
          <a:prstGeom prst="ellipse">
            <a:avLst/>
          </a:prstGeom>
          <a:solidFill>
            <a:srgbClr val="E1604A"/>
          </a:solidFill>
          <a:ln/>
        </p:spPr>
      </p:sp>
      <p:pic>
        <p:nvPicPr>
          <p:cNvPr id="16" name="Image 1" descr="preencoded.png">    </p:cNvPr>
          <p:cNvPicPr>
            <a:picLocks noChangeAspect="1"/>
          </p:cNvPicPr>
          <p:nvPr/>
        </p:nvPicPr>
        <p:blipFill>
          <a:blip r:embed="rId2"/>
          <a:stretch>
            <a:fillRect/>
          </a:stretch>
        </p:blipFill>
        <p:spPr>
          <a:xfrm>
            <a:off x="5234026" y="3085186"/>
            <a:ext cx="230429" cy="230429"/>
          </a:xfrm>
          <a:prstGeom prst="rect">
            <a:avLst/>
          </a:prstGeom>
        </p:spPr>
      </p:pic>
      <p:sp>
        <p:nvSpPr>
          <p:cNvPr id="17" name="Text 13"/>
          <p:cNvSpPr/>
          <p:nvPr/>
        </p:nvSpPr>
        <p:spPr>
          <a:xfrm>
            <a:off x="5824728" y="2889504"/>
            <a:ext cx="5818327" cy="320040"/>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It ignores register</a:t>
            </a:r>
            <a:endParaRPr lang="en-US" sz="1650" dirty="0"/>
          </a:p>
        </p:txBody>
      </p:sp>
      <p:sp>
        <p:nvSpPr>
          <p:cNvPr id="18" name="Text 14"/>
          <p:cNvSpPr/>
          <p:nvPr/>
        </p:nvSpPr>
        <p:spPr>
          <a:xfrm>
            <a:off x="5824728" y="3236976"/>
            <a:ext cx="5818327" cy="640080"/>
          </a:xfrm>
          <a:prstGeom prst="rect">
            <a:avLst/>
          </a:prstGeom>
          <a:noFill/>
          <a:ln/>
        </p:spPr>
        <p:txBody>
          <a:bodyPr wrap="square" lIns="0" tIns="0" rIns="0" bIns="0" rtlCol="0" anchor="ctr"/>
          <a:lstStyle/>
          <a:p>
            <a:pPr indent="0" marL="0">
              <a:lnSpc>
                <a:spcPct val="105000"/>
              </a:lnSpc>
              <a:buNone/>
            </a:pPr>
            <a:r>
              <a:rPr lang="en-US" sz="1300" dirty="0">
                <a:solidFill>
                  <a:srgbClr val="3A4358"/>
                </a:solidFill>
                <a:latin typeface="Calibri" pitchFamily="34" charset="0"/>
                <a:ea typeface="Calibri" pitchFamily="34" charset="-122"/>
                <a:cs typeface="Calibri" pitchFamily="34" charset="-120"/>
              </a:rPr>
              <a:t>A quick note and a formal letter get judged by exactly the same rules.</a:t>
            </a:r>
            <a:endParaRPr lang="en-US" sz="1300" dirty="0"/>
          </a:p>
        </p:txBody>
      </p:sp>
      <p:sp>
        <p:nvSpPr>
          <p:cNvPr id="19" name="Shape 15"/>
          <p:cNvSpPr/>
          <p:nvPr/>
        </p:nvSpPr>
        <p:spPr>
          <a:xfrm>
            <a:off x="5074920" y="3977640"/>
            <a:ext cx="548640" cy="548640"/>
          </a:xfrm>
          <a:prstGeom prst="ellipse">
            <a:avLst/>
          </a:prstGeom>
          <a:solidFill>
            <a:srgbClr val="E1604A"/>
          </a:solidFill>
          <a:ln/>
        </p:spPr>
      </p:sp>
      <p:pic>
        <p:nvPicPr>
          <p:cNvPr id="20" name="Image 2" descr="preencoded.png">    </p:cNvPr>
          <p:cNvPicPr>
            <a:picLocks noChangeAspect="1"/>
          </p:cNvPicPr>
          <p:nvPr/>
        </p:nvPicPr>
        <p:blipFill>
          <a:blip r:embed="rId3"/>
          <a:stretch>
            <a:fillRect/>
          </a:stretch>
        </p:blipFill>
        <p:spPr>
          <a:xfrm>
            <a:off x="5234026" y="4136746"/>
            <a:ext cx="230429" cy="230429"/>
          </a:xfrm>
          <a:prstGeom prst="rect">
            <a:avLst/>
          </a:prstGeom>
        </p:spPr>
      </p:pic>
      <p:sp>
        <p:nvSpPr>
          <p:cNvPr id="21" name="Text 16"/>
          <p:cNvSpPr/>
          <p:nvPr/>
        </p:nvSpPr>
        <p:spPr>
          <a:xfrm>
            <a:off x="5824728" y="3941064"/>
            <a:ext cx="5818327" cy="320040"/>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It automates judgement calls</a:t>
            </a:r>
            <a:endParaRPr lang="en-US" sz="1650" dirty="0"/>
          </a:p>
        </p:txBody>
      </p:sp>
      <p:sp>
        <p:nvSpPr>
          <p:cNvPr id="22" name="Text 17"/>
          <p:cNvSpPr/>
          <p:nvPr/>
        </p:nvSpPr>
        <p:spPr>
          <a:xfrm>
            <a:off x="5824728" y="4288536"/>
            <a:ext cx="5818327" cy="640080"/>
          </a:xfrm>
          <a:prstGeom prst="rect">
            <a:avLst/>
          </a:prstGeom>
          <a:noFill/>
          <a:ln/>
        </p:spPr>
        <p:txBody>
          <a:bodyPr wrap="square" lIns="0" tIns="0" rIns="0" bIns="0" rtlCol="0" anchor="ctr"/>
          <a:lstStyle/>
          <a:p>
            <a:pPr indent="0" marL="0">
              <a:lnSpc>
                <a:spcPct val="105000"/>
              </a:lnSpc>
              <a:buNone/>
            </a:pPr>
            <a:r>
              <a:rPr lang="en-US" sz="1300" dirty="0">
                <a:solidFill>
                  <a:srgbClr val="3A4358"/>
                </a:solidFill>
                <a:latin typeface="Calibri" pitchFamily="34" charset="0"/>
                <a:ea typeface="Calibri" pitchFamily="34" charset="-122"/>
                <a:cs typeface="Calibri" pitchFamily="34" charset="-120"/>
              </a:rPr>
              <a:t>Tone and cultural-appropriateness aren't yes/no — flagging them adds noise.</a:t>
            </a:r>
            <a:endParaRPr lang="en-US" sz="1300" dirty="0"/>
          </a:p>
        </p:txBody>
      </p:sp>
      <p:sp>
        <p:nvSpPr>
          <p:cNvPr id="23" name="Text 18"/>
          <p:cNvSpPr/>
          <p:nvPr/>
        </p:nvSpPr>
        <p:spPr>
          <a:xfrm>
            <a:off x="5074920" y="5212080"/>
            <a:ext cx="6568135" cy="548640"/>
          </a:xfrm>
          <a:prstGeom prst="rect">
            <a:avLst/>
          </a:prstGeom>
          <a:noFill/>
          <a:ln/>
        </p:spPr>
        <p:txBody>
          <a:bodyPr wrap="square" lIns="0" tIns="0" rIns="0" bIns="0" rtlCol="0" anchor="t"/>
          <a:lstStyle/>
          <a:p>
            <a:pPr indent="0" marL="0">
              <a:lnSpc>
                <a:spcPct val="105000"/>
              </a:lnSpc>
              <a:buNone/>
            </a:pPr>
            <a:r>
              <a:rPr lang="en-US" sz="1300" b="1" dirty="0">
                <a:solidFill>
                  <a:srgbClr val="E1604A"/>
                </a:solidFill>
                <a:latin typeface="Calibri" pitchFamily="34" charset="0"/>
                <a:ea typeface="Calibri" pitchFamily="34" charset="-122"/>
                <a:cs typeface="Calibri" pitchFamily="34" charset="-120"/>
              </a:rPr>
              <a:t>Why this matters:  </a:t>
            </a:r>
            <a:pPr indent="0" marL="0">
              <a:lnSpc>
                <a:spcPct val="105000"/>
              </a:lnSpc>
              <a:buNone/>
            </a:pPr>
            <a:r>
              <a:rPr lang="en-US" sz="1300" dirty="0">
                <a:solidFill>
                  <a:srgbClr val="1B2A4A"/>
                </a:solidFill>
                <a:latin typeface="Calibri" pitchFamily="34" charset="0"/>
                <a:ea typeface="Calibri" pitchFamily="34" charset="-122"/>
                <a:cs typeface="Calibri" pitchFamily="34" charset="-120"/>
              </a:rPr>
              <a:t>in a writing checker, false alarms — not missed issues — are what make people switch it off.</a:t>
            </a:r>
            <a:endParaRPr lang="en-US" sz="1300" dirty="0"/>
          </a:p>
        </p:txBody>
      </p:sp>
      <p:sp>
        <p:nvSpPr>
          <p:cNvPr id="24" name="Text 19"/>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25" name="Shape 20"/>
          <p:cNvSpPr/>
          <p:nvPr/>
        </p:nvSpPr>
        <p:spPr>
          <a:xfrm>
            <a:off x="11259007" y="6492240"/>
            <a:ext cx="82296" cy="82296"/>
          </a:xfrm>
          <a:prstGeom prst="ellipse">
            <a:avLst/>
          </a:prstGeom>
          <a:solidFill>
            <a:srgbClr val="E1604A"/>
          </a:solidFill>
          <a:ln/>
        </p:spPr>
      </p:sp>
      <p:sp>
        <p:nvSpPr>
          <p:cNvPr id="26" name="Text 21"/>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BEING HONEST · THE PATH FORWARD</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What a serious rework would change</a:t>
            </a:r>
            <a:endParaRPr lang="en-US" sz="3200" dirty="0"/>
          </a:p>
        </p:txBody>
      </p:sp>
      <p:sp>
        <p:nvSpPr>
          <p:cNvPr id="4" name="Shape 2"/>
          <p:cNvSpPr/>
          <p:nvPr/>
        </p:nvSpPr>
        <p:spPr>
          <a:xfrm>
            <a:off x="548640" y="1783080"/>
            <a:ext cx="5318608" cy="1508760"/>
          </a:xfrm>
          <a:prstGeom prst="roundRect">
            <a:avLst>
              <a:gd name="adj" fmla="val 6061"/>
            </a:avLst>
          </a:prstGeom>
          <a:solidFill>
            <a:srgbClr val="EEF1F7"/>
          </a:solidFill>
          <a:ln w="12700">
            <a:solidFill>
              <a:srgbClr val="E4E9F2"/>
            </a:solidFill>
            <a:prstDash val="solid"/>
          </a:ln>
        </p:spPr>
      </p:sp>
      <p:sp>
        <p:nvSpPr>
          <p:cNvPr id="5" name="Shape 3"/>
          <p:cNvSpPr/>
          <p:nvPr/>
        </p:nvSpPr>
        <p:spPr>
          <a:xfrm>
            <a:off x="859536" y="2093976"/>
            <a:ext cx="585216" cy="585216"/>
          </a:xfrm>
          <a:prstGeom prst="ellipse">
            <a:avLst/>
          </a:prstGeom>
          <a:solidFill>
            <a:srgbClr val="E1604A"/>
          </a:solidFill>
          <a:ln/>
        </p:spPr>
      </p:sp>
      <p:pic>
        <p:nvPicPr>
          <p:cNvPr id="6" name="Image 0" descr="preencoded.png">    </p:cNvPr>
          <p:cNvPicPr>
            <a:picLocks noChangeAspect="1"/>
          </p:cNvPicPr>
          <p:nvPr/>
        </p:nvPicPr>
        <p:blipFill>
          <a:blip r:embed="rId1"/>
          <a:stretch>
            <a:fillRect/>
          </a:stretch>
        </p:blipFill>
        <p:spPr>
          <a:xfrm>
            <a:off x="1029249" y="2263689"/>
            <a:ext cx="245791" cy="245791"/>
          </a:xfrm>
          <a:prstGeom prst="rect">
            <a:avLst/>
          </a:prstGeom>
        </p:spPr>
      </p:pic>
      <p:sp>
        <p:nvSpPr>
          <p:cNvPr id="7" name="Text 4"/>
          <p:cNvSpPr/>
          <p:nvPr/>
        </p:nvSpPr>
        <p:spPr>
          <a:xfrm>
            <a:off x="1645920" y="2020824"/>
            <a:ext cx="3992728" cy="548640"/>
          </a:xfrm>
          <a:prstGeom prst="rect">
            <a:avLst/>
          </a:prstGeom>
          <a:noFill/>
          <a:ln/>
        </p:spPr>
        <p:txBody>
          <a:bodyPr wrap="square" lIns="0" tIns="0" rIns="0" bIns="0" rtlCol="0" anchor="ctr"/>
          <a:lstStyle/>
          <a:p>
            <a:pPr indent="0" marL="0">
              <a:lnSpc>
                <a:spcPct val="95000"/>
              </a:lnSpc>
              <a:buNone/>
            </a:pPr>
            <a:r>
              <a:rPr lang="en-US" sz="1550" b="1" dirty="0">
                <a:solidFill>
                  <a:srgbClr val="1B2A4A"/>
                </a:solidFill>
                <a:latin typeface="Cambria" pitchFamily="34" charset="0"/>
                <a:ea typeface="Cambria" pitchFamily="34" charset="-122"/>
                <a:cs typeface="Cambria" pitchFamily="34" charset="-120"/>
              </a:rPr>
              <a:t>Cheap checks first, AI to reduce noise</a:t>
            </a:r>
            <a:endParaRPr lang="en-US" sz="1550" dirty="0"/>
          </a:p>
        </p:txBody>
      </p:sp>
      <p:sp>
        <p:nvSpPr>
          <p:cNvPr id="8" name="Text 5"/>
          <p:cNvSpPr/>
          <p:nvPr/>
        </p:nvSpPr>
        <p:spPr>
          <a:xfrm>
            <a:off x="1645920" y="2532888"/>
            <a:ext cx="3992728" cy="685800"/>
          </a:xfrm>
          <a:prstGeom prst="rect">
            <a:avLst/>
          </a:prstGeom>
          <a:noFill/>
          <a:ln/>
        </p:spPr>
        <p:txBody>
          <a:bodyPr wrap="square" lIns="0" tIns="0" rIns="0" bIns="0" rtlCol="0" anchor="ctr"/>
          <a:lstStyle/>
          <a:p>
            <a:pPr indent="0" marL="0">
              <a:lnSpc>
                <a:spcPct val="103000"/>
              </a:lnSpc>
              <a:buNone/>
            </a:pPr>
            <a:r>
              <a:rPr lang="en-US" sz="1230" dirty="0">
                <a:solidFill>
                  <a:srgbClr val="3A4358"/>
                </a:solidFill>
                <a:latin typeface="Calibri" pitchFamily="34" charset="0"/>
                <a:ea typeface="Calibri" pitchFamily="34" charset="-122"/>
                <a:cs typeface="Calibri" pitchFamily="34" charset="-120"/>
              </a:rPr>
              <a:t>Run the simple rules everywhere; use models only to silence false alarms and handle the few that need judgement.</a:t>
            </a:r>
            <a:endParaRPr lang="en-US" sz="1230" dirty="0"/>
          </a:p>
        </p:txBody>
      </p:sp>
      <p:sp>
        <p:nvSpPr>
          <p:cNvPr id="9" name="Shape 6"/>
          <p:cNvSpPr/>
          <p:nvPr/>
        </p:nvSpPr>
        <p:spPr>
          <a:xfrm>
            <a:off x="6324448" y="1783080"/>
            <a:ext cx="5318608" cy="1508760"/>
          </a:xfrm>
          <a:prstGeom prst="roundRect">
            <a:avLst>
              <a:gd name="adj" fmla="val 6061"/>
            </a:avLst>
          </a:prstGeom>
          <a:solidFill>
            <a:srgbClr val="EEF1F7"/>
          </a:solidFill>
          <a:ln w="12700">
            <a:solidFill>
              <a:srgbClr val="E4E9F2"/>
            </a:solidFill>
            <a:prstDash val="solid"/>
          </a:ln>
        </p:spPr>
      </p:sp>
      <p:sp>
        <p:nvSpPr>
          <p:cNvPr id="10" name="Shape 7"/>
          <p:cNvSpPr/>
          <p:nvPr/>
        </p:nvSpPr>
        <p:spPr>
          <a:xfrm>
            <a:off x="6635344" y="2093976"/>
            <a:ext cx="585216" cy="585216"/>
          </a:xfrm>
          <a:prstGeom prst="ellipse">
            <a:avLst/>
          </a:prstGeom>
          <a:solidFill>
            <a:srgbClr val="E1604A"/>
          </a:solidFill>
          <a:ln/>
        </p:spPr>
      </p:sp>
      <p:pic>
        <p:nvPicPr>
          <p:cNvPr id="11" name="Image 1" descr="preencoded.png">    </p:cNvPr>
          <p:cNvPicPr>
            <a:picLocks noChangeAspect="1"/>
          </p:cNvPicPr>
          <p:nvPr/>
        </p:nvPicPr>
        <p:blipFill>
          <a:blip r:embed="rId2"/>
          <a:stretch>
            <a:fillRect/>
          </a:stretch>
        </p:blipFill>
        <p:spPr>
          <a:xfrm>
            <a:off x="6805056" y="2263689"/>
            <a:ext cx="245791" cy="245791"/>
          </a:xfrm>
          <a:prstGeom prst="rect">
            <a:avLst/>
          </a:prstGeom>
        </p:spPr>
      </p:pic>
      <p:sp>
        <p:nvSpPr>
          <p:cNvPr id="12" name="Text 8"/>
          <p:cNvSpPr/>
          <p:nvPr/>
        </p:nvSpPr>
        <p:spPr>
          <a:xfrm>
            <a:off x="7421728" y="2020824"/>
            <a:ext cx="3992728" cy="548640"/>
          </a:xfrm>
          <a:prstGeom prst="rect">
            <a:avLst/>
          </a:prstGeom>
          <a:noFill/>
          <a:ln/>
        </p:spPr>
        <p:txBody>
          <a:bodyPr wrap="square" lIns="0" tIns="0" rIns="0" bIns="0" rtlCol="0" anchor="ctr"/>
          <a:lstStyle/>
          <a:p>
            <a:pPr indent="0" marL="0">
              <a:lnSpc>
                <a:spcPct val="95000"/>
              </a:lnSpc>
              <a:buNone/>
            </a:pPr>
            <a:r>
              <a:rPr lang="en-US" sz="1550" b="1" dirty="0">
                <a:solidFill>
                  <a:srgbClr val="1B2A4A"/>
                </a:solidFill>
                <a:latin typeface="Cambria" pitchFamily="34" charset="0"/>
                <a:ea typeface="Cambria" pitchFamily="34" charset="-122"/>
                <a:cs typeface="Cambria" pitchFamily="34" charset="-120"/>
              </a:rPr>
              <a:t>Precision over coverage</a:t>
            </a:r>
            <a:endParaRPr lang="en-US" sz="1550" dirty="0"/>
          </a:p>
        </p:txBody>
      </p:sp>
      <p:sp>
        <p:nvSpPr>
          <p:cNvPr id="13" name="Text 9"/>
          <p:cNvSpPr/>
          <p:nvPr/>
        </p:nvSpPr>
        <p:spPr>
          <a:xfrm>
            <a:off x="7421728" y="2532888"/>
            <a:ext cx="3992728" cy="685800"/>
          </a:xfrm>
          <a:prstGeom prst="rect">
            <a:avLst/>
          </a:prstGeom>
          <a:noFill/>
          <a:ln/>
        </p:spPr>
        <p:txBody>
          <a:bodyPr wrap="square" lIns="0" tIns="0" rIns="0" bIns="0" rtlCol="0" anchor="ctr"/>
          <a:lstStyle/>
          <a:p>
            <a:pPr indent="0" marL="0">
              <a:lnSpc>
                <a:spcPct val="103000"/>
              </a:lnSpc>
              <a:buNone/>
            </a:pPr>
            <a:r>
              <a:rPr lang="en-US" sz="1230" dirty="0">
                <a:solidFill>
                  <a:srgbClr val="3A4358"/>
                </a:solidFill>
                <a:latin typeface="Calibri" pitchFamily="34" charset="0"/>
                <a:ea typeface="Calibri" pitchFamily="34" charset="-122"/>
                <a:cs typeface="Calibri" pitchFamily="34" charset="-120"/>
              </a:rPr>
              <a:t>Better to miss a little than cry wolf. Track how often suggestions are actually accepted.</a:t>
            </a:r>
            <a:endParaRPr lang="en-US" sz="1230" dirty="0"/>
          </a:p>
        </p:txBody>
      </p:sp>
      <p:sp>
        <p:nvSpPr>
          <p:cNvPr id="14" name="Shape 10"/>
          <p:cNvSpPr/>
          <p:nvPr/>
        </p:nvSpPr>
        <p:spPr>
          <a:xfrm>
            <a:off x="548640" y="3611880"/>
            <a:ext cx="5318608" cy="1508760"/>
          </a:xfrm>
          <a:prstGeom prst="roundRect">
            <a:avLst>
              <a:gd name="adj" fmla="val 6061"/>
            </a:avLst>
          </a:prstGeom>
          <a:solidFill>
            <a:srgbClr val="EEF1F7"/>
          </a:solidFill>
          <a:ln w="12700">
            <a:solidFill>
              <a:srgbClr val="E4E9F2"/>
            </a:solidFill>
            <a:prstDash val="solid"/>
          </a:ln>
        </p:spPr>
      </p:sp>
      <p:sp>
        <p:nvSpPr>
          <p:cNvPr id="15" name="Shape 11"/>
          <p:cNvSpPr/>
          <p:nvPr/>
        </p:nvSpPr>
        <p:spPr>
          <a:xfrm>
            <a:off x="859536" y="3922776"/>
            <a:ext cx="585216" cy="585216"/>
          </a:xfrm>
          <a:prstGeom prst="ellipse">
            <a:avLst/>
          </a:prstGeom>
          <a:solidFill>
            <a:srgbClr val="E1604A"/>
          </a:solidFill>
          <a:ln/>
        </p:spPr>
      </p:sp>
      <p:pic>
        <p:nvPicPr>
          <p:cNvPr id="16" name="Image 2" descr="preencoded.png">    </p:cNvPr>
          <p:cNvPicPr>
            <a:picLocks noChangeAspect="1"/>
          </p:cNvPicPr>
          <p:nvPr/>
        </p:nvPicPr>
        <p:blipFill>
          <a:blip r:embed="rId3"/>
          <a:stretch>
            <a:fillRect/>
          </a:stretch>
        </p:blipFill>
        <p:spPr>
          <a:xfrm>
            <a:off x="1029249" y="4092489"/>
            <a:ext cx="245791" cy="245791"/>
          </a:xfrm>
          <a:prstGeom prst="rect">
            <a:avLst/>
          </a:prstGeom>
        </p:spPr>
      </p:pic>
      <p:sp>
        <p:nvSpPr>
          <p:cNvPr id="17" name="Text 12"/>
          <p:cNvSpPr/>
          <p:nvPr/>
        </p:nvSpPr>
        <p:spPr>
          <a:xfrm>
            <a:off x="1645920" y="3849624"/>
            <a:ext cx="3992728" cy="548640"/>
          </a:xfrm>
          <a:prstGeom prst="rect">
            <a:avLst/>
          </a:prstGeom>
          <a:noFill/>
          <a:ln/>
        </p:spPr>
        <p:txBody>
          <a:bodyPr wrap="square" lIns="0" tIns="0" rIns="0" bIns="0" rtlCol="0" anchor="ctr"/>
          <a:lstStyle/>
          <a:p>
            <a:pPr indent="0" marL="0">
              <a:lnSpc>
                <a:spcPct val="95000"/>
              </a:lnSpc>
              <a:buNone/>
            </a:pPr>
            <a:r>
              <a:rPr lang="en-US" sz="1550" b="1" dirty="0">
                <a:solidFill>
                  <a:srgbClr val="1B2A4A"/>
                </a:solidFill>
                <a:latin typeface="Cambria" pitchFamily="34" charset="0"/>
                <a:ea typeface="Cambria" pitchFamily="34" charset="-122"/>
                <a:cs typeface="Cambria" pitchFamily="34" charset="-120"/>
              </a:rPr>
              <a:t>Writing profiles</a:t>
            </a:r>
            <a:endParaRPr lang="en-US" sz="1550" dirty="0"/>
          </a:p>
        </p:txBody>
      </p:sp>
      <p:sp>
        <p:nvSpPr>
          <p:cNvPr id="18" name="Text 13"/>
          <p:cNvSpPr/>
          <p:nvPr/>
        </p:nvSpPr>
        <p:spPr>
          <a:xfrm>
            <a:off x="1645920" y="4361688"/>
            <a:ext cx="3992728" cy="685800"/>
          </a:xfrm>
          <a:prstGeom prst="rect">
            <a:avLst/>
          </a:prstGeom>
          <a:noFill/>
          <a:ln/>
        </p:spPr>
        <p:txBody>
          <a:bodyPr wrap="square" lIns="0" tIns="0" rIns="0" bIns="0" rtlCol="0" anchor="ctr"/>
          <a:lstStyle/>
          <a:p>
            <a:pPr indent="0" marL="0">
              <a:lnSpc>
                <a:spcPct val="103000"/>
              </a:lnSpc>
              <a:buNone/>
            </a:pPr>
            <a:r>
              <a:rPr lang="en-US" sz="1230" dirty="0">
                <a:solidFill>
                  <a:srgbClr val="3A4358"/>
                </a:solidFill>
                <a:latin typeface="Calibri" pitchFamily="34" charset="0"/>
                <a:ea typeface="Calibri" pitchFamily="34" charset="-122"/>
                <a:cs typeface="Calibri" pitchFamily="34" charset="-120"/>
              </a:rPr>
              <a:t>Let context switch the rule set — a social post and a legal notice shouldn't be judged alike.</a:t>
            </a:r>
            <a:endParaRPr lang="en-US" sz="1230" dirty="0"/>
          </a:p>
        </p:txBody>
      </p:sp>
      <p:sp>
        <p:nvSpPr>
          <p:cNvPr id="19" name="Shape 14"/>
          <p:cNvSpPr/>
          <p:nvPr/>
        </p:nvSpPr>
        <p:spPr>
          <a:xfrm>
            <a:off x="6324448" y="3611880"/>
            <a:ext cx="5318608" cy="1508760"/>
          </a:xfrm>
          <a:prstGeom prst="roundRect">
            <a:avLst>
              <a:gd name="adj" fmla="val 6061"/>
            </a:avLst>
          </a:prstGeom>
          <a:solidFill>
            <a:srgbClr val="EEF1F7"/>
          </a:solidFill>
          <a:ln w="12700">
            <a:solidFill>
              <a:srgbClr val="E4E9F2"/>
            </a:solidFill>
            <a:prstDash val="solid"/>
          </a:ln>
        </p:spPr>
      </p:sp>
      <p:sp>
        <p:nvSpPr>
          <p:cNvPr id="20" name="Shape 15"/>
          <p:cNvSpPr/>
          <p:nvPr/>
        </p:nvSpPr>
        <p:spPr>
          <a:xfrm>
            <a:off x="6635344" y="3922776"/>
            <a:ext cx="585216" cy="585216"/>
          </a:xfrm>
          <a:prstGeom prst="ellipse">
            <a:avLst/>
          </a:prstGeom>
          <a:solidFill>
            <a:srgbClr val="E1604A"/>
          </a:solidFill>
          <a:ln/>
        </p:spPr>
      </p:sp>
      <p:pic>
        <p:nvPicPr>
          <p:cNvPr id="21" name="Image 3" descr="preencoded.png">    </p:cNvPr>
          <p:cNvPicPr>
            <a:picLocks noChangeAspect="1"/>
          </p:cNvPicPr>
          <p:nvPr/>
        </p:nvPicPr>
        <p:blipFill>
          <a:blip r:embed="rId4"/>
          <a:stretch>
            <a:fillRect/>
          </a:stretch>
        </p:blipFill>
        <p:spPr>
          <a:xfrm>
            <a:off x="6805056" y="4092489"/>
            <a:ext cx="245791" cy="245791"/>
          </a:xfrm>
          <a:prstGeom prst="rect">
            <a:avLst/>
          </a:prstGeom>
        </p:spPr>
      </p:pic>
      <p:sp>
        <p:nvSpPr>
          <p:cNvPr id="22" name="Text 16"/>
          <p:cNvSpPr/>
          <p:nvPr/>
        </p:nvSpPr>
        <p:spPr>
          <a:xfrm>
            <a:off x="7421728" y="3849624"/>
            <a:ext cx="3992728" cy="548640"/>
          </a:xfrm>
          <a:prstGeom prst="rect">
            <a:avLst/>
          </a:prstGeom>
          <a:noFill/>
          <a:ln/>
        </p:spPr>
        <p:txBody>
          <a:bodyPr wrap="square" lIns="0" tIns="0" rIns="0" bIns="0" rtlCol="0" anchor="ctr"/>
          <a:lstStyle/>
          <a:p>
            <a:pPr indent="0" marL="0">
              <a:lnSpc>
                <a:spcPct val="95000"/>
              </a:lnSpc>
              <a:buNone/>
            </a:pPr>
            <a:r>
              <a:rPr lang="en-US" sz="1550" b="1" dirty="0">
                <a:solidFill>
                  <a:srgbClr val="1B2A4A"/>
                </a:solidFill>
                <a:latin typeface="Cambria" pitchFamily="34" charset="0"/>
                <a:ea typeface="Cambria" pitchFamily="34" charset="-122"/>
                <a:cs typeface="Cambria" pitchFamily="34" charset="-120"/>
              </a:rPr>
              <a:t>Learn from use</a:t>
            </a:r>
            <a:endParaRPr lang="en-US" sz="1550" dirty="0"/>
          </a:p>
        </p:txBody>
      </p:sp>
      <p:sp>
        <p:nvSpPr>
          <p:cNvPr id="23" name="Text 17"/>
          <p:cNvSpPr/>
          <p:nvPr/>
        </p:nvSpPr>
        <p:spPr>
          <a:xfrm>
            <a:off x="7421728" y="4361688"/>
            <a:ext cx="3992728" cy="685800"/>
          </a:xfrm>
          <a:prstGeom prst="rect">
            <a:avLst/>
          </a:prstGeom>
          <a:noFill/>
          <a:ln/>
        </p:spPr>
        <p:txBody>
          <a:bodyPr wrap="square" lIns="0" tIns="0" rIns="0" bIns="0" rtlCol="0" anchor="ctr"/>
          <a:lstStyle/>
          <a:p>
            <a:pPr indent="0" marL="0">
              <a:lnSpc>
                <a:spcPct val="103000"/>
              </a:lnSpc>
              <a:buNone/>
            </a:pPr>
            <a:r>
              <a:rPr lang="en-US" sz="1230" dirty="0">
                <a:solidFill>
                  <a:srgbClr val="3A4358"/>
                </a:solidFill>
                <a:latin typeface="Calibri" pitchFamily="34" charset="0"/>
                <a:ea typeface="Calibri" pitchFamily="34" charset="-122"/>
                <a:cs typeface="Calibri" pitchFamily="34" charset="-120"/>
              </a:rPr>
              <a:t>Automatically quieten rules that people keep dismissing.</a:t>
            </a:r>
            <a:endParaRPr lang="en-US" sz="1230" dirty="0"/>
          </a:p>
        </p:txBody>
      </p:sp>
      <p:sp>
        <p:nvSpPr>
          <p:cNvPr id="24" name="Shape 18"/>
          <p:cNvSpPr/>
          <p:nvPr/>
        </p:nvSpPr>
        <p:spPr>
          <a:xfrm>
            <a:off x="548640" y="5394960"/>
            <a:ext cx="11094415" cy="566928"/>
          </a:xfrm>
          <a:prstGeom prst="roundRect">
            <a:avLst>
              <a:gd name="adj" fmla="val 12903"/>
            </a:avLst>
          </a:prstGeom>
          <a:solidFill>
            <a:srgbClr val="1B2A4A"/>
          </a:solidFill>
          <a:ln/>
        </p:spPr>
      </p:sp>
      <p:sp>
        <p:nvSpPr>
          <p:cNvPr id="25" name="Text 19"/>
          <p:cNvSpPr/>
          <p:nvPr/>
        </p:nvSpPr>
        <p:spPr>
          <a:xfrm>
            <a:off x="822960" y="5394960"/>
            <a:ext cx="10545775" cy="566928"/>
          </a:xfrm>
          <a:prstGeom prst="rect">
            <a:avLst/>
          </a:prstGeom>
          <a:noFill/>
          <a:ln/>
        </p:spPr>
        <p:txBody>
          <a:bodyPr wrap="square" lIns="0" tIns="0" rIns="0" bIns="0" rtlCol="0" anchor="ctr"/>
          <a:lstStyle/>
          <a:p>
            <a:pPr indent="0" marL="0">
              <a:buNone/>
            </a:pPr>
            <a:r>
              <a:rPr lang="en-US" sz="1250" b="1" dirty="0">
                <a:solidFill>
                  <a:srgbClr val="E1604A"/>
                </a:solidFill>
                <a:latin typeface="Calibri" pitchFamily="34" charset="0"/>
                <a:ea typeface="Calibri" pitchFamily="34" charset="-122"/>
                <a:cs typeface="Calibri" pitchFamily="34" charset="-120"/>
              </a:rPr>
              <a:t>The upside of finding this out:  </a:t>
            </a:r>
            <a:pPr indent="0" marL="0">
              <a:buNone/>
            </a:pPr>
            <a:r>
              <a:rPr lang="en-US" sz="1250" dirty="0">
                <a:solidFill>
                  <a:srgbClr val="FFFFFF"/>
                </a:solidFill>
                <a:latin typeface="Calibri" pitchFamily="34" charset="0"/>
                <a:ea typeface="Calibri" pitchFamily="34" charset="-122"/>
                <a:cs typeface="Calibri" pitchFamily="34" charset="-120"/>
              </a:rPr>
              <a:t>a cheap prototype revealed exactly where the hard problems are — which is what exploratory work is for.</a:t>
            </a:r>
            <a:endParaRPr lang="en-US" sz="1250" dirty="0"/>
          </a:p>
        </p:txBody>
      </p:sp>
      <p:sp>
        <p:nvSpPr>
          <p:cNvPr id="26" name="Text 20"/>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27" name="Shape 21"/>
          <p:cNvSpPr/>
          <p:nvPr/>
        </p:nvSpPr>
        <p:spPr>
          <a:xfrm>
            <a:off x="11259007" y="6492240"/>
            <a:ext cx="82296" cy="82296"/>
          </a:xfrm>
          <a:prstGeom prst="ellipse">
            <a:avLst/>
          </a:prstGeom>
          <a:solidFill>
            <a:srgbClr val="E1604A"/>
          </a:solidFill>
          <a:ln/>
        </p:spPr>
      </p:sp>
      <p:sp>
        <p:nvSpPr>
          <p:cNvPr id="28" name="Text 22"/>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WHAT I LEARNED</a:t>
            </a:r>
            <a:endParaRPr lang="en-US" sz="1200" dirty="0"/>
          </a:p>
        </p:txBody>
      </p:sp>
      <p:sp>
        <p:nvSpPr>
          <p:cNvPr id="3" name="Text 1"/>
          <p:cNvSpPr/>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rgbClr val="1B2A4A"/>
                </a:solidFill>
                <a:latin typeface="Cambria" pitchFamily="34" charset="0"/>
                <a:ea typeface="Cambria" pitchFamily="34" charset="-122"/>
                <a:cs typeface="Cambria" pitchFamily="34" charset="-120"/>
              </a:rPr>
              <a:t>Lessons for using GenAI to explore and de-risk</a:t>
            </a:r>
            <a:endParaRPr lang="en-US" sz="3200" dirty="0"/>
          </a:p>
        </p:txBody>
      </p:sp>
      <p:sp>
        <p:nvSpPr>
          <p:cNvPr id="4" name="Shape 2"/>
          <p:cNvSpPr/>
          <p:nvPr/>
        </p:nvSpPr>
        <p:spPr>
          <a:xfrm>
            <a:off x="548640" y="1737360"/>
            <a:ext cx="566928" cy="566928"/>
          </a:xfrm>
          <a:prstGeom prst="ellipse">
            <a:avLst/>
          </a:prstGeom>
          <a:solidFill>
            <a:srgbClr val="E1604A"/>
          </a:solidFill>
          <a:ln/>
        </p:spPr>
      </p:sp>
      <p:pic>
        <p:nvPicPr>
          <p:cNvPr id="5" name="Image 0" descr="preencoded.png">    </p:cNvPr>
          <p:cNvPicPr>
            <a:picLocks noChangeAspect="1"/>
          </p:cNvPicPr>
          <p:nvPr/>
        </p:nvPicPr>
        <p:blipFill>
          <a:blip r:embed="rId1"/>
          <a:stretch>
            <a:fillRect/>
          </a:stretch>
        </p:blipFill>
        <p:spPr>
          <a:xfrm>
            <a:off x="713049" y="1901769"/>
            <a:ext cx="238110" cy="238110"/>
          </a:xfrm>
          <a:prstGeom prst="rect">
            <a:avLst/>
          </a:prstGeom>
        </p:spPr>
      </p:pic>
      <p:sp>
        <p:nvSpPr>
          <p:cNvPr id="6" name="Text 3"/>
          <p:cNvSpPr/>
          <p:nvPr/>
        </p:nvSpPr>
        <p:spPr>
          <a:xfrm>
            <a:off x="1371600" y="1691640"/>
            <a:ext cx="10271455" cy="347472"/>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Use GenAI to build the tool — not to be the tool</a:t>
            </a:r>
            <a:endParaRPr lang="en-US" sz="1650" dirty="0"/>
          </a:p>
        </p:txBody>
      </p:sp>
      <p:sp>
        <p:nvSpPr>
          <p:cNvPr id="7" name="Text 4"/>
          <p:cNvSpPr/>
          <p:nvPr/>
        </p:nvSpPr>
        <p:spPr>
          <a:xfrm>
            <a:off x="1371600" y="2039112"/>
            <a:ext cx="10271455" cy="457200"/>
          </a:xfrm>
          <a:prstGeom prst="rect">
            <a:avLst/>
          </a:prstGeom>
          <a:noFill/>
          <a:ln/>
        </p:spPr>
        <p:txBody>
          <a:bodyPr wrap="square" lIns="0" tIns="0" rIns="0" bIns="0" rtlCol="0" anchor="ctr"/>
          <a:lstStyle/>
          <a:p>
            <a:pPr indent="0" marL="0">
              <a:lnSpc>
                <a:spcPct val="100000"/>
              </a:lnSpc>
              <a:buNone/>
            </a:pPr>
            <a:r>
              <a:rPr lang="en-US" sz="1280" dirty="0">
                <a:solidFill>
                  <a:srgbClr val="3A4358"/>
                </a:solidFill>
                <a:latin typeface="Calibri" pitchFamily="34" charset="0"/>
                <a:ea typeface="Calibri" pitchFamily="34" charset="-122"/>
                <a:cs typeface="Calibri" pitchFamily="34" charset="-120"/>
              </a:rPr>
              <a:t>The generative work happens once, offline. What users touch is a plain, predictable engine.</a:t>
            </a:r>
            <a:endParaRPr lang="en-US" sz="1280" dirty="0"/>
          </a:p>
        </p:txBody>
      </p:sp>
      <p:sp>
        <p:nvSpPr>
          <p:cNvPr id="8" name="Shape 5"/>
          <p:cNvSpPr/>
          <p:nvPr/>
        </p:nvSpPr>
        <p:spPr>
          <a:xfrm>
            <a:off x="548640" y="2706624"/>
            <a:ext cx="566928" cy="566928"/>
          </a:xfrm>
          <a:prstGeom prst="ellipse">
            <a:avLst/>
          </a:prstGeom>
          <a:solidFill>
            <a:srgbClr val="E1604A"/>
          </a:solidFill>
          <a:ln/>
        </p:spPr>
      </p:sp>
      <p:pic>
        <p:nvPicPr>
          <p:cNvPr id="9" name="Image 1" descr="preencoded.png">    </p:cNvPr>
          <p:cNvPicPr>
            <a:picLocks noChangeAspect="1"/>
          </p:cNvPicPr>
          <p:nvPr/>
        </p:nvPicPr>
        <p:blipFill>
          <a:blip r:embed="rId2"/>
          <a:stretch>
            <a:fillRect/>
          </a:stretch>
        </p:blipFill>
        <p:spPr>
          <a:xfrm>
            <a:off x="713049" y="2871033"/>
            <a:ext cx="238110" cy="238110"/>
          </a:xfrm>
          <a:prstGeom prst="rect">
            <a:avLst/>
          </a:prstGeom>
        </p:spPr>
      </p:pic>
      <p:sp>
        <p:nvSpPr>
          <p:cNvPr id="10" name="Text 6"/>
          <p:cNvSpPr/>
          <p:nvPr/>
        </p:nvSpPr>
        <p:spPr>
          <a:xfrm>
            <a:off x="1371600" y="2660904"/>
            <a:ext cx="10271455" cy="347472"/>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Make it test itself</a:t>
            </a:r>
            <a:endParaRPr lang="en-US" sz="1650" dirty="0"/>
          </a:p>
        </p:txBody>
      </p:sp>
      <p:sp>
        <p:nvSpPr>
          <p:cNvPr id="11" name="Text 7"/>
          <p:cNvSpPr/>
          <p:nvPr/>
        </p:nvSpPr>
        <p:spPr>
          <a:xfrm>
            <a:off x="1371600" y="3008376"/>
            <a:ext cx="10271455" cy="457200"/>
          </a:xfrm>
          <a:prstGeom prst="rect">
            <a:avLst/>
          </a:prstGeom>
          <a:noFill/>
          <a:ln/>
        </p:spPr>
        <p:txBody>
          <a:bodyPr wrap="square" lIns="0" tIns="0" rIns="0" bIns="0" rtlCol="0" anchor="ctr"/>
          <a:lstStyle/>
          <a:p>
            <a:pPr indent="0" marL="0">
              <a:lnSpc>
                <a:spcPct val="100000"/>
              </a:lnSpc>
              <a:buNone/>
            </a:pPr>
            <a:r>
              <a:rPr lang="en-US" sz="1280" dirty="0">
                <a:solidFill>
                  <a:srgbClr val="3A4358"/>
                </a:solidFill>
                <a:latin typeface="Calibri" pitchFamily="34" charset="0"/>
                <a:ea typeface="Calibri" pitchFamily="34" charset="-122"/>
                <a:cs typeface="Calibri" pitchFamily="34" charset="-120"/>
              </a:rPr>
              <a:t>Machine-written checks plus machine-written tests. Nothing ships untested.</a:t>
            </a:r>
            <a:endParaRPr lang="en-US" sz="1280" dirty="0"/>
          </a:p>
        </p:txBody>
      </p:sp>
      <p:sp>
        <p:nvSpPr>
          <p:cNvPr id="12" name="Shape 8"/>
          <p:cNvSpPr/>
          <p:nvPr/>
        </p:nvSpPr>
        <p:spPr>
          <a:xfrm>
            <a:off x="548640" y="3675888"/>
            <a:ext cx="566928" cy="566928"/>
          </a:xfrm>
          <a:prstGeom prst="ellipse">
            <a:avLst/>
          </a:prstGeom>
          <a:solidFill>
            <a:srgbClr val="E1604A"/>
          </a:solidFill>
          <a:ln/>
        </p:spPr>
      </p:sp>
      <p:pic>
        <p:nvPicPr>
          <p:cNvPr id="13" name="Image 2" descr="preencoded.png">    </p:cNvPr>
          <p:cNvPicPr>
            <a:picLocks noChangeAspect="1"/>
          </p:cNvPicPr>
          <p:nvPr/>
        </p:nvPicPr>
        <p:blipFill>
          <a:blip r:embed="rId3"/>
          <a:stretch>
            <a:fillRect/>
          </a:stretch>
        </p:blipFill>
        <p:spPr>
          <a:xfrm>
            <a:off x="713049" y="3840297"/>
            <a:ext cx="238110" cy="238110"/>
          </a:xfrm>
          <a:prstGeom prst="rect">
            <a:avLst/>
          </a:prstGeom>
        </p:spPr>
      </p:pic>
      <p:sp>
        <p:nvSpPr>
          <p:cNvPr id="14" name="Text 9"/>
          <p:cNvSpPr/>
          <p:nvPr/>
        </p:nvSpPr>
        <p:spPr>
          <a:xfrm>
            <a:off x="1371600" y="3630168"/>
            <a:ext cx="10271455" cy="347472"/>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Precision beats coverage</a:t>
            </a:r>
            <a:endParaRPr lang="en-US" sz="1650" dirty="0"/>
          </a:p>
        </p:txBody>
      </p:sp>
      <p:sp>
        <p:nvSpPr>
          <p:cNvPr id="15" name="Text 10"/>
          <p:cNvSpPr/>
          <p:nvPr/>
        </p:nvSpPr>
        <p:spPr>
          <a:xfrm>
            <a:off x="1371600" y="3977640"/>
            <a:ext cx="10271455" cy="457200"/>
          </a:xfrm>
          <a:prstGeom prst="rect">
            <a:avLst/>
          </a:prstGeom>
          <a:noFill/>
          <a:ln/>
        </p:spPr>
        <p:txBody>
          <a:bodyPr wrap="square" lIns="0" tIns="0" rIns="0" bIns="0" rtlCol="0" anchor="ctr"/>
          <a:lstStyle/>
          <a:p>
            <a:pPr indent="0" marL="0">
              <a:lnSpc>
                <a:spcPct val="100000"/>
              </a:lnSpc>
              <a:buNone/>
            </a:pPr>
            <a:r>
              <a:rPr lang="en-US" sz="1280" dirty="0">
                <a:solidFill>
                  <a:srgbClr val="3A4358"/>
                </a:solidFill>
                <a:latin typeface="Calibri" pitchFamily="34" charset="0"/>
                <a:ea typeface="Calibri" pitchFamily="34" charset="-122"/>
                <a:cs typeface="Calibri" pitchFamily="34" charset="-120"/>
              </a:rPr>
              <a:t>One false alarm costs more trust than one missed issue. Aim to be quiet and right.</a:t>
            </a:r>
            <a:endParaRPr lang="en-US" sz="1280" dirty="0"/>
          </a:p>
        </p:txBody>
      </p:sp>
      <p:sp>
        <p:nvSpPr>
          <p:cNvPr id="16" name="Shape 11"/>
          <p:cNvSpPr/>
          <p:nvPr/>
        </p:nvSpPr>
        <p:spPr>
          <a:xfrm>
            <a:off x="548640" y="4645152"/>
            <a:ext cx="566928" cy="566928"/>
          </a:xfrm>
          <a:prstGeom prst="ellipse">
            <a:avLst/>
          </a:prstGeom>
          <a:solidFill>
            <a:srgbClr val="E1604A"/>
          </a:solidFill>
          <a:ln/>
        </p:spPr>
      </p:sp>
      <p:pic>
        <p:nvPicPr>
          <p:cNvPr id="17" name="Image 3" descr="preencoded.png">    </p:cNvPr>
          <p:cNvPicPr>
            <a:picLocks noChangeAspect="1"/>
          </p:cNvPicPr>
          <p:nvPr/>
        </p:nvPicPr>
        <p:blipFill>
          <a:blip r:embed="rId4"/>
          <a:stretch>
            <a:fillRect/>
          </a:stretch>
        </p:blipFill>
        <p:spPr>
          <a:xfrm>
            <a:off x="713049" y="4809561"/>
            <a:ext cx="238110" cy="238110"/>
          </a:xfrm>
          <a:prstGeom prst="rect">
            <a:avLst/>
          </a:prstGeom>
        </p:spPr>
      </p:pic>
      <p:sp>
        <p:nvSpPr>
          <p:cNvPr id="18" name="Text 12"/>
          <p:cNvSpPr/>
          <p:nvPr/>
        </p:nvSpPr>
        <p:spPr>
          <a:xfrm>
            <a:off x="1371600" y="4599432"/>
            <a:ext cx="10271455" cy="347472"/>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Know what not to automate</a:t>
            </a:r>
            <a:endParaRPr lang="en-US" sz="1650" dirty="0"/>
          </a:p>
        </p:txBody>
      </p:sp>
      <p:sp>
        <p:nvSpPr>
          <p:cNvPr id="19" name="Text 13"/>
          <p:cNvSpPr/>
          <p:nvPr/>
        </p:nvSpPr>
        <p:spPr>
          <a:xfrm>
            <a:off x="1371600" y="4946904"/>
            <a:ext cx="10271455" cy="457200"/>
          </a:xfrm>
          <a:prstGeom prst="rect">
            <a:avLst/>
          </a:prstGeom>
          <a:noFill/>
          <a:ln/>
        </p:spPr>
        <p:txBody>
          <a:bodyPr wrap="square" lIns="0" tIns="0" rIns="0" bIns="0" rtlCol="0" anchor="ctr"/>
          <a:lstStyle/>
          <a:p>
            <a:pPr indent="0" marL="0">
              <a:lnSpc>
                <a:spcPct val="100000"/>
              </a:lnSpc>
              <a:buNone/>
            </a:pPr>
            <a:r>
              <a:rPr lang="en-US" sz="1280" dirty="0">
                <a:solidFill>
                  <a:srgbClr val="3A4358"/>
                </a:solidFill>
                <a:latin typeface="Calibri" pitchFamily="34" charset="0"/>
                <a:ea typeface="Calibri" pitchFamily="34" charset="-122"/>
                <a:cs typeface="Calibri" pitchFamily="34" charset="-120"/>
              </a:rPr>
              <a:t>Judgement calls — tone, culture, intent — belong to people, not to inline flags.</a:t>
            </a:r>
            <a:endParaRPr lang="en-US" sz="1280" dirty="0"/>
          </a:p>
        </p:txBody>
      </p:sp>
      <p:sp>
        <p:nvSpPr>
          <p:cNvPr id="20" name="Shape 14"/>
          <p:cNvSpPr/>
          <p:nvPr/>
        </p:nvSpPr>
        <p:spPr>
          <a:xfrm>
            <a:off x="548640" y="5614416"/>
            <a:ext cx="566928" cy="566928"/>
          </a:xfrm>
          <a:prstGeom prst="ellipse">
            <a:avLst/>
          </a:prstGeom>
          <a:solidFill>
            <a:srgbClr val="E1604A"/>
          </a:solidFill>
          <a:ln/>
        </p:spPr>
      </p:sp>
      <p:pic>
        <p:nvPicPr>
          <p:cNvPr id="21" name="Image 4" descr="preencoded.png">    </p:cNvPr>
          <p:cNvPicPr>
            <a:picLocks noChangeAspect="1"/>
          </p:cNvPicPr>
          <p:nvPr/>
        </p:nvPicPr>
        <p:blipFill>
          <a:blip r:embed="rId5"/>
          <a:stretch>
            <a:fillRect/>
          </a:stretch>
        </p:blipFill>
        <p:spPr>
          <a:xfrm>
            <a:off x="713049" y="5778825"/>
            <a:ext cx="238110" cy="238110"/>
          </a:xfrm>
          <a:prstGeom prst="rect">
            <a:avLst/>
          </a:prstGeom>
        </p:spPr>
      </p:pic>
      <p:sp>
        <p:nvSpPr>
          <p:cNvPr id="22" name="Text 15"/>
          <p:cNvSpPr/>
          <p:nvPr/>
        </p:nvSpPr>
        <p:spPr>
          <a:xfrm>
            <a:off x="1371600" y="5568696"/>
            <a:ext cx="10271455" cy="347472"/>
          </a:xfrm>
          <a:prstGeom prst="rect">
            <a:avLst/>
          </a:prstGeom>
          <a:noFill/>
          <a:ln/>
        </p:spPr>
        <p:txBody>
          <a:bodyPr wrap="square" lIns="0" tIns="0" rIns="0" bIns="0" rtlCol="0" anchor="ctr"/>
          <a:lstStyle/>
          <a:p>
            <a:pPr indent="0" marL="0">
              <a:buNone/>
            </a:pPr>
            <a:r>
              <a:rPr lang="en-US" sz="1650" b="1" dirty="0">
                <a:solidFill>
                  <a:srgbClr val="1B2A4A"/>
                </a:solidFill>
                <a:latin typeface="Cambria" pitchFamily="34" charset="0"/>
                <a:ea typeface="Cambria" pitchFamily="34" charset="-122"/>
                <a:cs typeface="Cambria" pitchFamily="34" charset="-120"/>
              </a:rPr>
              <a:t>Explore fast, then harden</a:t>
            </a:r>
            <a:endParaRPr lang="en-US" sz="1650" dirty="0"/>
          </a:p>
        </p:txBody>
      </p:sp>
      <p:sp>
        <p:nvSpPr>
          <p:cNvPr id="23" name="Text 16"/>
          <p:cNvSpPr/>
          <p:nvPr/>
        </p:nvSpPr>
        <p:spPr>
          <a:xfrm>
            <a:off x="1371600" y="5916168"/>
            <a:ext cx="10271455" cy="457200"/>
          </a:xfrm>
          <a:prstGeom prst="rect">
            <a:avLst/>
          </a:prstGeom>
          <a:noFill/>
          <a:ln/>
        </p:spPr>
        <p:txBody>
          <a:bodyPr wrap="square" lIns="0" tIns="0" rIns="0" bIns="0" rtlCol="0" anchor="ctr"/>
          <a:lstStyle/>
          <a:p>
            <a:pPr indent="0" marL="0">
              <a:lnSpc>
                <a:spcPct val="100000"/>
              </a:lnSpc>
              <a:buNone/>
            </a:pPr>
            <a:r>
              <a:rPr lang="en-US" sz="1280" dirty="0">
                <a:solidFill>
                  <a:srgbClr val="3A4358"/>
                </a:solidFill>
                <a:latin typeface="Calibri" pitchFamily="34" charset="0"/>
                <a:ea typeface="Calibri" pitchFamily="34" charset="-122"/>
                <a:cs typeface="Calibri" pitchFamily="34" charset="-120"/>
              </a:rPr>
              <a:t>A prototype in weeks found the hard problems cheaply. The rework is where the real product is.</a:t>
            </a:r>
            <a:endParaRPr lang="en-US" sz="1280" dirty="0"/>
          </a:p>
        </p:txBody>
      </p:sp>
      <p:sp>
        <p:nvSpPr>
          <p:cNvPr id="24" name="Text 17"/>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488"/>
                </a:solidFill>
                <a:latin typeface="Calibri" pitchFamily="34" charset="0"/>
                <a:ea typeface="Calibri" pitchFamily="34" charset="-122"/>
                <a:cs typeface="Calibri" pitchFamily="34" charset="-120"/>
              </a:rPr>
              <a:t>Octavius — how it works</a:t>
            </a:r>
            <a:endParaRPr lang="en-US" sz="900" dirty="0"/>
          </a:p>
        </p:txBody>
      </p:sp>
      <p:sp>
        <p:nvSpPr>
          <p:cNvPr id="25" name="Shape 18"/>
          <p:cNvSpPr/>
          <p:nvPr/>
        </p:nvSpPr>
        <p:spPr>
          <a:xfrm>
            <a:off x="11259007" y="6492240"/>
            <a:ext cx="82296" cy="82296"/>
          </a:xfrm>
          <a:prstGeom prst="ellipse">
            <a:avLst/>
          </a:prstGeom>
          <a:solidFill>
            <a:srgbClr val="E1604A"/>
          </a:solidFill>
          <a:ln/>
        </p:spPr>
      </p:sp>
      <p:sp>
        <p:nvSpPr>
          <p:cNvPr id="26" name="Text 19"/>
          <p:cNvSpPr/>
          <p:nvPr/>
        </p:nvSpPr>
        <p:spPr>
          <a:xfrm>
            <a:off x="11368735" y="6437376"/>
            <a:ext cx="274320" cy="274320"/>
          </a:xfrm>
          <a:prstGeom prst="rect">
            <a:avLst/>
          </a:prstGeom>
          <a:noFill/>
          <a:ln/>
        </p:spPr>
        <p:txBody>
          <a:bodyPr wrap="square" lIns="0" tIns="0" rIns="0" bIns="0" rtlCol="0" anchor="ctr"/>
          <a:lstStyle/>
          <a:p>
            <a:pPr algn="r" indent="0" marL="0">
              <a:buNone/>
            </a:pPr>
            <a:r>
              <a:rPr lang="en-US" sz="900" dirty="0">
                <a:solidFill>
                  <a:srgbClr val="6B748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9692640" y="640080"/>
            <a:ext cx="2011680" cy="292608"/>
          </a:xfrm>
          <a:prstGeom prst="roundRect">
            <a:avLst>
              <a:gd name="adj" fmla="val 50000"/>
            </a:avLst>
          </a:prstGeom>
          <a:solidFill>
            <a:srgbClr val="E1604A">
              <a:alpha val="25000"/>
            </a:srgbClr>
          </a:solidFill>
          <a:ln/>
        </p:spPr>
      </p:sp>
      <p:sp>
        <p:nvSpPr>
          <p:cNvPr id="3" name="Shape 1"/>
          <p:cNvSpPr/>
          <p:nvPr/>
        </p:nvSpPr>
        <p:spPr>
          <a:xfrm>
            <a:off x="9052560" y="1051560"/>
            <a:ext cx="2651760" cy="292608"/>
          </a:xfrm>
          <a:prstGeom prst="roundRect">
            <a:avLst>
              <a:gd name="adj" fmla="val 50000"/>
            </a:avLst>
          </a:prstGeom>
          <a:solidFill>
            <a:srgbClr val="E1604A">
              <a:alpha val="40000"/>
            </a:srgbClr>
          </a:solidFill>
          <a:ln/>
        </p:spPr>
      </p:sp>
      <p:sp>
        <p:nvSpPr>
          <p:cNvPr id="4" name="Text 2"/>
          <p:cNvSpPr/>
          <p:nvPr/>
        </p:nvSpPr>
        <p:spPr>
          <a:xfrm>
            <a:off x="548640" y="822960"/>
            <a:ext cx="10058400" cy="274320"/>
          </a:xfrm>
          <a:prstGeom prst="rect">
            <a:avLst/>
          </a:prstGeom>
          <a:noFill/>
          <a:ln/>
        </p:spPr>
        <p:txBody>
          <a:bodyPr wrap="square" lIns="0" tIns="0" rIns="0" bIns="0" rtlCol="0" anchor="ctr"/>
          <a:lstStyle/>
          <a:p>
            <a:pPr algn="l" indent="0" marL="0">
              <a:buNone/>
            </a:pPr>
            <a:r>
              <a:rPr lang="en-US" sz="1200" b="1" spc="300" kern="0" dirty="0">
                <a:solidFill>
                  <a:srgbClr val="E1604A"/>
                </a:solidFill>
                <a:latin typeface="Calibri" pitchFamily="34" charset="0"/>
                <a:ea typeface="Calibri" pitchFamily="34" charset="-122"/>
                <a:cs typeface="Calibri" pitchFamily="34" charset="-120"/>
              </a:rPr>
              <a:t>IN ONE LINE</a:t>
            </a:r>
            <a:endParaRPr lang="en-US" sz="1200" dirty="0"/>
          </a:p>
        </p:txBody>
      </p:sp>
      <p:sp>
        <p:nvSpPr>
          <p:cNvPr id="5" name="Text 3"/>
          <p:cNvSpPr/>
          <p:nvPr/>
        </p:nvSpPr>
        <p:spPr>
          <a:xfrm>
            <a:off x="548640" y="1234440"/>
            <a:ext cx="10515600" cy="1554480"/>
          </a:xfrm>
          <a:prstGeom prst="rect">
            <a:avLst/>
          </a:prstGeom>
          <a:noFill/>
          <a:ln/>
        </p:spPr>
        <p:txBody>
          <a:bodyPr wrap="square" lIns="0" tIns="0" rIns="0" bIns="0" rtlCol="0" anchor="ctr"/>
          <a:lstStyle/>
          <a:p>
            <a:pPr algn="l" indent="0" marL="0">
              <a:lnSpc>
                <a:spcPct val="105000"/>
              </a:lnSpc>
              <a:buNone/>
            </a:pPr>
            <a:r>
              <a:rPr lang="en-US" sz="4000" b="1" dirty="0">
                <a:solidFill>
                  <a:srgbClr val="FFFFFF"/>
                </a:solidFill>
                <a:latin typeface="Cambria" pitchFamily="34" charset="0"/>
                <a:ea typeface="Cambria" pitchFamily="34" charset="-122"/>
                <a:cs typeface="Cambria" pitchFamily="34" charset="-120"/>
              </a:rPr>
              <a:t>Explore with GenAI.
</a:t>
            </a:r>
            <a:pPr algn="l" indent="0" marL="0">
              <a:lnSpc>
                <a:spcPct val="105000"/>
              </a:lnSpc>
              <a:buNone/>
            </a:pPr>
            <a:r>
              <a:rPr lang="en-US" sz="4000" b="1" dirty="0">
                <a:solidFill>
                  <a:srgbClr val="E1604A"/>
                </a:solidFill>
                <a:latin typeface="Cambria" pitchFamily="34" charset="0"/>
                <a:ea typeface="Cambria" pitchFamily="34" charset="-122"/>
                <a:cs typeface="Cambria" pitchFamily="34" charset="-120"/>
              </a:rPr>
              <a:t>Ship something predictable.</a:t>
            </a:r>
            <a:endParaRPr lang="en-US" sz="4000" dirty="0"/>
          </a:p>
        </p:txBody>
      </p:sp>
      <p:sp>
        <p:nvSpPr>
          <p:cNvPr id="6" name="Shape 4"/>
          <p:cNvSpPr/>
          <p:nvPr/>
        </p:nvSpPr>
        <p:spPr>
          <a:xfrm>
            <a:off x="548640" y="3291840"/>
            <a:ext cx="3393338" cy="2468880"/>
          </a:xfrm>
          <a:prstGeom prst="roundRect">
            <a:avLst>
              <a:gd name="adj" fmla="val 3704"/>
            </a:avLst>
          </a:prstGeom>
          <a:solidFill>
            <a:srgbClr val="22355C"/>
          </a:solidFill>
          <a:ln/>
        </p:spPr>
      </p:sp>
      <p:sp>
        <p:nvSpPr>
          <p:cNvPr id="7" name="Shape 5"/>
          <p:cNvSpPr/>
          <p:nvPr/>
        </p:nvSpPr>
        <p:spPr>
          <a:xfrm>
            <a:off x="868680" y="3611880"/>
            <a:ext cx="603504" cy="603504"/>
          </a:xfrm>
          <a:prstGeom prst="ellipse">
            <a:avLst/>
          </a:prstGeom>
          <a:solidFill>
            <a:srgbClr val="E1604A"/>
          </a:solidFill>
          <a:ln/>
        </p:spPr>
      </p:sp>
      <p:pic>
        <p:nvPicPr>
          <p:cNvPr id="8" name="Image 0" descr="preencoded.png">    </p:cNvPr>
          <p:cNvPicPr>
            <a:picLocks noChangeAspect="1"/>
          </p:cNvPicPr>
          <p:nvPr/>
        </p:nvPicPr>
        <p:blipFill>
          <a:blip r:embed="rId1"/>
          <a:stretch>
            <a:fillRect/>
          </a:stretch>
        </p:blipFill>
        <p:spPr>
          <a:xfrm>
            <a:off x="1043696" y="3786896"/>
            <a:ext cx="253472" cy="253472"/>
          </a:xfrm>
          <a:prstGeom prst="rect">
            <a:avLst/>
          </a:prstGeom>
        </p:spPr>
      </p:pic>
      <p:sp>
        <p:nvSpPr>
          <p:cNvPr id="9" name="Text 6"/>
          <p:cNvSpPr/>
          <p:nvPr/>
        </p:nvSpPr>
        <p:spPr>
          <a:xfrm>
            <a:off x="868680" y="4343400"/>
            <a:ext cx="2753258" cy="6400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It's AI — not a chatbot</a:t>
            </a:r>
            <a:endParaRPr lang="en-US" sz="1600" dirty="0"/>
          </a:p>
        </p:txBody>
      </p:sp>
      <p:sp>
        <p:nvSpPr>
          <p:cNvPr id="10" name="Text 7"/>
          <p:cNvSpPr/>
          <p:nvPr/>
        </p:nvSpPr>
        <p:spPr>
          <a:xfrm>
            <a:off x="868680" y="4892040"/>
            <a:ext cx="2753258" cy="777240"/>
          </a:xfrm>
          <a:prstGeom prst="rect">
            <a:avLst/>
          </a:prstGeom>
          <a:noFill/>
          <a:ln/>
        </p:spPr>
        <p:txBody>
          <a:bodyPr wrap="square" lIns="0" tIns="0" rIns="0" bIns="0" rtlCol="0" anchor="ctr"/>
          <a:lstStyle/>
          <a:p>
            <a:pPr indent="0" marL="0">
              <a:lnSpc>
                <a:spcPct val="108000"/>
              </a:lnSpc>
              <a:buNone/>
            </a:pPr>
            <a:r>
              <a:rPr lang="en-US" sz="1250" dirty="0">
                <a:solidFill>
                  <a:srgbClr val="C9D6EF"/>
                </a:solidFill>
                <a:latin typeface="Calibri" pitchFamily="34" charset="0"/>
                <a:ea typeface="Calibri" pitchFamily="34" charset="-122"/>
                <a:cs typeface="Calibri" pitchFamily="34" charset="-120"/>
              </a:rPr>
              <a:t>Octavius checks writing against fixed, sourced rules, not a live model.</a:t>
            </a:r>
            <a:endParaRPr lang="en-US" sz="1250" dirty="0"/>
          </a:p>
        </p:txBody>
      </p:sp>
      <p:sp>
        <p:nvSpPr>
          <p:cNvPr id="11" name="Shape 8"/>
          <p:cNvSpPr/>
          <p:nvPr/>
        </p:nvSpPr>
        <p:spPr>
          <a:xfrm>
            <a:off x="4399178" y="3291840"/>
            <a:ext cx="3393338" cy="2468880"/>
          </a:xfrm>
          <a:prstGeom prst="roundRect">
            <a:avLst>
              <a:gd name="adj" fmla="val 3704"/>
            </a:avLst>
          </a:prstGeom>
          <a:solidFill>
            <a:srgbClr val="22355C"/>
          </a:solidFill>
          <a:ln/>
        </p:spPr>
      </p:sp>
      <p:sp>
        <p:nvSpPr>
          <p:cNvPr id="12" name="Shape 9"/>
          <p:cNvSpPr/>
          <p:nvPr/>
        </p:nvSpPr>
        <p:spPr>
          <a:xfrm>
            <a:off x="4719218" y="3611880"/>
            <a:ext cx="603504" cy="603504"/>
          </a:xfrm>
          <a:prstGeom prst="ellipse">
            <a:avLst/>
          </a:prstGeom>
          <a:solidFill>
            <a:srgbClr val="E1604A"/>
          </a:solidFill>
          <a:ln/>
        </p:spPr>
      </p:sp>
      <p:pic>
        <p:nvPicPr>
          <p:cNvPr id="13" name="Image 1" descr="preencoded.png">    </p:cNvPr>
          <p:cNvPicPr>
            <a:picLocks noChangeAspect="1"/>
          </p:cNvPicPr>
          <p:nvPr/>
        </p:nvPicPr>
        <p:blipFill>
          <a:blip r:embed="rId2"/>
          <a:stretch>
            <a:fillRect/>
          </a:stretch>
        </p:blipFill>
        <p:spPr>
          <a:xfrm>
            <a:off x="4894235" y="3786896"/>
            <a:ext cx="253472" cy="253472"/>
          </a:xfrm>
          <a:prstGeom prst="rect">
            <a:avLst/>
          </a:prstGeom>
        </p:spPr>
      </p:pic>
      <p:sp>
        <p:nvSpPr>
          <p:cNvPr id="14" name="Text 10"/>
          <p:cNvSpPr/>
          <p:nvPr/>
        </p:nvSpPr>
        <p:spPr>
          <a:xfrm>
            <a:off x="4719218" y="4343400"/>
            <a:ext cx="2753258" cy="6400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GenAI built it, offline</a:t>
            </a:r>
            <a:endParaRPr lang="en-US" sz="1600" dirty="0"/>
          </a:p>
        </p:txBody>
      </p:sp>
      <p:sp>
        <p:nvSpPr>
          <p:cNvPr id="15" name="Text 11"/>
          <p:cNvSpPr/>
          <p:nvPr/>
        </p:nvSpPr>
        <p:spPr>
          <a:xfrm>
            <a:off x="4719218" y="4892040"/>
            <a:ext cx="2753258" cy="777240"/>
          </a:xfrm>
          <a:prstGeom prst="rect">
            <a:avLst/>
          </a:prstGeom>
          <a:noFill/>
          <a:ln/>
        </p:spPr>
        <p:txBody>
          <a:bodyPr wrap="square" lIns="0" tIns="0" rIns="0" bIns="0" rtlCol="0" anchor="ctr"/>
          <a:lstStyle/>
          <a:p>
            <a:pPr indent="0" marL="0">
              <a:lnSpc>
                <a:spcPct val="108000"/>
              </a:lnSpc>
              <a:buNone/>
            </a:pPr>
            <a:r>
              <a:rPr lang="en-US" sz="1250" dirty="0">
                <a:solidFill>
                  <a:srgbClr val="C9D6EF"/>
                </a:solidFill>
                <a:latin typeface="Calibri" pitchFamily="34" charset="0"/>
                <a:ea typeface="Calibri" pitchFamily="34" charset="-122"/>
                <a:cs typeface="Calibri" pitchFamily="34" charset="-120"/>
              </a:rPr>
              <a:t>Rules drafted, coded and tested by machine on an assembly line — reusable anywhere.</a:t>
            </a:r>
            <a:endParaRPr lang="en-US" sz="1250" dirty="0"/>
          </a:p>
        </p:txBody>
      </p:sp>
      <p:sp>
        <p:nvSpPr>
          <p:cNvPr id="16" name="Shape 12"/>
          <p:cNvSpPr/>
          <p:nvPr/>
        </p:nvSpPr>
        <p:spPr>
          <a:xfrm>
            <a:off x="8249717" y="3291840"/>
            <a:ext cx="3393338" cy="2468880"/>
          </a:xfrm>
          <a:prstGeom prst="roundRect">
            <a:avLst>
              <a:gd name="adj" fmla="val 3704"/>
            </a:avLst>
          </a:prstGeom>
          <a:solidFill>
            <a:srgbClr val="22355C"/>
          </a:solidFill>
          <a:ln/>
        </p:spPr>
      </p:sp>
      <p:sp>
        <p:nvSpPr>
          <p:cNvPr id="17" name="Shape 13"/>
          <p:cNvSpPr/>
          <p:nvPr/>
        </p:nvSpPr>
        <p:spPr>
          <a:xfrm>
            <a:off x="8569757" y="3611880"/>
            <a:ext cx="603504" cy="603504"/>
          </a:xfrm>
          <a:prstGeom prst="ellipse">
            <a:avLst/>
          </a:prstGeom>
          <a:solidFill>
            <a:srgbClr val="E1604A"/>
          </a:solidFill>
          <a:ln/>
        </p:spPr>
      </p:sp>
      <p:pic>
        <p:nvPicPr>
          <p:cNvPr id="18" name="Image 2" descr="preencoded.png">    </p:cNvPr>
          <p:cNvPicPr>
            <a:picLocks noChangeAspect="1"/>
          </p:cNvPicPr>
          <p:nvPr/>
        </p:nvPicPr>
        <p:blipFill>
          <a:blip r:embed="rId3"/>
          <a:stretch>
            <a:fillRect/>
          </a:stretch>
        </p:blipFill>
        <p:spPr>
          <a:xfrm>
            <a:off x="8744773" y="3786896"/>
            <a:ext cx="253472" cy="253472"/>
          </a:xfrm>
          <a:prstGeom prst="rect">
            <a:avLst/>
          </a:prstGeom>
        </p:spPr>
      </p:pic>
      <p:sp>
        <p:nvSpPr>
          <p:cNvPr id="19" name="Text 14"/>
          <p:cNvSpPr/>
          <p:nvPr/>
        </p:nvSpPr>
        <p:spPr>
          <a:xfrm>
            <a:off x="8569757" y="4343400"/>
            <a:ext cx="2753258" cy="6400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Honest about its limits</a:t>
            </a:r>
            <a:endParaRPr lang="en-US" sz="1600" dirty="0"/>
          </a:p>
        </p:txBody>
      </p:sp>
      <p:sp>
        <p:nvSpPr>
          <p:cNvPr id="20" name="Text 15"/>
          <p:cNvSpPr/>
          <p:nvPr/>
        </p:nvSpPr>
        <p:spPr>
          <a:xfrm>
            <a:off x="8569757" y="4892040"/>
            <a:ext cx="2753258" cy="777240"/>
          </a:xfrm>
          <a:prstGeom prst="rect">
            <a:avLst/>
          </a:prstGeom>
          <a:noFill/>
          <a:ln/>
        </p:spPr>
        <p:txBody>
          <a:bodyPr wrap="square" lIns="0" tIns="0" rIns="0" bIns="0" rtlCol="0" anchor="ctr"/>
          <a:lstStyle/>
          <a:p>
            <a:pPr indent="0" marL="0">
              <a:lnSpc>
                <a:spcPct val="108000"/>
              </a:lnSpc>
              <a:buNone/>
            </a:pPr>
            <a:r>
              <a:rPr lang="en-US" sz="1250" dirty="0">
                <a:solidFill>
                  <a:srgbClr val="C9D6EF"/>
                </a:solidFill>
                <a:latin typeface="Calibri" pitchFamily="34" charset="0"/>
                <a:ea typeface="Calibri" pitchFamily="34" charset="-122"/>
                <a:cs typeface="Calibri" pitchFamily="34" charset="-120"/>
              </a:rPr>
              <a:t>It over-flags today. The exploration made the fix — and the risk — clear and cheap.</a:t>
            </a:r>
            <a:endParaRPr lang="en-US" sz="1250" dirty="0"/>
          </a:p>
        </p:txBody>
      </p:sp>
      <p:sp>
        <p:nvSpPr>
          <p:cNvPr id="21" name="Text 16"/>
          <p:cNvSpPr/>
          <p:nvPr/>
        </p:nvSpPr>
        <p:spPr>
          <a:xfrm>
            <a:off x="548640" y="6172200"/>
            <a:ext cx="10058400" cy="320040"/>
          </a:xfrm>
          <a:prstGeom prst="rect">
            <a:avLst/>
          </a:prstGeom>
          <a:noFill/>
          <a:ln/>
        </p:spPr>
        <p:txBody>
          <a:bodyPr wrap="square" lIns="0" tIns="0" rIns="0" bIns="0" rtlCol="0" anchor="ctr"/>
          <a:lstStyle/>
          <a:p>
            <a:pPr indent="0" marL="0">
              <a:buNone/>
            </a:pPr>
            <a:r>
              <a:rPr lang="en-US" sz="1200" i="1" dirty="0">
                <a:solidFill>
                  <a:srgbClr val="5C6B8C"/>
                </a:solidFill>
                <a:latin typeface="Calibri" pitchFamily="34" charset="0"/>
                <a:ea typeface="Calibri" pitchFamily="34" charset="-122"/>
                <a:cs typeface="Calibri" pitchFamily="34" charset="-120"/>
              </a:rPr>
              <a:t>Octavius — a plain-language checker for government writing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Octavius Works</dc:title>
  <dc:subject>PptxGenJS Presentation</dc:subject>
  <dc:creator>Octavius</dc:creator>
  <cp:lastModifiedBy>Octavius</cp:lastModifiedBy>
  <cp:revision>1</cp:revision>
  <dcterms:created xsi:type="dcterms:W3CDTF">2026-07-22T18:33:57Z</dcterms:created>
  <dcterms:modified xsi:type="dcterms:W3CDTF">2026-07-22T18:33:57Z</dcterms:modified>
</cp:coreProperties>
</file>
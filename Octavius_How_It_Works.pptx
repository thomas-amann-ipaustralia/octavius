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Octavius is a plain-language checker for Australian Public Service writing. The headline for this talk: the interesting AI story isn't a chatbot — it's how GenAI was used behind the scenes to explore the problem and build something predictable and low-risk.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Style Manual is the standard for APS writing, but it's huge. Checking against it by hand is slow, inconsistent and error-prone. That's the gap Octavius fills.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framing: you write as normal, and Octavius underlines style issues in place — like a spell-checker, but for plain-English government style. Every flag comes with an explanation, a suggested fix, and a link to the official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important mental-model shift for the audience: Octavius uses AI, but nothing is generated live. It doesn't 'think up' an answer — it checks your text against a fixed set of rules and gives the same, explainable result every time. That predictability is the whole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steps in plain terms. Emphasise the bottom strip: at the moment you use it, there's no live AI, no external call, no waiting — it's a fast lookup against a fixed rulebook. Speed and predictability come from this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behind the app is a rulebook of 800-plus small, independent checks, grouped roughly into word choices, structure/patterns, and spelling/punctuation. The crucial property: each one traces back to a specific piece of official guidance, so nothing is a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heart of the talk. The genuinely clever, creative, error-prone work — reading a huge manual, drafting rules, writing code, fixing mistakes — was done by GenAI up front, offline, on an assembly line. A person would take months. And crucially, a testing step sits in the middle: nothing ships unless it passes.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back to de-risking. The unpredictable, creative use of AI is quarantined to the build phase, where mistakes are cheap and caught by tests. What ships to users is boring in the best way: predictable, explainable, safe, fast and cheap.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lessons generalise beyond Octavius. The headline: GenAI is at its best de-risking exploratory work — building and refining a solution quickly — while the thing you actually ship can be simple and predictable. Test everything it produces.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takeaways: it's AI but not a chatbot; GenAI built it offline and everything was tested; and the risk was kept in the build phase, so users get a predictable tool. That's the model for using GenAI to explore and de-risk more broadly.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914400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E1604A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1371600"/>
            <a:ext cx="2743200" cy="310896"/>
          </a:xfrm>
          <a:prstGeom prst="roundRect">
            <a:avLst>
              <a:gd name="adj" fmla="val 50000"/>
            </a:avLst>
          </a:prstGeom>
          <a:solidFill>
            <a:srgbClr val="E1604A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1828800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E1604A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CASE STUDY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Octavius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C9D6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plain-language checker for government writing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used GenAI to </a:t>
            </a:r>
            <a:pPr algn="l" indent="0" marL="0">
              <a:buNone/>
            </a:pPr>
            <a:r>
              <a:rPr lang="en-US" sz="18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and de-risk</a:t>
            </a:r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without a chatbot in sight.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5806440"/>
            <a:ext cx="457200" cy="54864"/>
          </a:xfrm>
          <a:prstGeom prst="roundRect">
            <a:avLst>
              <a:gd name="adj" fmla="val 50000"/>
            </a:avLst>
          </a:prstGeom>
          <a:solidFill>
            <a:srgbClr val="E1604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9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a wider talk on the benefits of GenAI for exploratory work and de-risking solutions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Good government writing is hard to get right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049" y="1947489"/>
            <a:ext cx="238110" cy="238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746504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Hundreds of rules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325880" y="2093976"/>
            <a:ext cx="5532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Service content must follow the Australian Government Style Manual — a large body of guidance on words, punctuation, structure and inclusive language.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200400"/>
            <a:ext cx="566928" cy="566928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049" y="3364809"/>
            <a:ext cx="238110" cy="23811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3163824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Applied inconsistently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325880" y="3511296"/>
            <a:ext cx="5532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by hand, every reviewer catches different things. Standards drift between people, teams and documents.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48640" y="4617720"/>
            <a:ext cx="566928" cy="566928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49" y="4782129"/>
            <a:ext cx="238110" cy="2381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25880" y="4581144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and easy to miss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325880" y="4928616"/>
            <a:ext cx="5532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checking long documents against so many rules is tedious — and small slips slip through.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7315200" y="1783080"/>
            <a:ext cx="4327855" cy="3931920"/>
          </a:xfrm>
          <a:prstGeom prst="roundRect">
            <a:avLst>
              <a:gd name="adj" fmla="val 2791"/>
            </a:avLst>
          </a:prstGeom>
          <a:solidFill>
            <a:srgbClr val="1B2A4A"/>
          </a:solidFill>
          <a:ln/>
        </p:spPr>
      </p:sp>
      <p:sp>
        <p:nvSpPr>
          <p:cNvPr id="17" name="Shape 12"/>
          <p:cNvSpPr/>
          <p:nvPr/>
        </p:nvSpPr>
        <p:spPr>
          <a:xfrm>
            <a:off x="7315200" y="1783080"/>
            <a:ext cx="4327855" cy="3931920"/>
          </a:xfrm>
          <a:prstGeom prst="roundRect">
            <a:avLst>
              <a:gd name="adj" fmla="val 2791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543800" y="17373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E16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000" dirty="0"/>
          </a:p>
        </p:txBody>
      </p:sp>
      <p:sp>
        <p:nvSpPr>
          <p:cNvPr id="19" name="Text 14"/>
          <p:cNvSpPr/>
          <p:nvPr/>
        </p:nvSpPr>
        <p:spPr>
          <a:xfrm>
            <a:off x="7772400" y="2834640"/>
            <a:ext cx="34134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public-facing document is meant to meet the same standard.</a:t>
            </a:r>
            <a:endParaRPr lang="en-US" sz="2100" dirty="0"/>
          </a:p>
        </p:txBody>
      </p:sp>
      <p:sp>
        <p:nvSpPr>
          <p:cNvPr id="20" name="Text 15"/>
          <p:cNvSpPr/>
          <p:nvPr/>
        </p:nvSpPr>
        <p:spPr>
          <a:xfrm>
            <a:off x="7772400" y="4480560"/>
            <a:ext cx="3413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C9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that's a lot to check — line by line, page after page.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23" name="Text 18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spell-check — but for plain-English style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4008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5875">
            <a:solidFill>
              <a:srgbClr val="E4E9F2"/>
            </a:solidFill>
            <a:prstDash val="solid"/>
          </a:ln>
          <a:effectLst>
            <a:outerShdw sx="100000" sy="100000" kx="0" ky="0" algn="bl" rotWithShape="0" blurRad="114300" dist="38100" dir="5400000">
              <a:srgbClr val="9AA3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6400800" cy="411480"/>
          </a:xfrm>
          <a:prstGeom prst="roundRect">
            <a:avLst>
              <a:gd name="adj" fmla="val 22222"/>
            </a:avLst>
          </a:prstGeom>
          <a:solidFill>
            <a:srgbClr val="EEF1F7"/>
          </a:solidFill>
          <a:ln/>
        </p:spPr>
      </p:sp>
      <p:sp>
        <p:nvSpPr>
          <p:cNvPr id="6" name="Shape 4"/>
          <p:cNvSpPr/>
          <p:nvPr/>
        </p:nvSpPr>
        <p:spPr>
          <a:xfrm>
            <a:off x="804672" y="1924812"/>
            <a:ext cx="128016" cy="12801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7" name="Shape 5"/>
          <p:cNvSpPr/>
          <p:nvPr/>
        </p:nvSpPr>
        <p:spPr>
          <a:xfrm>
            <a:off x="1060704" y="1924812"/>
            <a:ext cx="128016" cy="128016"/>
          </a:xfrm>
          <a:prstGeom prst="ellipse">
            <a:avLst/>
          </a:prstGeom>
          <a:solidFill>
            <a:srgbClr val="E7B24A"/>
          </a:solidFill>
          <a:ln/>
        </p:spPr>
      </p:sp>
      <p:sp>
        <p:nvSpPr>
          <p:cNvPr id="8" name="Shape 6"/>
          <p:cNvSpPr/>
          <p:nvPr/>
        </p:nvSpPr>
        <p:spPr>
          <a:xfrm>
            <a:off x="1316736" y="1924812"/>
            <a:ext cx="128016" cy="128016"/>
          </a:xfrm>
          <a:prstGeom prst="ellipse">
            <a:avLst/>
          </a:prstGeom>
          <a:solidFill>
            <a:srgbClr val="5FB07A"/>
          </a:solidFill>
          <a:ln/>
        </p:spPr>
      </p:sp>
      <p:sp>
        <p:nvSpPr>
          <p:cNvPr id="9" name="Text 7"/>
          <p:cNvSpPr/>
          <p:nvPr/>
        </p:nvSpPr>
        <p:spPr>
          <a:xfrm>
            <a:off x="1737360" y="17830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Program Guidelines — draft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Applying for funding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28803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3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department will 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23A2A"/>
                </a:solidFill>
                <a:highlight>
                  <a:srgbClr val="F6D3CB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endeavour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3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process applications 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23A2A"/>
                </a:solidFill>
                <a:highlight>
                  <a:srgbClr val="F6D3CB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 order to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3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support small businesses 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B23A2A"/>
                </a:solidFill>
                <a:highlight>
                  <a:srgbClr val="F6D3CB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going forward</a:t>
            </a:r>
            <a:pPr algn="l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A3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4069080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" y="4251960"/>
            <a:ext cx="91440" cy="91440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14" name="Text 12"/>
          <p:cNvSpPr/>
          <p:nvPr/>
        </p:nvSpPr>
        <p:spPr>
          <a:xfrm>
            <a:off x="1261872" y="4069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endeavour  </a:t>
            </a:r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simpler word — “try”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14400" y="4599432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4782312"/>
            <a:ext cx="91440" cy="91440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17" name="Text 15"/>
          <p:cNvSpPr/>
          <p:nvPr/>
        </p:nvSpPr>
        <p:spPr>
          <a:xfrm>
            <a:off x="1261872" y="459943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 to  </a:t>
            </a:r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use “to”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14400" y="5129784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1560" y="5312664"/>
            <a:ext cx="91440" cy="91440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20" name="Text 18"/>
          <p:cNvSpPr/>
          <p:nvPr/>
        </p:nvSpPr>
        <p:spPr>
          <a:xfrm>
            <a:off x="1261872" y="512978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forward  </a:t>
            </a:r>
            <a:pPr indent="0" marL="0">
              <a:buNone/>
            </a:pPr>
            <a:r>
              <a:rPr lang="en-US" sz="115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unnecessary — consider removing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269480" y="1810512"/>
            <a:ext cx="512064" cy="51206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17979" y="1959011"/>
            <a:ext cx="215067" cy="215067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955280" y="1755648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issues in place</a:t>
            </a:r>
            <a:endParaRPr lang="en-US" sz="1550" dirty="0"/>
          </a:p>
        </p:txBody>
      </p:sp>
      <p:sp>
        <p:nvSpPr>
          <p:cNvPr id="24" name="Text 21"/>
          <p:cNvSpPr/>
          <p:nvPr/>
        </p:nvSpPr>
        <p:spPr>
          <a:xfrm>
            <a:off x="7955280" y="2084832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style problems right in your text.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7269480" y="2816352"/>
            <a:ext cx="512064" cy="51206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7979" y="2964851"/>
            <a:ext cx="215067" cy="215067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955280" y="2761488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Explains why</a:t>
            </a:r>
            <a:endParaRPr lang="en-US" sz="1550" dirty="0"/>
          </a:p>
        </p:txBody>
      </p:sp>
      <p:sp>
        <p:nvSpPr>
          <p:cNvPr id="28" name="Text 24"/>
          <p:cNvSpPr/>
          <p:nvPr/>
        </p:nvSpPr>
        <p:spPr>
          <a:xfrm>
            <a:off x="7955280" y="3090672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flag says which rule applies and what to do.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7269480" y="3822192"/>
            <a:ext cx="512064" cy="51206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7979" y="3970691"/>
            <a:ext cx="215067" cy="215067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955280" y="3767328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Suggests a fix</a:t>
            </a:r>
            <a:endParaRPr lang="en-US" sz="1550" dirty="0"/>
          </a:p>
        </p:txBody>
      </p:sp>
      <p:sp>
        <p:nvSpPr>
          <p:cNvPr id="32" name="Text 27"/>
          <p:cNvSpPr/>
          <p:nvPr/>
        </p:nvSpPr>
        <p:spPr>
          <a:xfrm>
            <a:off x="7955280" y="4096512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a plainer word or phrasing you can accept.</a:t>
            </a:r>
            <a:endParaRPr lang="en-US" sz="1250" dirty="0"/>
          </a:p>
        </p:txBody>
      </p:sp>
      <p:sp>
        <p:nvSpPr>
          <p:cNvPr id="33" name="Shape 28"/>
          <p:cNvSpPr/>
          <p:nvPr/>
        </p:nvSpPr>
        <p:spPr>
          <a:xfrm>
            <a:off x="7269480" y="4828032"/>
            <a:ext cx="512064" cy="51206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7979" y="4976531"/>
            <a:ext cx="215067" cy="215067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7955280" y="4773168"/>
            <a:ext cx="3687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Links to the source</a:t>
            </a:r>
            <a:endParaRPr lang="en-US" sz="1550" dirty="0"/>
          </a:p>
        </p:txBody>
      </p:sp>
      <p:sp>
        <p:nvSpPr>
          <p:cNvPr id="36" name="Text 30"/>
          <p:cNvSpPr/>
          <p:nvPr/>
        </p:nvSpPr>
        <p:spPr>
          <a:xfrm>
            <a:off x="7955280" y="5102352"/>
            <a:ext cx="3687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points back to the official guidance.</a:t>
            </a:r>
            <a:endParaRPr lang="en-US" sz="1250" dirty="0"/>
          </a:p>
        </p:txBody>
      </p:sp>
      <p:sp>
        <p:nvSpPr>
          <p:cNvPr id="37" name="Text 3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39" name="Text 33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AI — but it is not a chatbot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18608" cy="3977640"/>
          </a:xfrm>
          <a:prstGeom prst="roundRect">
            <a:avLst>
              <a:gd name="adj" fmla="val 2299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75688"/>
            <a:ext cx="548640" cy="548640"/>
          </a:xfrm>
          <a:prstGeom prst="ellipse">
            <a:avLst/>
          </a:prstGeom>
          <a:solidFill>
            <a:srgbClr val="5C6B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2234794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57400"/>
            <a:ext cx="412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chatbot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554480" y="2404872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(like a typical AI assistant)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207008" y="2926080"/>
            <a:ext cx="431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 fresh answer each time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914400" y="36118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207008" y="3611880"/>
            <a:ext cx="431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sound confident but be wrong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914400" y="4297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07008" y="4297680"/>
            <a:ext cx="431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see why it answered that way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14400" y="49834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207008" y="4983480"/>
            <a:ext cx="431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one request in a conversation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324448" y="1783080"/>
            <a:ext cx="5318608" cy="3977640"/>
          </a:xfrm>
          <a:prstGeom prst="roundRect">
            <a:avLst>
              <a:gd name="adj" fmla="val 2299"/>
            </a:avLst>
          </a:prstGeom>
          <a:solidFill>
            <a:srgbClr val="1B2A4A"/>
          </a:solidFill>
          <a:ln/>
        </p:spPr>
      </p:sp>
      <p:sp>
        <p:nvSpPr>
          <p:cNvPr id="18" name="Shape 15"/>
          <p:cNvSpPr/>
          <p:nvPr/>
        </p:nvSpPr>
        <p:spPr>
          <a:xfrm>
            <a:off x="6644488" y="2075688"/>
            <a:ext cx="548640" cy="54864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593" y="2234794"/>
            <a:ext cx="230429" cy="230429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330288" y="2057400"/>
            <a:ext cx="412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Octavius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7330288" y="2404872"/>
            <a:ext cx="412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rule checker, not a talker)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690208" y="29260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037680" y="2926080"/>
            <a:ext cx="426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against fixed, known rules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690208" y="36118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7037680" y="3611880"/>
            <a:ext cx="426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 every time — no guessing</a:t>
            </a:r>
            <a:endParaRPr lang="en-US" sz="1350" dirty="0"/>
          </a:p>
        </p:txBody>
      </p:sp>
      <p:sp>
        <p:nvSpPr>
          <p:cNvPr id="26" name="Text 22"/>
          <p:cNvSpPr/>
          <p:nvPr/>
        </p:nvSpPr>
        <p:spPr>
          <a:xfrm>
            <a:off x="6690208" y="42976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7037680" y="4297680"/>
            <a:ext cx="426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exact rule and links the source</a:t>
            </a:r>
            <a:endParaRPr lang="en-US" sz="1350" dirty="0"/>
          </a:p>
        </p:txBody>
      </p:sp>
      <p:sp>
        <p:nvSpPr>
          <p:cNvPr id="28" name="Text 24"/>
          <p:cNvSpPr/>
          <p:nvPr/>
        </p:nvSpPr>
        <p:spPr>
          <a:xfrm>
            <a:off x="6690208" y="49834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7037680" y="4983480"/>
            <a:ext cx="426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a whole document in an instant</a:t>
            </a:r>
            <a:endParaRPr lang="en-US" sz="1350" dirty="0"/>
          </a:p>
        </p:txBody>
      </p:sp>
      <p:sp>
        <p:nvSpPr>
          <p:cNvPr id="30" name="Text 2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32" name="Text 28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WHEN YOU USE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in a fraction of a second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499284" cy="2926080"/>
          </a:xfrm>
          <a:prstGeom prst="roundRect">
            <a:avLst>
              <a:gd name="adj" fmla="val 3659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96530" y="228600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6" name="Text 4"/>
          <p:cNvSpPr/>
          <p:nvPr/>
        </p:nvSpPr>
        <p:spPr>
          <a:xfrm>
            <a:off x="1496530" y="22860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16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2133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document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3657600"/>
            <a:ext cx="20603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out the parts — headings, paragraphs, lists and quotes.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47924" y="31546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13684" y="1965960"/>
            <a:ext cx="2499284" cy="2926080"/>
          </a:xfrm>
          <a:prstGeom prst="roundRect">
            <a:avLst>
              <a:gd name="adj" fmla="val 3659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574" y="228600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12" name="Text 10"/>
          <p:cNvSpPr/>
          <p:nvPr/>
        </p:nvSpPr>
        <p:spPr>
          <a:xfrm>
            <a:off x="4361574" y="22860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16" dirty="0"/>
          </a:p>
        </p:txBody>
      </p:sp>
      <p:sp>
        <p:nvSpPr>
          <p:cNvPr id="13" name="Text 11"/>
          <p:cNvSpPr/>
          <p:nvPr/>
        </p:nvSpPr>
        <p:spPr>
          <a:xfrm>
            <a:off x="3596564" y="3017520"/>
            <a:ext cx="2133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aside the exceptions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33140" y="3657600"/>
            <a:ext cx="20603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things that shouldn't be checked, like web links, code and direct quotes.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12968" y="31546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278728" y="1965960"/>
            <a:ext cx="2499284" cy="2926080"/>
          </a:xfrm>
          <a:prstGeom prst="roundRect">
            <a:avLst>
              <a:gd name="adj" fmla="val 3659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26617" y="228600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18" name="Text 16"/>
          <p:cNvSpPr/>
          <p:nvPr/>
        </p:nvSpPr>
        <p:spPr>
          <a:xfrm>
            <a:off x="7226617" y="22860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16" dirty="0"/>
          </a:p>
        </p:txBody>
      </p:sp>
      <p:sp>
        <p:nvSpPr>
          <p:cNvPr id="19" name="Text 17"/>
          <p:cNvSpPr/>
          <p:nvPr/>
        </p:nvSpPr>
        <p:spPr>
          <a:xfrm>
            <a:off x="6461608" y="3017520"/>
            <a:ext cx="2133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only the relevant checks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8184" y="3657600"/>
            <a:ext cx="20603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part, picks just the rules that could apply — so it stays fast.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78011" y="31546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143771" y="1965960"/>
            <a:ext cx="2499284" cy="2926080"/>
          </a:xfrm>
          <a:prstGeom prst="roundRect">
            <a:avLst>
              <a:gd name="adj" fmla="val 3659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1661" y="228600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24" name="Text 22"/>
          <p:cNvSpPr/>
          <p:nvPr/>
        </p:nvSpPr>
        <p:spPr>
          <a:xfrm>
            <a:off x="10091661" y="228600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1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16" dirty="0"/>
          </a:p>
        </p:txBody>
      </p:sp>
      <p:sp>
        <p:nvSpPr>
          <p:cNvPr id="25" name="Text 23"/>
          <p:cNvSpPr/>
          <p:nvPr/>
        </p:nvSpPr>
        <p:spPr>
          <a:xfrm>
            <a:off x="9326651" y="3017520"/>
            <a:ext cx="21335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 and suggest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363227" y="3657600"/>
            <a:ext cx="20603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each issue in place, with an explanation and a fix.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534924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34924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runs at this stage.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text never leaves for an AI model — it's matched against the built-in rulebook, instantly and predictably.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31" name="Text 29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rulebook of 800+ automated checks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66160" cy="3886200"/>
          </a:xfrm>
          <a:prstGeom prst="roundRect">
            <a:avLst>
              <a:gd name="adj" fmla="val 3077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28600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800+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71600" y="4069080"/>
            <a:ext cx="1920240" cy="45720"/>
          </a:xfrm>
          <a:prstGeom prst="roundRect">
            <a:avLst>
              <a:gd name="adj" fmla="val 40000"/>
            </a:avLst>
          </a:prstGeom>
          <a:solidFill>
            <a:srgbClr val="31456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297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9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is traceable to the official Australian Government Style Manual.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1828800"/>
            <a:ext cx="7162495" cy="1170432"/>
          </a:xfrm>
          <a:prstGeom prst="roundRect">
            <a:avLst>
              <a:gd name="adj" fmla="val 7813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2139696"/>
            <a:ext cx="548640" cy="54864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13986" y="2298802"/>
            <a:ext cx="230429" cy="230429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486400" y="1956816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415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6766560" y="2029968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 &amp; phrase checks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66560" y="2395728"/>
            <a:ext cx="4693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Plainer words, jargon, preferred and inclusive terms.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480560" y="3182112"/>
            <a:ext cx="7162495" cy="1170432"/>
          </a:xfrm>
          <a:prstGeom prst="roundRect">
            <a:avLst>
              <a:gd name="adj" fmla="val 7813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754880" y="3493008"/>
            <a:ext cx="548640" cy="54864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986" y="3652114"/>
            <a:ext cx="230429" cy="230429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486400" y="3310128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262</a:t>
            </a:r>
            <a:endParaRPr lang="en-US" sz="4000" dirty="0"/>
          </a:p>
        </p:txBody>
      </p:sp>
      <p:sp>
        <p:nvSpPr>
          <p:cNvPr id="19" name="Text 15"/>
          <p:cNvSpPr/>
          <p:nvPr/>
        </p:nvSpPr>
        <p:spPr>
          <a:xfrm>
            <a:off x="6766560" y="338328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&amp; pattern checks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766560" y="3749040"/>
            <a:ext cx="4693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Headings, lists, dates, numbers and capitalisation.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4480560" y="4535424"/>
            <a:ext cx="7162495" cy="1170432"/>
          </a:xfrm>
          <a:prstGeom prst="roundRect">
            <a:avLst>
              <a:gd name="adj" fmla="val 7813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754880" y="4846320"/>
            <a:ext cx="548640" cy="54864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986" y="5005426"/>
            <a:ext cx="230429" cy="230429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5486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</a:t>
            </a:r>
            <a:endParaRPr lang="en-US" sz="4000" dirty="0"/>
          </a:p>
        </p:txBody>
      </p:sp>
      <p:sp>
        <p:nvSpPr>
          <p:cNvPr id="25" name="Text 20"/>
          <p:cNvSpPr/>
          <p:nvPr/>
        </p:nvSpPr>
        <p:spPr>
          <a:xfrm>
            <a:off x="6766560" y="473659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Spelling &amp; punctuation</a:t>
            </a:r>
            <a:endParaRPr lang="en-US" sz="1600" dirty="0"/>
          </a:p>
        </p:txBody>
      </p:sp>
      <p:sp>
        <p:nvSpPr>
          <p:cNvPr id="26" name="Text 21"/>
          <p:cNvSpPr/>
          <p:nvPr/>
        </p:nvSpPr>
        <p:spPr>
          <a:xfrm>
            <a:off x="6766560" y="5102352"/>
            <a:ext cx="46936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Australian spelling, spacing, dashes and quotes.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29" name="Text 24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GENAI ACTUALLY DID THE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assembly line that built the rulebook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635240" y="749808"/>
            <a:ext cx="182880" cy="182880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0" y="6583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step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326880" y="749808"/>
            <a:ext cx="182880" cy="182880"/>
          </a:xfrm>
          <a:prstGeom prst="ellipse">
            <a:avLst/>
          </a:prstGeom>
          <a:solidFill>
            <a:srgbClr val="5C6B8C"/>
          </a:solidFill>
          <a:ln/>
        </p:spPr>
      </p:sp>
      <p:sp>
        <p:nvSpPr>
          <p:cNvPr id="7" name="Text 5"/>
          <p:cNvSpPr/>
          <p:nvPr/>
        </p:nvSpPr>
        <p:spPr>
          <a:xfrm>
            <a:off x="9555480" y="6583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/ publish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F7F8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1993392"/>
            <a:ext cx="566928" cy="566928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081" y="2157801"/>
            <a:ext cx="238110" cy="23811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40553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4E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04672" y="260604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manual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04672" y="2926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reads every page of the Style Manual.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3995318" y="232714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383938" y="173736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F7F8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639970" y="1993392"/>
            <a:ext cx="566928" cy="566928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380" y="2157801"/>
            <a:ext cx="238110" cy="2381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240829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4E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4639970" y="260604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the rules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639970" y="2926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the guidance into clear, specific rules.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830617" y="232714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8219237" y="173736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F7F8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475269" y="1993392"/>
            <a:ext cx="566928" cy="566928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9678" y="2157801"/>
            <a:ext cx="238110" cy="23811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1076127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4E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1"/>
          <p:cNvSpPr/>
          <p:nvPr/>
        </p:nvSpPr>
        <p:spPr>
          <a:xfrm>
            <a:off x="8475269" y="260604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the checks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8475269" y="292608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rule becomes a small automated check.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48640" y="393192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04672" y="4187952"/>
            <a:ext cx="566928" cy="566928"/>
          </a:xfrm>
          <a:prstGeom prst="ellipse">
            <a:avLst/>
          </a:prstGeom>
          <a:solidFill>
            <a:srgbClr val="5C6B8C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081" y="4352361"/>
            <a:ext cx="238110" cy="23811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340553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4E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2" name="Text 26"/>
          <p:cNvSpPr/>
          <p:nvPr/>
        </p:nvSpPr>
        <p:spPr>
          <a:xfrm>
            <a:off x="804672" y="480060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every check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804672" y="512064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tried on examples that should and shouldn't flag.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3995318" y="452170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35" name="Shape 29"/>
          <p:cNvSpPr/>
          <p:nvPr/>
        </p:nvSpPr>
        <p:spPr>
          <a:xfrm>
            <a:off x="4383938" y="393192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639970" y="4187952"/>
            <a:ext cx="566928" cy="566928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4380" y="4352361"/>
            <a:ext cx="238110" cy="238110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7240829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4E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9" name="Text 32"/>
          <p:cNvSpPr/>
          <p:nvPr/>
        </p:nvSpPr>
        <p:spPr>
          <a:xfrm>
            <a:off x="4639970" y="480060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failures</a:t>
            </a:r>
            <a:endParaRPr lang="en-US" sz="1500" dirty="0"/>
          </a:p>
        </p:txBody>
      </p:sp>
      <p:sp>
        <p:nvSpPr>
          <p:cNvPr id="40" name="Text 33"/>
          <p:cNvSpPr/>
          <p:nvPr/>
        </p:nvSpPr>
        <p:spPr>
          <a:xfrm>
            <a:off x="4639970" y="512064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repairs any check that didn't behave.</a:t>
            </a:r>
            <a:endParaRPr lang="en-US" sz="1150" dirty="0"/>
          </a:p>
        </p:txBody>
      </p:sp>
      <p:sp>
        <p:nvSpPr>
          <p:cNvPr id="41" name="Text 34"/>
          <p:cNvSpPr/>
          <p:nvPr/>
        </p:nvSpPr>
        <p:spPr>
          <a:xfrm>
            <a:off x="7830617" y="4521708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42" name="Shape 35"/>
          <p:cNvSpPr/>
          <p:nvPr/>
        </p:nvSpPr>
        <p:spPr>
          <a:xfrm>
            <a:off x="8219237" y="3931920"/>
            <a:ext cx="3423818" cy="1691640"/>
          </a:xfrm>
          <a:prstGeom prst="roundRect">
            <a:avLst>
              <a:gd name="adj" fmla="val 5405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8475269" y="4187952"/>
            <a:ext cx="566928" cy="566928"/>
          </a:xfrm>
          <a:prstGeom prst="ellipse">
            <a:avLst/>
          </a:prstGeom>
          <a:solidFill>
            <a:srgbClr val="5C6B8C"/>
          </a:solidFill>
          <a:ln/>
        </p:spPr>
      </p:sp>
      <p:pic>
        <p:nvPicPr>
          <p:cNvPr id="4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9678" y="4352361"/>
            <a:ext cx="238110" cy="23811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11076127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E4E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46" name="Text 38"/>
          <p:cNvSpPr/>
          <p:nvPr/>
        </p:nvSpPr>
        <p:spPr>
          <a:xfrm>
            <a:off x="8475269" y="480060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1500" dirty="0"/>
          </a:p>
        </p:txBody>
      </p:sp>
      <p:sp>
        <p:nvSpPr>
          <p:cNvPr id="47" name="Text 39"/>
          <p:cNvSpPr/>
          <p:nvPr/>
        </p:nvSpPr>
        <p:spPr>
          <a:xfrm>
            <a:off x="8475269" y="512064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checks that pass their tests ship to the app.</a:t>
            </a:r>
            <a:endParaRPr lang="en-US" sz="1150" dirty="0"/>
          </a:p>
        </p:txBody>
      </p:sp>
      <p:sp>
        <p:nvSpPr>
          <p:cNvPr id="48" name="Text 40"/>
          <p:cNvSpPr/>
          <p:nvPr/>
        </p:nvSpPr>
        <p:spPr>
          <a:xfrm>
            <a:off x="9748266" y="34747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49" name="Shape 41"/>
          <p:cNvSpPr/>
          <p:nvPr/>
        </p:nvSpPr>
        <p:spPr>
          <a:xfrm>
            <a:off x="548640" y="5870448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1B2A4A"/>
          </a:solidFill>
          <a:ln/>
        </p:spPr>
      </p:sp>
      <p:sp>
        <p:nvSpPr>
          <p:cNvPr id="50" name="Text 42"/>
          <p:cNvSpPr/>
          <p:nvPr/>
        </p:nvSpPr>
        <p:spPr>
          <a:xfrm>
            <a:off x="822960" y="5870448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idea: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does the heavy lifting once, offline — and every rule is tested before it ever reaches a user.</a:t>
            </a:r>
            <a:endParaRPr lang="en-US" sz="1250" dirty="0"/>
          </a:p>
        </p:txBody>
      </p:sp>
      <p:sp>
        <p:nvSpPr>
          <p:cNvPr id="51" name="Text 4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52" name="Shape 44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53" name="Text 45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DE-RISKS 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creative, risky part is done once — and verified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18608" cy="1828800"/>
          </a:xfrm>
          <a:prstGeom prst="roundRect">
            <a:avLst>
              <a:gd name="adj" fmla="val 5000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12848"/>
            <a:ext cx="640080" cy="64008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0023" y="2398471"/>
            <a:ext cx="268834" cy="2688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7627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Predictable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783080" y="2651760"/>
            <a:ext cx="385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input, same result, every time. No random or drifting answers.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24448" y="1828800"/>
            <a:ext cx="5318608" cy="1828800"/>
          </a:xfrm>
          <a:prstGeom prst="roundRect">
            <a:avLst>
              <a:gd name="adj" fmla="val 5000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690208" y="2212848"/>
            <a:ext cx="640080" cy="64008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5831" y="2398471"/>
            <a:ext cx="268834" cy="2688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58888" y="217627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Explainable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7558888" y="2651760"/>
            <a:ext cx="385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names its rule and links to the official source.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4023360"/>
            <a:ext cx="5318608" cy="1828800"/>
          </a:xfrm>
          <a:prstGeom prst="roundRect">
            <a:avLst>
              <a:gd name="adj" fmla="val 5000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14400" y="4407408"/>
            <a:ext cx="640080" cy="64008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23" y="4593031"/>
            <a:ext cx="268834" cy="2688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437083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Contained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783080" y="4846320"/>
            <a:ext cx="385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runs offline under supervision — never live, never inventing rules in front of users.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324448" y="4023360"/>
            <a:ext cx="5318608" cy="1828800"/>
          </a:xfrm>
          <a:prstGeom prst="roundRect">
            <a:avLst>
              <a:gd name="adj" fmla="val 5000"/>
            </a:avLst>
          </a:prstGeom>
          <a:solidFill>
            <a:srgbClr val="EEF1F7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690208" y="4407408"/>
            <a:ext cx="640080" cy="640080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831" y="4593031"/>
            <a:ext cx="268834" cy="26883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58888" y="4370832"/>
            <a:ext cx="3855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 &amp; cheap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7558888" y="4846320"/>
            <a:ext cx="3855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run in a fraction of a second, with no AI cost per document.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25" name="Shape 19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26" name="Text 20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for using GenAI to explore and de-risk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656" y="2003816"/>
            <a:ext cx="253472" cy="253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83080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GenAI to build the tool — not to be the tool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417320" y="2157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clever, generative work happens once, offline. What users touch is a plain, predictable engine.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56" y="3101096"/>
            <a:ext cx="253472" cy="253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880360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big problems into small, checkable pieces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417320" y="325526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tiny, testable rules are far safer than one all-knowing black box.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02336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56" y="4198376"/>
            <a:ext cx="253472" cy="253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977640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trust, always test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417320" y="435254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every AI output as a first draft. An automatic test on each rule is what makes the result dependable.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512064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656" y="5295656"/>
            <a:ext cx="253472" cy="253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17320" y="5074920"/>
            <a:ext cx="10225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fast, then harden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417320" y="544982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3A43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took us to a working prototype in weeks — work that would otherwise take a team months.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how it works</a:t>
            </a:r>
            <a:endParaRPr lang="en-US" sz="900" dirty="0"/>
          </a:p>
        </p:txBody>
      </p:sp>
      <p:sp>
        <p:nvSpPr>
          <p:cNvPr id="21" name="Shape 15"/>
          <p:cNvSpPr/>
          <p:nvPr/>
        </p:nvSpPr>
        <p:spPr>
          <a:xfrm>
            <a:off x="11259007" y="6492240"/>
            <a:ext cx="82296" cy="82296"/>
          </a:xfrm>
          <a:prstGeom prst="ellipse">
            <a:avLst/>
          </a:prstGeom>
          <a:solidFill>
            <a:srgbClr val="E1604A"/>
          </a:solidFill>
          <a:ln/>
        </p:spPr>
      </p:sp>
      <p:sp>
        <p:nvSpPr>
          <p:cNvPr id="22" name="Text 16"/>
          <p:cNvSpPr/>
          <p:nvPr/>
        </p:nvSpPr>
        <p:spPr>
          <a:xfrm>
            <a:off x="11368735" y="6437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64008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E1604A">
              <a:alpha val="2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1051560"/>
            <a:ext cx="2651760" cy="292608"/>
          </a:xfrm>
          <a:prstGeom prst="roundRect">
            <a:avLst>
              <a:gd name="adj" fmla="val 50000"/>
            </a:avLst>
          </a:prstGeom>
          <a:solidFill>
            <a:srgbClr val="E1604A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822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E16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2344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with GenAI.
</a:t>
            </a:r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160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 something predictable.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3393338" cy="2468880"/>
          </a:xfrm>
          <a:prstGeom prst="roundRect">
            <a:avLst>
              <a:gd name="adj" fmla="val 3704"/>
            </a:avLst>
          </a:prstGeom>
          <a:solidFill>
            <a:srgbClr val="22355C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361188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696" y="3786896"/>
            <a:ext cx="253472" cy="253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43434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AI — not a chatbot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8680" y="489204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9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checks your writing against fixed, sourced rules, not a live model.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99178" y="3291840"/>
            <a:ext cx="3393338" cy="2468880"/>
          </a:xfrm>
          <a:prstGeom prst="roundRect">
            <a:avLst>
              <a:gd name="adj" fmla="val 3704"/>
            </a:avLst>
          </a:prstGeom>
          <a:solidFill>
            <a:srgbClr val="22355C"/>
          </a:solidFill>
          <a:ln/>
        </p:spPr>
      </p:sp>
      <p:sp>
        <p:nvSpPr>
          <p:cNvPr id="12" name="Shape 9"/>
          <p:cNvSpPr/>
          <p:nvPr/>
        </p:nvSpPr>
        <p:spPr>
          <a:xfrm>
            <a:off x="4719218" y="361188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235" y="3786896"/>
            <a:ext cx="253472" cy="253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19218" y="43434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GenAI built it, offline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719218" y="489204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9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hard, creative work was done once on an assembly line — and every rule was tested.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249717" y="3291840"/>
            <a:ext cx="3393338" cy="2468880"/>
          </a:xfrm>
          <a:prstGeom prst="roundRect">
            <a:avLst>
              <a:gd name="adj" fmla="val 3704"/>
            </a:avLst>
          </a:prstGeom>
          <a:solidFill>
            <a:srgbClr val="22355C"/>
          </a:solidFill>
          <a:ln/>
        </p:spPr>
      </p:sp>
      <p:sp>
        <p:nvSpPr>
          <p:cNvPr id="17" name="Shape 13"/>
          <p:cNvSpPr/>
          <p:nvPr/>
        </p:nvSpPr>
        <p:spPr>
          <a:xfrm>
            <a:off x="8569757" y="3611880"/>
            <a:ext cx="603504" cy="603504"/>
          </a:xfrm>
          <a:prstGeom prst="ellipse">
            <a:avLst/>
          </a:prstGeom>
          <a:solidFill>
            <a:srgbClr val="E160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4773" y="3786896"/>
            <a:ext cx="253472" cy="253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69757" y="4343400"/>
            <a:ext cx="27532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stays in the build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569757" y="4892040"/>
            <a:ext cx="27532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C9D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get a fast, explainable, predictable tool. The uncertainty never reaches them.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4864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Octavius — a plain-language checker for government writing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Octavius Works</dc:title>
  <dc:subject>PptxGenJS Presentation</dc:subject>
  <dc:creator>Octavius</dc:creator>
  <cp:lastModifiedBy>Octavius</cp:lastModifiedBy>
  <cp:revision>1</cp:revision>
  <dcterms:created xsi:type="dcterms:W3CDTF">2026-07-22T18:02:43Z</dcterms:created>
  <dcterms:modified xsi:type="dcterms:W3CDTF">2026-07-22T18:02:43Z</dcterms:modified>
</cp:coreProperties>
</file>